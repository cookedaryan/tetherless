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4.xml"/><Relationship Id="rId4" Type="http://schemas.openxmlformats.org/officeDocument/2006/relationships/slide" Target="slide7.xml"/><Relationship Id="rId5" Type="http://schemas.openxmlformats.org/officeDocument/2006/relationships/slide" Target="slide10.xml"/><Relationship Id="rId6" Type="http://schemas.openxmlformats.org/officeDocument/2006/relationships/slide" Target="slide13.xml"/><Relationship Id="rId7" Type="http://schemas.openxmlformats.org/officeDocument/2006/relationships/slide" Target="slide2.xml"/><Relationship Id="rId8" Type="http://schemas.openxmlformats.org/officeDocument/2006/relationships/hyperlink" Target="https://ieeexplore.ieee.org/document/7163042" TargetMode="External"/><Relationship Id="rId9" Type="http://schemas.openxmlformats.org/officeDocument/2006/relationships/hyperlink" Target="https://doi.org/10.1145/1029179.1029200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4.xml"/><Relationship Id="rId4" Type="http://schemas.openxmlformats.org/officeDocument/2006/relationships/slide" Target="slide7.xml"/><Relationship Id="rId5" Type="http://schemas.openxmlformats.org/officeDocument/2006/relationships/slide" Target="slide10.xml"/><Relationship Id="rId6" Type="http://schemas.openxmlformats.org/officeDocument/2006/relationships/slide" Target="slide13.xml"/><Relationship Id="rId7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4.xml"/><Relationship Id="rId4" Type="http://schemas.openxmlformats.org/officeDocument/2006/relationships/slide" Target="slide7.xml"/><Relationship Id="rId5" Type="http://schemas.openxmlformats.org/officeDocument/2006/relationships/slide" Target="slide10.xml"/><Relationship Id="rId6" Type="http://schemas.openxmlformats.org/officeDocument/2006/relationships/slide" Target="slide13.xml"/><Relationship Id="rId7" Type="http://schemas.openxmlformats.org/officeDocument/2006/relationships/slide" Target="slide2.xml"/><Relationship Id="rId8" Type="http://schemas.openxmlformats.org/officeDocument/2006/relationships/hyperlink" Target="https://frohoff.github.io/appseccali-marshalling-pickles/" TargetMode="External"/><Relationship Id="rId9" Type="http://schemas.openxmlformats.org/officeDocument/2006/relationships/hyperlink" Target="https://cwe.mitre.org/data/definitions/502.html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4.xml"/><Relationship Id="rId4" Type="http://schemas.openxmlformats.org/officeDocument/2006/relationships/slide" Target="slide7.xml"/><Relationship Id="rId5" Type="http://schemas.openxmlformats.org/officeDocument/2006/relationships/slide" Target="slide10.xml"/><Relationship Id="rId6" Type="http://schemas.openxmlformats.org/officeDocument/2006/relationships/slide" Target="slide13.xml"/><Relationship Id="rId7" Type="http://schemas.openxmlformats.org/officeDocument/2006/relationships/slide" Target="slide3.xml"/><Relationship Id="rId8" Type="http://schemas.openxmlformats.org/officeDocument/2006/relationships/slide" Target="slide5.xml"/><Relationship Id="rId9" Type="http://schemas.openxmlformats.org/officeDocument/2006/relationships/hyperlink" Target="https://csrc.nist.gov/publications/detail/sp/800-38d/final" TargetMode="External"/><Relationship Id="rId10" Type="http://schemas.openxmlformats.org/officeDocument/2006/relationships/hyperlink" Target="https://datatracker.ietf.org/doc/html/rfc3526" TargetMode="External"/><Relationship Id="rId11" Type="http://schemas.openxmlformats.org/officeDocument/2006/relationships/hyperlink" Target="https://ieeexplore.ieee.org/document/1055638" TargetMode="External"/><Relationship Id="rId12" Type="http://schemas.openxmlformats.org/officeDocument/2006/relationships/hyperlink" Target="https://csrc.nist.gov/publications/detail/sp/800-132/final" TargetMode="External"/><Relationship Id="rId13" Type="http://schemas.openxmlformats.org/officeDocument/2006/relationships/hyperlink" Target="https://datatracker.ietf.org/doc/html/rfc8446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4.xml"/><Relationship Id="rId4" Type="http://schemas.openxmlformats.org/officeDocument/2006/relationships/slide" Target="slide7.xml"/><Relationship Id="rId5" Type="http://schemas.openxmlformats.org/officeDocument/2006/relationships/slide" Target="slide10.xml"/><Relationship Id="rId6" Type="http://schemas.openxmlformats.org/officeDocument/2006/relationships/slide" Target="slide13.xml"/><Relationship Id="rId7" Type="http://schemas.openxmlformats.org/officeDocument/2006/relationships/slide" Target="slide6.xml"/><Relationship Id="rId8" Type="http://schemas.openxmlformats.org/officeDocument/2006/relationships/hyperlink" Target="https://doi.org/10.1007/978-3-540-30576-7_27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4.xml"/><Relationship Id="rId4" Type="http://schemas.openxmlformats.org/officeDocument/2006/relationships/slide" Target="slide7.xml"/><Relationship Id="rId5" Type="http://schemas.openxmlformats.org/officeDocument/2006/relationships/slide" Target="slide10.xml"/><Relationship Id="rId6" Type="http://schemas.openxmlformats.org/officeDocument/2006/relationships/slide" Target="slide13.xml"/><Relationship Id="rId7" Type="http://schemas.openxmlformats.org/officeDocument/2006/relationships/slide" Target="slide5.xml"/><Relationship Id="rId8" Type="http://schemas.openxmlformats.org/officeDocument/2006/relationships/hyperlink" Target="https://datatracker.ietf.org/doc/html/rfc5869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4.xml"/><Relationship Id="rId4" Type="http://schemas.openxmlformats.org/officeDocument/2006/relationships/slide" Target="slide7.xml"/><Relationship Id="rId5" Type="http://schemas.openxmlformats.org/officeDocument/2006/relationships/slide" Target="slide10.xml"/><Relationship Id="rId6" Type="http://schemas.openxmlformats.org/officeDocument/2006/relationships/slide" Target="slide13.xml"/><Relationship Id="rId7" Type="http://schemas.openxmlformats.org/officeDocument/2006/relationships/slide" Target="slide6.xml"/><Relationship Id="rId8" Type="http://schemas.openxmlformats.org/officeDocument/2006/relationships/slide" Target="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4.xml"/><Relationship Id="rId4" Type="http://schemas.openxmlformats.org/officeDocument/2006/relationships/slide" Target="slide7.xml"/><Relationship Id="rId5" Type="http://schemas.openxmlformats.org/officeDocument/2006/relationships/slide" Target="slide10.xml"/><Relationship Id="rId6" Type="http://schemas.openxmlformats.org/officeDocument/2006/relationships/slide" Target="slide13.xml"/><Relationship Id="rId7" Type="http://schemas.openxmlformats.org/officeDocument/2006/relationships/slide" Target="slide9.xml"/><Relationship Id="rId8" Type="http://schemas.openxmlformats.org/officeDocument/2006/relationships/hyperlink" Target="https://eprint.iacr.org/2016/1013" TargetMode="External"/><Relationship Id="rId9" Type="http://schemas.openxmlformats.org/officeDocument/2006/relationships/hyperlink" Target="https://www.iacr.org/archive/crypto2005/36210490/36210490.pdf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4.xml"/><Relationship Id="rId4" Type="http://schemas.openxmlformats.org/officeDocument/2006/relationships/slide" Target="slide7.xml"/><Relationship Id="rId5" Type="http://schemas.openxmlformats.org/officeDocument/2006/relationships/slide" Target="slide10.xml"/><Relationship Id="rId6" Type="http://schemas.openxmlformats.org/officeDocument/2006/relationships/slide" Target="slide13.xml"/><Relationship Id="rId7" Type="http://schemas.openxmlformats.org/officeDocument/2006/relationships/slide" Target="slide8.xml"/><Relationship Id="rId8" Type="http://schemas.openxmlformats.org/officeDocument/2006/relationships/hyperlink" Target="https://datatracker.ietf.org/doc/html/rfc9420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4.xml"/><Relationship Id="rId4" Type="http://schemas.openxmlformats.org/officeDocument/2006/relationships/slide" Target="slide7.xml"/><Relationship Id="rId5" Type="http://schemas.openxmlformats.org/officeDocument/2006/relationships/slide" Target="slide10.xml"/><Relationship Id="rId6" Type="http://schemas.openxmlformats.org/officeDocument/2006/relationships/slide" Target="slide13.xml"/><Relationship Id="rId7" Type="http://schemas.openxmlformats.org/officeDocument/2006/relationships/slide" Target="slide9.xml"/><Relationship Id="rId8" Type="http://schemas.openxmlformats.org/officeDocument/2006/relationships/slide" Target="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4.xml"/><Relationship Id="rId4" Type="http://schemas.openxmlformats.org/officeDocument/2006/relationships/slide" Target="slide7.xml"/><Relationship Id="rId5" Type="http://schemas.openxmlformats.org/officeDocument/2006/relationships/slide" Target="slide10.xml"/><Relationship Id="rId6" Type="http://schemas.openxmlformats.org/officeDocument/2006/relationships/slide" Target="slide13.xml"/><Relationship Id="rId7" Type="http://schemas.openxmlformats.org/officeDocument/2006/relationships/slide" Target="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4.xml"/><Relationship Id="rId4" Type="http://schemas.openxmlformats.org/officeDocument/2006/relationships/slide" Target="slide7.xml"/><Relationship Id="rId5" Type="http://schemas.openxmlformats.org/officeDocument/2006/relationships/slide" Target="slide10.xml"/><Relationship Id="rId6" Type="http://schemas.openxmlformats.org/officeDocument/2006/relationships/slide" Target="slide13.xml"/><Relationship Id="rId7" Type="http://schemas.openxmlformats.org/officeDocument/2006/relationships/slide" Target="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4.xml"/><Relationship Id="rId4" Type="http://schemas.openxmlformats.org/officeDocument/2006/relationships/slide" Target="slide7.xml"/><Relationship Id="rId5" Type="http://schemas.openxmlformats.org/officeDocument/2006/relationships/slide" Target="slide10.xml"/><Relationship Id="rId6" Type="http://schemas.openxmlformats.org/officeDocument/2006/relationships/slide" Target="slide13.xml"/><Relationship Id="rId7" Type="http://schemas.openxmlformats.org/officeDocument/2006/relationships/slide" Target="slide12.xml"/><Relationship Id="rId8" Type="http://schemas.openxmlformats.org/officeDocument/2006/relationships/slide" Target="slide14.xml"/><Relationship Id="rId9" Type="http://schemas.openxmlformats.org/officeDocument/2006/relationships/hyperlink" Target="https://www.zetetic.net/sqlcipher/design/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4.xml"/><Relationship Id="rId4" Type="http://schemas.openxmlformats.org/officeDocument/2006/relationships/slide" Target="slide7.xml"/><Relationship Id="rId5" Type="http://schemas.openxmlformats.org/officeDocument/2006/relationships/slide" Target="slide10.xml"/><Relationship Id="rId6" Type="http://schemas.openxmlformats.org/officeDocument/2006/relationships/slide" Target="slide13.xml"/><Relationship Id="rId7" Type="http://schemas.openxmlformats.org/officeDocument/2006/relationships/slide" Target="slide15.xml"/><Relationship Id="rId8" Type="http://schemas.openxmlformats.org/officeDocument/2006/relationships/hyperlink" Target="https://doi.org/10.1145/586110.586117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4.xml"/><Relationship Id="rId4" Type="http://schemas.openxmlformats.org/officeDocument/2006/relationships/slide" Target="slide7.xml"/><Relationship Id="rId5" Type="http://schemas.openxmlformats.org/officeDocument/2006/relationships/slide" Target="slide10.xml"/><Relationship Id="rId6" Type="http://schemas.openxmlformats.org/officeDocument/2006/relationships/slide" Target="slide13.xml"/><Relationship Id="rId7" Type="http://schemas.openxmlformats.org/officeDocument/2006/relationships/slide" Target="slide14.xml"/><Relationship Id="rId8" Type="http://schemas.openxmlformats.org/officeDocument/2006/relationships/hyperlink" Target="https://ieeexplore.ieee.org/document/1055638" TargetMode="External"/><Relationship Id="rId9" Type="http://schemas.openxmlformats.org/officeDocument/2006/relationships/hyperlink" Target="https://doi.org/10.1007/978-3-540-30576-7_27" TargetMode="External"/><Relationship Id="rId10" Type="http://schemas.openxmlformats.org/officeDocument/2006/relationships/hyperlink" Target="https://eprint.iacr.org/2010/264" TargetMode="External"/><Relationship Id="rId11" Type="http://schemas.openxmlformats.org/officeDocument/2006/relationships/hyperlink" Target="https://ieeexplore.ieee.org/document/7163042" TargetMode="External"/><Relationship Id="rId12" Type="http://schemas.openxmlformats.org/officeDocument/2006/relationships/hyperlink" Target="https://eprint.iacr.org/2016/1013" TargetMode="External"/><Relationship Id="rId13" Type="http://schemas.openxmlformats.org/officeDocument/2006/relationships/hyperlink" Target="https://www.iacr.org/archive/crypto2005/36210490/36210490.pdf" TargetMode="External"/><Relationship Id="rId14" Type="http://schemas.openxmlformats.org/officeDocument/2006/relationships/hyperlink" Target="https://frohoff.github.io/appseccali-marshalling-pickles/" TargetMode="External"/><Relationship Id="rId15" Type="http://schemas.openxmlformats.org/officeDocument/2006/relationships/hyperlink" Target="https://datatracker.ietf.org/doc/html/rfc8446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"/>
            <a:ext cx="21031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Segoe UI"/>
              </a:defRPr>
            </a:pPr>
            <a:r>
              <a:t>TETHERLESS E2EE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2743200" y="64008"/>
            <a:ext cx="1371600" cy="274320"/>
          </a:xfrm>
          <a:prstGeom prst="roundRect">
            <a:avLst/>
          </a:prstGeom>
          <a:solidFill>
            <a:srgbClr val="22222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Architecture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4187952" y="64008"/>
            <a:ext cx="1371600" cy="274320"/>
          </a:xfrm>
          <a:prstGeom prst="roundRect">
            <a:avLst/>
          </a:prstGeom>
          <a:solidFill>
            <a:srgbClr val="121215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0">
                <a:solidFill>
                  <a:srgbClr val="A1A1AA"/>
                </a:solidFill>
                <a:latin typeface="Segoe UI"/>
              </a:defRPr>
            </a:pPr>
            <a:r>
              <a:t>Cryptography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5632704" y="64008"/>
            <a:ext cx="1371600" cy="274320"/>
          </a:xfrm>
          <a:prstGeom prst="roundRect">
            <a:avLst/>
          </a:prstGeom>
          <a:solidFill>
            <a:srgbClr val="121215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0">
                <a:solidFill>
                  <a:srgbClr val="A1A1AA"/>
                </a:solidFill>
                <a:latin typeface="Segoe UI"/>
              </a:defRPr>
            </a:pPr>
            <a:r>
              <a:t>Threat Model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7077456" y="64008"/>
            <a:ext cx="1371600" cy="274320"/>
          </a:xfrm>
          <a:prstGeom prst="roundRect">
            <a:avLst/>
          </a:prstGeom>
          <a:solidFill>
            <a:srgbClr val="121215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0">
                <a:solidFill>
                  <a:srgbClr val="A1A1AA"/>
                </a:solidFill>
                <a:latin typeface="Segoe UI"/>
              </a:defRPr>
            </a:pPr>
            <a:r>
              <a:t>Relay System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8522208" y="64008"/>
            <a:ext cx="1371600" cy="274320"/>
          </a:xfrm>
          <a:prstGeom prst="roundRect">
            <a:avLst/>
          </a:prstGeom>
          <a:solidFill>
            <a:srgbClr val="121215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0">
                <a:solidFill>
                  <a:srgbClr val="A1A1AA"/>
                </a:solidFill>
                <a:latin typeface="Segoe UI"/>
              </a:defRPr>
            </a:pPr>
            <a:r>
              <a:t>Clients &amp; MVP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49840" y="64008"/>
            <a:ext cx="347472" cy="274320"/>
          </a:xfrm>
          <a:prstGeom prst="roundRect">
            <a:avLst/>
          </a:prstGeom>
          <a:solidFill>
            <a:srgbClr val="222228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>
                <a:solidFill>
                  <a:srgbClr val="71717A"/>
                </a:solidFill>
                <a:latin typeface="Segoe UI"/>
              </a:defRPr>
            </a:pPr>
            <a:r>
              <a:t>←</a:t>
            </a:r>
          </a:p>
        </p:txBody>
      </p:sp>
      <p:sp>
        <p:nvSpPr>
          <p:cNvPr id="11" name="Rounded Rectangle 10">
            <a:hlinkClick action="ppaction://hlinksldjump" r:id="rId7"/>
          </p:cNvPr>
          <p:cNvSpPr/>
          <p:nvPr/>
        </p:nvSpPr>
        <p:spPr>
          <a:xfrm>
            <a:off x="10561320" y="64008"/>
            <a:ext cx="347472" cy="274320"/>
          </a:xfrm>
          <a:prstGeom prst="roundRect">
            <a:avLst/>
          </a:prstGeom>
          <a:solidFill>
            <a:srgbClr val="222228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>
                <a:solidFill>
                  <a:srgbClr val="FFFFFF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20" y="64008"/>
            <a:ext cx="10058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E4E4E7"/>
                </a:solidFill>
                <a:latin typeface="Consolas"/>
              </a:defRPr>
            </a:pPr>
            <a:r>
              <a:t>01 /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035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A1A1AA"/>
                </a:solidFill>
                <a:latin typeface="Segoe UI"/>
              </a:defRPr>
            </a:pPr>
            <a:r>
              <a:t>SYSTEM BLUEPRINT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786384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Segoe UI"/>
              </a:defRPr>
            </a:pPr>
            <a:r>
              <a:t>TETHERLESS: Decentralized E2EE Messaging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29844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A1A1AA"/>
                </a:solidFill>
                <a:latin typeface="Segoe UI"/>
              </a:defRPr>
            </a:pPr>
            <a:r>
              <a:t>Executive Overview &amp; System Architecture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1691640"/>
            <a:ext cx="5120640" cy="4663440"/>
          </a:xfrm>
          <a:prstGeom prst="roundRect">
            <a:avLst/>
          </a:prstGeom>
          <a:solidFill>
            <a:srgbClr val="141418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The Zero-Trust Relay Axiom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Active Adversary Model: </a:t>
            </a:r>
            <a:r>
              <a:rPr b="0" sz="1100">
                <a:solidFill>
                  <a:srgbClr val="E4E4E7"/>
                </a:solidFill>
              </a:rPr>
              <a:t>The relay server is assumed compromised, malicious, or state-monitored. It will inspect, alter, drop, or replay every byte it can.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Zero Plaintext Knowledge: </a:t>
            </a:r>
            <a:r>
              <a:rPr b="0" sz="1100">
                <a:solidFill>
                  <a:srgbClr val="E4E4E7"/>
                </a:solidFill>
              </a:rPr>
              <a:t>The relay holds zero cryptographic keys and never sees plaintext. Message payload bytes are strictly opaque ciphertext.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Reply Metadata Hidden: </a:t>
            </a:r>
            <a:r>
              <a:rPr b="0" sz="1100">
                <a:solidFill>
                  <a:srgbClr val="E4E4E7"/>
                </a:solidFill>
              </a:rPr>
              <a:t>Quotes and conversation context travel inside the ciphertext envelope, hiding communication sub-graphs from intermediate nodes.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Dual-Layer Protection: </a:t>
            </a:r>
            <a:r>
              <a:rPr b="0" sz="1100">
                <a:solidFill>
                  <a:srgbClr val="E4E4E7"/>
                </a:solidFill>
              </a:rPr>
              <a:t>TLS 1.3 is applied in addition to E2EE for transport integrity and traffic hiding, never as a substitute for E2EE.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Theoretical Foundation: </a:t>
            </a:r>
            <a:r>
              <a:rPr b="0" sz="1100">
                <a:solidFill>
                  <a:srgbClr val="A1A1AA"/>
                </a:solidFill>
              </a:rPr>
              <a:t>Adheres to the formal secure messaging taxonomy of Unger et al.</a:t>
            </a:r>
            <a:r>
              <a:rPr b="1" sz="1000">
                <a:solidFill>
                  <a:srgbClr val="FFFFFF"/>
                </a:solidFill>
                <a:hlinkClick r:id="rId8"/>
              </a:rPr>
              <a:t> [Unger et al., IEEE S&amp;P 2015]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691640"/>
            <a:ext cx="5212080" cy="4663440"/>
          </a:xfrm>
          <a:prstGeom prst="roundRect">
            <a:avLst/>
          </a:prstGeom>
          <a:solidFill>
            <a:srgbClr val="141418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Core Architectural Invariants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End-to-End Privacy: </a:t>
            </a:r>
            <a:r>
              <a:rPr b="0" sz="1100">
                <a:solidFill>
                  <a:srgbClr val="E4E4E7"/>
                </a:solidFill>
              </a:rPr>
              <a:t>Messages encrypted on sender device and decrypted only on receiver device. Mathematical confidentiality guaranteed by AES-256-GCM.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Cryptographic Identities: </a:t>
            </a:r>
            <a:r>
              <a:rPr b="0" sz="1100">
                <a:solidFill>
                  <a:srgbClr val="E4E4E7"/>
                </a:solidFill>
              </a:rPr>
              <a:t>Addresses derived from identity public key hashes, preventing display name spoofing or account displacement.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Tamper-Evidence: </a:t>
            </a:r>
            <a:r>
              <a:rPr b="0" sz="1100">
                <a:solidFill>
                  <a:srgbClr val="E4E4E7"/>
                </a:solidFill>
              </a:rPr>
              <a:t>All routed frames cryptographically signed with RSA-2048 identity keys over deterministic byte encodings.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Memory Isolation: </a:t>
            </a:r>
            <a:r>
              <a:rPr b="0" sz="1100">
                <a:solidFill>
                  <a:srgbClr val="E4E4E7"/>
                </a:solidFill>
              </a:rPr>
              <a:t>Session keys derived via HKDF-SHA256 exist in transient memory only; keys are zeroed and discarded on restart.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OTR Lineage: </a:t>
            </a:r>
            <a:r>
              <a:rPr b="0" sz="1100">
                <a:solidFill>
                  <a:srgbClr val="A1A1AA"/>
                </a:solidFill>
              </a:rPr>
              <a:t>Follows early Off-the-Record paradigms establishing ephemeral keys over untrusted networks.</a:t>
            </a:r>
            <a:r>
              <a:rPr b="1" sz="1000">
                <a:solidFill>
                  <a:srgbClr val="FFFFFF"/>
                </a:solidFill>
                <a:hlinkClick r:id="rId9"/>
              </a:rPr>
              <a:t> [Borisov et al., WPES 2004]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"/>
            <a:ext cx="21031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Segoe UI"/>
              </a:defRPr>
            </a:pPr>
            <a:r>
              <a:t>TETHERLESS E2EE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2743200" y="64008"/>
            <a:ext cx="1371600" cy="274320"/>
          </a:xfrm>
          <a:prstGeom prst="roundRect">
            <a:avLst/>
          </a:prstGeom>
          <a:solidFill>
            <a:srgbClr val="22222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Architecture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4187952" y="64008"/>
            <a:ext cx="1371600" cy="274320"/>
          </a:xfrm>
          <a:prstGeom prst="roundRect">
            <a:avLst/>
          </a:prstGeom>
          <a:solidFill>
            <a:srgbClr val="121215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0">
                <a:solidFill>
                  <a:srgbClr val="A1A1AA"/>
                </a:solidFill>
                <a:latin typeface="Segoe UI"/>
              </a:defRPr>
            </a:pPr>
            <a:r>
              <a:t>Cryptography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5632704" y="64008"/>
            <a:ext cx="1371600" cy="274320"/>
          </a:xfrm>
          <a:prstGeom prst="roundRect">
            <a:avLst/>
          </a:prstGeom>
          <a:solidFill>
            <a:srgbClr val="121215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0">
                <a:solidFill>
                  <a:srgbClr val="A1A1AA"/>
                </a:solidFill>
                <a:latin typeface="Segoe UI"/>
              </a:defRPr>
            </a:pPr>
            <a:r>
              <a:t>Threat Model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7077456" y="64008"/>
            <a:ext cx="1371600" cy="274320"/>
          </a:xfrm>
          <a:prstGeom prst="roundRect">
            <a:avLst/>
          </a:prstGeom>
          <a:solidFill>
            <a:srgbClr val="121215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0">
                <a:solidFill>
                  <a:srgbClr val="A1A1AA"/>
                </a:solidFill>
                <a:latin typeface="Segoe UI"/>
              </a:defRPr>
            </a:pPr>
            <a:r>
              <a:t>Relay System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8522208" y="64008"/>
            <a:ext cx="1371600" cy="274320"/>
          </a:xfrm>
          <a:prstGeom prst="roundRect">
            <a:avLst/>
          </a:prstGeom>
          <a:solidFill>
            <a:srgbClr val="121215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0">
                <a:solidFill>
                  <a:srgbClr val="A1A1AA"/>
                </a:solidFill>
                <a:latin typeface="Segoe UI"/>
              </a:defRPr>
            </a:pPr>
            <a:r>
              <a:t>Clients &amp; MVP</a:t>
            </a:r>
          </a:p>
        </p:txBody>
      </p:sp>
      <p:sp>
        <p:nvSpPr>
          <p:cNvPr id="10" name="Rounded Rectangle 9">
            <a:hlinkClick action="ppaction://hlinksldjump" r:id="rId2"/>
          </p:cNvPr>
          <p:cNvSpPr/>
          <p:nvPr/>
        </p:nvSpPr>
        <p:spPr>
          <a:xfrm>
            <a:off x="10149840" y="64008"/>
            <a:ext cx="347472" cy="274320"/>
          </a:xfrm>
          <a:prstGeom prst="roundRect">
            <a:avLst/>
          </a:prstGeom>
          <a:solidFill>
            <a:srgbClr val="222228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>
                <a:solidFill>
                  <a:srgbClr val="FFFFFF"/>
                </a:solidFill>
                <a:latin typeface="Segoe UI"/>
              </a:defRPr>
            </a:pPr>
            <a:r>
              <a:t>←</a:t>
            </a:r>
          </a:p>
        </p:txBody>
      </p:sp>
      <p:sp>
        <p:nvSpPr>
          <p:cNvPr id="11" name="Rounded Rectangle 10">
            <a:hlinkClick action="ppaction://hlinksldjump" r:id="rId7"/>
          </p:cNvPr>
          <p:cNvSpPr/>
          <p:nvPr/>
        </p:nvSpPr>
        <p:spPr>
          <a:xfrm>
            <a:off x="10561320" y="64008"/>
            <a:ext cx="347472" cy="274320"/>
          </a:xfrm>
          <a:prstGeom prst="roundRect">
            <a:avLst/>
          </a:prstGeom>
          <a:solidFill>
            <a:srgbClr val="222228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>
                <a:solidFill>
                  <a:srgbClr val="FFFFFF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20" y="64008"/>
            <a:ext cx="10058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E4E4E7"/>
                </a:solidFill>
                <a:latin typeface="Consolas"/>
              </a:defRPr>
            </a:pPr>
            <a:r>
              <a:t>02 /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035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A1A1AA"/>
                </a:solidFill>
                <a:latin typeface="Segoe UI"/>
              </a:defRPr>
            </a:pPr>
            <a:r>
              <a:t>MODULE TOPOLOGY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786384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Segoe UI"/>
              </a:defRPr>
            </a:pPr>
            <a:r>
              <a:t>Multi-Module Codebase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29844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A1A1AA"/>
                </a:solidFill>
                <a:latin typeface="Segoe UI"/>
              </a:defRPr>
            </a:pPr>
            <a:r>
              <a:t>Four decoupled Gradle modules separated by rigid platform and trust boundaries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1691640"/>
            <a:ext cx="10728655" cy="1051560"/>
          </a:xfrm>
          <a:prstGeom prst="roundRect">
            <a:avLst/>
          </a:prstGeom>
          <a:solidFill>
            <a:srgbClr val="141418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core-shared (Platform-Neutral Core)</a:t>
            </a:r>
          </a:p>
          <a:p>
            <a:pPr>
              <a:defRPr sz="1100">
                <a:solidFill>
                  <a:srgbClr val="E4E4E7"/>
                </a:solidFill>
                <a:latin typeface="Segoe UI"/>
              </a:defRPr>
            </a:pPr>
            <a:r>
              <a:t>Cryptographic primitives (AES/DH/RSA), wire codec, session state machine, HKDF. Emits Java 8 bytecode for Android compatibility and Java 11+ for desktop.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862072"/>
            <a:ext cx="10728655" cy="1051560"/>
          </a:xfrm>
          <a:prstGeom prst="roundRect">
            <a:avLst/>
          </a:prstGeom>
          <a:solidFill>
            <a:srgbClr val="141418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chat-server (Untrusted Dumb Relay)</a:t>
            </a:r>
          </a:p>
          <a:p>
            <a:pPr>
              <a:defRPr sz="1100">
                <a:solidFill>
                  <a:srgbClr val="E4E4E7"/>
                </a:solidFill>
                <a:latin typeface="Segoe UI"/>
              </a:defRPr>
            </a:pPr>
            <a:r>
              <a:t>High-throughput ciphertext forwarder. TLS 1.3 server, non-blocking queue routing, token-bucket rate limiting, loopback Prometheus metrics. Holds zero keys.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032504"/>
            <a:ext cx="10728655" cy="1051560"/>
          </a:xfrm>
          <a:prstGeom prst="roundRect">
            <a:avLst/>
          </a:prstGeom>
          <a:solidFill>
            <a:srgbClr val="141418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chat-desktop (Java Swing Client)</a:t>
            </a:r>
          </a:p>
          <a:p>
            <a:pPr>
              <a:defRPr sz="1100">
                <a:solidFill>
                  <a:srgbClr val="E4E4E7"/>
                </a:solidFill>
                <a:latin typeface="Segoe UI"/>
              </a:defRPr>
            </a:pPr>
            <a:r>
              <a:t>Swing desktop UI, background worker thread pool, SQLite in WAL mode, PBKDF2 column encryption, and jpackage Windows .msi bundling.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202936"/>
            <a:ext cx="10728655" cy="1051560"/>
          </a:xfrm>
          <a:prstGeom prst="roundRect">
            <a:avLst/>
          </a:prstGeom>
          <a:solidFill>
            <a:srgbClr val="141418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chat-mobile (Android Client)</a:t>
            </a:r>
          </a:p>
          <a:p>
            <a:pPr>
              <a:defRPr sz="1100">
                <a:solidFill>
                  <a:srgbClr val="E4E4E7"/>
                </a:solidFill>
                <a:latin typeface="Segoe UI"/>
              </a:defRPr>
            </a:pPr>
            <a:r>
              <a:t>Modern Jetpack stack: Room ORM, SQLCipher whole-file encryption, AndroidKeyStore hardware keys, and persistent foreground socket service.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"/>
            <a:ext cx="21031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Segoe UI"/>
              </a:defRPr>
            </a:pPr>
            <a:r>
              <a:t>TETHERLESS E2EE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2743200" y="64008"/>
            <a:ext cx="1371600" cy="274320"/>
          </a:xfrm>
          <a:prstGeom prst="roundRect">
            <a:avLst/>
          </a:prstGeom>
          <a:solidFill>
            <a:srgbClr val="22222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Architecture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4187952" y="64008"/>
            <a:ext cx="1371600" cy="274320"/>
          </a:xfrm>
          <a:prstGeom prst="roundRect">
            <a:avLst/>
          </a:prstGeom>
          <a:solidFill>
            <a:srgbClr val="121215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0">
                <a:solidFill>
                  <a:srgbClr val="A1A1AA"/>
                </a:solidFill>
                <a:latin typeface="Segoe UI"/>
              </a:defRPr>
            </a:pPr>
            <a:r>
              <a:t>Cryptography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5632704" y="64008"/>
            <a:ext cx="1371600" cy="274320"/>
          </a:xfrm>
          <a:prstGeom prst="roundRect">
            <a:avLst/>
          </a:prstGeom>
          <a:solidFill>
            <a:srgbClr val="121215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0">
                <a:solidFill>
                  <a:srgbClr val="A1A1AA"/>
                </a:solidFill>
                <a:latin typeface="Segoe UI"/>
              </a:defRPr>
            </a:pPr>
            <a:r>
              <a:t>Threat Model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7077456" y="64008"/>
            <a:ext cx="1371600" cy="274320"/>
          </a:xfrm>
          <a:prstGeom prst="roundRect">
            <a:avLst/>
          </a:prstGeom>
          <a:solidFill>
            <a:srgbClr val="121215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0">
                <a:solidFill>
                  <a:srgbClr val="A1A1AA"/>
                </a:solidFill>
                <a:latin typeface="Segoe UI"/>
              </a:defRPr>
            </a:pPr>
            <a:r>
              <a:t>Relay System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8522208" y="64008"/>
            <a:ext cx="1371600" cy="274320"/>
          </a:xfrm>
          <a:prstGeom prst="roundRect">
            <a:avLst/>
          </a:prstGeom>
          <a:solidFill>
            <a:srgbClr val="121215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0">
                <a:solidFill>
                  <a:srgbClr val="A1A1AA"/>
                </a:solidFill>
                <a:latin typeface="Segoe UI"/>
              </a:defRPr>
            </a:pPr>
            <a:r>
              <a:t>Clients &amp; MVP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10149840" y="64008"/>
            <a:ext cx="347472" cy="274320"/>
          </a:xfrm>
          <a:prstGeom prst="roundRect">
            <a:avLst/>
          </a:prstGeom>
          <a:solidFill>
            <a:srgbClr val="222228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>
                <a:solidFill>
                  <a:srgbClr val="FFFFFF"/>
                </a:solidFill>
                <a:latin typeface="Segoe UI"/>
              </a:defRPr>
            </a:pPr>
            <a:r>
              <a:t>←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10561320" y="64008"/>
            <a:ext cx="347472" cy="274320"/>
          </a:xfrm>
          <a:prstGeom prst="roundRect">
            <a:avLst/>
          </a:prstGeom>
          <a:solidFill>
            <a:srgbClr val="222228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>
                <a:solidFill>
                  <a:srgbClr val="FFFFFF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20" y="64008"/>
            <a:ext cx="10058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E4E4E7"/>
                </a:solidFill>
                <a:latin typeface="Consolas"/>
              </a:defRPr>
            </a:pPr>
            <a:r>
              <a:t>03 /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035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A1A1AA"/>
                </a:solidFill>
                <a:latin typeface="Segoe UI"/>
              </a:defRPr>
            </a:pPr>
            <a:r>
              <a:t>WIRE CODEC &amp; SERIALIZATION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786384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Segoe UI"/>
              </a:defRPr>
            </a:pPr>
            <a:r>
              <a:t>Binary Wire Framing vs. Java Serialization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29844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A1A1AA"/>
                </a:solidFill>
                <a:latin typeface="Segoe UI"/>
              </a:defRPr>
            </a:pPr>
            <a:r>
              <a:t>Eliminating remote code execution (RCE) and memory leaks at the network boundary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1691640"/>
            <a:ext cx="5120640" cy="4663440"/>
          </a:xfrm>
          <a:prstGeom prst="roundRect">
            <a:avLst/>
          </a:prstGeom>
          <a:solidFill>
            <a:srgbClr val="141418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The Java Deserialization Hazard (Legacy)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RCE Vulnerability: </a:t>
            </a:r>
            <a:r>
              <a:rPr b="0" sz="1100">
                <a:solidFill>
                  <a:srgbClr val="E4E4E7"/>
                </a:solidFill>
              </a:rPr>
              <a:t>ObjectInputStream.readObject() executes arbitrary gadget chains during instantiation, exposing clients and relay to RCE.</a:t>
            </a:r>
            <a:r>
              <a:rPr b="1" sz="1000">
                <a:solidFill>
                  <a:srgbClr val="FFFFFF"/>
                </a:solidFill>
                <a:hlinkClick r:id="rId8"/>
              </a:rPr>
              <a:t> [Frohoff &amp; Lawrence, AppSecCali 2015]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Vulnerability Taxonomy: </a:t>
            </a:r>
            <a:r>
              <a:rPr b="0" sz="1100">
                <a:solidFill>
                  <a:srgbClr val="E4E4E7"/>
                </a:solidFill>
              </a:rPr>
              <a:t>Classified as CWE-502 (Deserialization of Untrusted Data).</a:t>
            </a:r>
            <a:r>
              <a:rPr b="1" sz="1000">
                <a:solidFill>
                  <a:srgbClr val="FFFFFF"/>
                </a:solidFill>
                <a:hlinkClick r:id="rId9"/>
              </a:rPr>
              <a:t> [CWE-502]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Memory Bloat Risk: </a:t>
            </a:r>
            <a:r>
              <a:rPr b="0" sz="1100">
                <a:solidFill>
                  <a:srgbClr val="E4E4E7"/>
                </a:solidFill>
              </a:rPr>
              <a:t>ObjectOutputStream maintains internal object back-reference tables, causing memory leaks and eventual OutOfMemoryError crashes.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Allocation Bomb: </a:t>
            </a:r>
            <a:r>
              <a:rPr b="0" sz="1100">
                <a:solidFill>
                  <a:srgbClr val="E4E4E7"/>
                </a:solidFill>
              </a:rPr>
              <a:t>Malformed frame length headers could trigger multi-gigabyte array allocations, causing immediate remote Denial of Service.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691640"/>
            <a:ext cx="5212080" cy="4663440"/>
          </a:xfrm>
          <a:prstGeom prst="roundRect">
            <a:avLst/>
          </a:prstGeom>
          <a:solidFill>
            <a:srgbClr val="141418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The Tetherless Binary Frame Codec</a:t>
            </a:r>
          </a:p>
          <a:p>
            <a:pPr>
              <a:spcAft>
                <a:spcPts val="500"/>
              </a:spcAft>
              <a:defRPr sz="1100">
                <a:latin typeface="Consolas"/>
              </a:defRPr>
            </a:pPr>
            <a:r>
              <a:rPr b="1" sz="1100">
                <a:solidFill>
                  <a:srgbClr val="FFFFFF"/>
                </a:solidFill>
              </a:rPr>
              <a:t>Framing Format: </a:t>
            </a:r>
            <a:r>
              <a:rPr b="0" sz="1100">
                <a:solidFill>
                  <a:srgbClr val="E4E4E7"/>
                </a:solidFill>
              </a:rPr>
              <a:t>[4-byte length] [1-byte version] [wireCode: int] [msgId: UTF] [sender: UTF] [receiver: UTF] [ts: long] [iv] [payload] [signature]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Pre-Allocation Caps: </a:t>
            </a:r>
            <a:r>
              <a:rPr b="0" sz="1100">
                <a:solidFill>
                  <a:srgbClr val="E4E4E7"/>
                </a:solidFill>
              </a:rPr>
              <a:t>IDs &lt;= 128B, Payload &lt;= 64KiB, Signature &lt;= 512B, Frame &lt;= 1MiB. Rejects oversized frames BEFORE memory allocation.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Zero Native Serialization: </a:t>
            </a:r>
            <a:r>
              <a:rPr b="0" sz="1100">
                <a:solidFill>
                  <a:srgbClr val="E4E4E7"/>
                </a:solidFill>
              </a:rPr>
              <a:t>Serializable interface completely purged from repository. Codec uses explicit DataInput/DataOutput parsing with typed ProtocolException.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Fuzz-Tested Resilience: </a:t>
            </a:r>
            <a:r>
              <a:rPr b="0" sz="1100">
                <a:solidFill>
                  <a:srgbClr val="E4E4E7"/>
                </a:solidFill>
              </a:rPr>
              <a:t>Subjected to 20,000 random bit mutations and fuzz tests; guarantees clean typed rejection without crashing.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"/>
            <a:ext cx="21031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Segoe UI"/>
              </a:defRPr>
            </a:pPr>
            <a:r>
              <a:t>TETHERLESS E2EE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2743200" y="64008"/>
            <a:ext cx="1371600" cy="274320"/>
          </a:xfrm>
          <a:prstGeom prst="roundRect">
            <a:avLst/>
          </a:prstGeom>
          <a:solidFill>
            <a:srgbClr val="121215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0">
                <a:solidFill>
                  <a:srgbClr val="A1A1AA"/>
                </a:solidFill>
                <a:latin typeface="Segoe UI"/>
              </a:defRPr>
            </a:pPr>
            <a:r>
              <a:t>Architecture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4187952" y="64008"/>
            <a:ext cx="1371600" cy="274320"/>
          </a:xfrm>
          <a:prstGeom prst="roundRect">
            <a:avLst/>
          </a:prstGeom>
          <a:solidFill>
            <a:srgbClr val="22222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Cryptography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5632704" y="64008"/>
            <a:ext cx="1371600" cy="274320"/>
          </a:xfrm>
          <a:prstGeom prst="roundRect">
            <a:avLst/>
          </a:prstGeom>
          <a:solidFill>
            <a:srgbClr val="121215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0">
                <a:solidFill>
                  <a:srgbClr val="A1A1AA"/>
                </a:solidFill>
                <a:latin typeface="Segoe UI"/>
              </a:defRPr>
            </a:pPr>
            <a:r>
              <a:t>Threat Model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7077456" y="64008"/>
            <a:ext cx="1371600" cy="274320"/>
          </a:xfrm>
          <a:prstGeom prst="roundRect">
            <a:avLst/>
          </a:prstGeom>
          <a:solidFill>
            <a:srgbClr val="121215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0">
                <a:solidFill>
                  <a:srgbClr val="A1A1AA"/>
                </a:solidFill>
                <a:latin typeface="Segoe UI"/>
              </a:defRPr>
            </a:pPr>
            <a:r>
              <a:t>Relay System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8522208" y="64008"/>
            <a:ext cx="1371600" cy="274320"/>
          </a:xfrm>
          <a:prstGeom prst="roundRect">
            <a:avLst/>
          </a:prstGeom>
          <a:solidFill>
            <a:srgbClr val="121215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0">
                <a:solidFill>
                  <a:srgbClr val="A1A1AA"/>
                </a:solidFill>
                <a:latin typeface="Segoe UI"/>
              </a:defRPr>
            </a:pPr>
            <a:r>
              <a:t>Clients &amp; MVP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10149840" y="64008"/>
            <a:ext cx="347472" cy="274320"/>
          </a:xfrm>
          <a:prstGeom prst="roundRect">
            <a:avLst/>
          </a:prstGeom>
          <a:solidFill>
            <a:srgbClr val="222228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>
                <a:solidFill>
                  <a:srgbClr val="FFFFFF"/>
                </a:solidFill>
                <a:latin typeface="Segoe UI"/>
              </a:defRPr>
            </a:pPr>
            <a:r>
              <a:t>←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10561320" y="64008"/>
            <a:ext cx="347472" cy="274320"/>
          </a:xfrm>
          <a:prstGeom prst="roundRect">
            <a:avLst/>
          </a:prstGeom>
          <a:solidFill>
            <a:srgbClr val="222228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>
                <a:solidFill>
                  <a:srgbClr val="FFFFFF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20" y="64008"/>
            <a:ext cx="10058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E4E4E7"/>
                </a:solidFill>
                <a:latin typeface="Consolas"/>
              </a:defRPr>
            </a:pPr>
            <a:r>
              <a:t>04 /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035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A1A1AA"/>
                </a:solidFill>
                <a:latin typeface="Segoe UI"/>
              </a:defRPr>
            </a:pPr>
            <a:r>
              <a:t>CRYPTOGRAPHIC SPECIFICATION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786384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Segoe UI"/>
              </a:defRPr>
            </a:pPr>
            <a:r>
              <a:t>Cryptographic Primitives &amp; Specifications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29844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A1A1AA"/>
                </a:solidFill>
                <a:latin typeface="Segoe UI"/>
              </a:defRPr>
            </a:pPr>
            <a:r>
              <a:t>Adherence to vetted standards, constant-time algorithms, and safe parameters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1691640"/>
            <a:ext cx="5120640" cy="4663440"/>
          </a:xfrm>
          <a:prstGeom prst="roundRect">
            <a:avLst/>
          </a:prstGeom>
          <a:solidFill>
            <a:srgbClr val="141418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Cipher Suite &amp; Key Agreement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Payload Encryption: </a:t>
            </a:r>
            <a:r>
              <a:rPr b="0" sz="1100">
                <a:solidFill>
                  <a:srgbClr val="E4E4E7"/>
                </a:solidFill>
              </a:rPr>
              <a:t>AES-256-GCM with 96-bit nonce and 128-bit authentication tag. Provides confidentiality and authenticated integrity.</a:t>
            </a:r>
            <a:r>
              <a:rPr b="1" sz="1000">
                <a:solidFill>
                  <a:srgbClr val="FFFFFF"/>
                </a:solidFill>
                <a:hlinkClick r:id="rId9"/>
              </a:rPr>
              <a:t> [NIST SP 800-38D]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Diffie-Hellman Group: </a:t>
            </a:r>
            <a:r>
              <a:rPr b="0" sz="1100">
                <a:solidFill>
                  <a:srgbClr val="E4E4E7"/>
                </a:solidFill>
              </a:rPr>
              <a:t>RFC 3526 MODP Group 14 (2048-bit safe prime, g=2). Replaces expensive safe-prime generation (&lt;50ms vs ~30s).</a:t>
            </a:r>
            <a:r>
              <a:rPr b="1" sz="1000">
                <a:solidFill>
                  <a:srgbClr val="FFFFFF"/>
                </a:solidFill>
                <a:hlinkClick r:id="rId10"/>
              </a:rPr>
              <a:t> [RFC 3526]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Group Validation: </a:t>
            </a:r>
            <a:r>
              <a:rPr b="0" sz="1100">
                <a:solidFill>
                  <a:srgbClr val="E4E4E7"/>
                </a:solidFill>
              </a:rPr>
              <a:t>Inbound DH public keys validated: rejected if y &lt;= 1, y &gt;= p-1, or y^q mod p != 1. Completely blocks small-subgroup attacks.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Foundational Theory: </a:t>
            </a:r>
            <a:r>
              <a:rPr b="0" sz="1100">
                <a:solidFill>
                  <a:srgbClr val="A1A1AA"/>
                </a:solidFill>
              </a:rPr>
              <a:t>Diffie-Hellman public key cryptography foundation.</a:t>
            </a:r>
            <a:r>
              <a:rPr b="1" sz="1000">
                <a:solidFill>
                  <a:srgbClr val="FFFFFF"/>
                </a:solidFill>
                <a:hlinkClick r:id="rId11"/>
              </a:rPr>
              <a:t> [Diffie &amp; Hellman, IEEE TIT 1976]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691640"/>
            <a:ext cx="5212080" cy="4663440"/>
          </a:xfrm>
          <a:prstGeom prst="roundRect">
            <a:avLst/>
          </a:prstGeom>
          <a:solidFill>
            <a:srgbClr val="141418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Signatures &amp; Transport Protection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Identity &amp; Signatures: </a:t>
            </a:r>
            <a:r>
              <a:rPr b="0" sz="1100">
                <a:solidFill>
                  <a:srgbClr val="E4E4E7"/>
                </a:solidFill>
              </a:rPr>
              <a:t>RSA-2048 with SHA256withRSA. Signs handshakes and messages over canonical deterministically ordered byte representations.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Anti-Stripping Guard: </a:t>
            </a:r>
            <a:r>
              <a:rPr b="0" sz="1100">
                <a:solidFill>
                  <a:srgbClr val="E4E4E7"/>
                </a:solidFill>
              </a:rPr>
              <a:t>The codec treats missing signatures on signed types as fatal protocol errors, preventing signature-stripping downgrade attacks.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At-Rest Password KDF: </a:t>
            </a:r>
            <a:r>
              <a:rPr b="0" sz="1100">
                <a:solidFill>
                  <a:srgbClr val="E4E4E7"/>
                </a:solidFill>
              </a:rPr>
              <a:t>PBKDF2-HMAC-SHA256 at 210,000 iterations over random 16-byte salt for desktop database encryption key derivation.</a:t>
            </a:r>
            <a:r>
              <a:rPr b="1" sz="1000">
                <a:solidFill>
                  <a:srgbClr val="FFFFFF"/>
                </a:solidFill>
                <a:hlinkClick r:id="rId12"/>
              </a:rPr>
              <a:t> [NIST SP 800-132]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Transport Security: </a:t>
            </a:r>
            <a:r>
              <a:rPr b="0" sz="1100">
                <a:solidFill>
                  <a:srgbClr val="E4E4E7"/>
                </a:solidFill>
              </a:rPr>
              <a:t>TLS 1.3 restricted to AEAD cipher suites with strict certificate pinning on both desktop and mobile clients.</a:t>
            </a:r>
            <a:r>
              <a:rPr b="1" sz="1000">
                <a:solidFill>
                  <a:srgbClr val="FFFFFF"/>
                </a:solidFill>
                <a:hlinkClick r:id="rId13"/>
              </a:rPr>
              <a:t> [RFC 8446]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"/>
            <a:ext cx="21031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Segoe UI"/>
              </a:defRPr>
            </a:pPr>
            <a:r>
              <a:t>TETHERLESS E2EE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2743200" y="64008"/>
            <a:ext cx="1371600" cy="274320"/>
          </a:xfrm>
          <a:prstGeom prst="roundRect">
            <a:avLst/>
          </a:prstGeom>
          <a:solidFill>
            <a:srgbClr val="121215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0">
                <a:solidFill>
                  <a:srgbClr val="A1A1AA"/>
                </a:solidFill>
                <a:latin typeface="Segoe UI"/>
              </a:defRPr>
            </a:pPr>
            <a:r>
              <a:t>Architecture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4187952" y="64008"/>
            <a:ext cx="1371600" cy="274320"/>
          </a:xfrm>
          <a:prstGeom prst="roundRect">
            <a:avLst/>
          </a:prstGeom>
          <a:solidFill>
            <a:srgbClr val="22222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Cryptography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5632704" y="64008"/>
            <a:ext cx="1371600" cy="274320"/>
          </a:xfrm>
          <a:prstGeom prst="roundRect">
            <a:avLst/>
          </a:prstGeom>
          <a:solidFill>
            <a:srgbClr val="121215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0">
                <a:solidFill>
                  <a:srgbClr val="A1A1AA"/>
                </a:solidFill>
                <a:latin typeface="Segoe UI"/>
              </a:defRPr>
            </a:pPr>
            <a:r>
              <a:t>Threat Model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7077456" y="64008"/>
            <a:ext cx="1371600" cy="274320"/>
          </a:xfrm>
          <a:prstGeom prst="roundRect">
            <a:avLst/>
          </a:prstGeom>
          <a:solidFill>
            <a:srgbClr val="121215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0">
                <a:solidFill>
                  <a:srgbClr val="A1A1AA"/>
                </a:solidFill>
                <a:latin typeface="Segoe UI"/>
              </a:defRPr>
            </a:pPr>
            <a:r>
              <a:t>Relay System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8522208" y="64008"/>
            <a:ext cx="1371600" cy="274320"/>
          </a:xfrm>
          <a:prstGeom prst="roundRect">
            <a:avLst/>
          </a:prstGeom>
          <a:solidFill>
            <a:srgbClr val="121215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0">
                <a:solidFill>
                  <a:srgbClr val="A1A1AA"/>
                </a:solidFill>
                <a:latin typeface="Segoe UI"/>
              </a:defRPr>
            </a:pPr>
            <a:r>
              <a:t>Clients &amp; MVP</a:t>
            </a:r>
          </a:p>
        </p:txBody>
      </p:sp>
      <p:sp>
        <p:nvSpPr>
          <p:cNvPr id="10" name="Rounded Rectangle 9">
            <a:hlinkClick action="ppaction://hlinksldjump" r:id="rId3"/>
          </p:cNvPr>
          <p:cNvSpPr/>
          <p:nvPr/>
        </p:nvSpPr>
        <p:spPr>
          <a:xfrm>
            <a:off x="10149840" y="64008"/>
            <a:ext cx="347472" cy="274320"/>
          </a:xfrm>
          <a:prstGeom prst="roundRect">
            <a:avLst/>
          </a:prstGeom>
          <a:solidFill>
            <a:srgbClr val="222228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>
                <a:solidFill>
                  <a:srgbClr val="FFFFFF"/>
                </a:solidFill>
                <a:latin typeface="Segoe UI"/>
              </a:defRPr>
            </a:pPr>
            <a:r>
              <a:t>←</a:t>
            </a:r>
          </a:p>
        </p:txBody>
      </p:sp>
      <p:sp>
        <p:nvSpPr>
          <p:cNvPr id="11" name="Rounded Rectangle 10">
            <a:hlinkClick action="ppaction://hlinksldjump" r:id="rId7"/>
          </p:cNvPr>
          <p:cNvSpPr/>
          <p:nvPr/>
        </p:nvSpPr>
        <p:spPr>
          <a:xfrm>
            <a:off x="10561320" y="64008"/>
            <a:ext cx="347472" cy="274320"/>
          </a:xfrm>
          <a:prstGeom prst="roundRect">
            <a:avLst/>
          </a:prstGeom>
          <a:solidFill>
            <a:srgbClr val="222228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>
                <a:solidFill>
                  <a:srgbClr val="FFFFFF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20" y="64008"/>
            <a:ext cx="10058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E4E4E7"/>
                </a:solidFill>
                <a:latin typeface="Consolas"/>
              </a:defRPr>
            </a:pPr>
            <a:r>
              <a:t>05 /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035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A1A1AA"/>
                </a:solidFill>
                <a:latin typeface="Segoe UI"/>
              </a:defRPr>
            </a:pPr>
            <a:r>
              <a:t>NONCE CONSTRUCTION &amp; GCM SAFETY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786384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Segoe UI"/>
              </a:defRPr>
            </a:pPr>
            <a:r>
              <a:t>Deterministic GCM Nonce Construction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29844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A1A1AA"/>
                </a:solidFill>
                <a:latin typeface="Segoe UI"/>
              </a:defRPr>
            </a:pPr>
            <a:r>
              <a:t>Eliminating catastrophic AES-GCM nonce reuse across communication directions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1691640"/>
            <a:ext cx="5120640" cy="4663440"/>
          </a:xfrm>
          <a:prstGeom prst="roundRect">
            <a:avLst/>
          </a:prstGeom>
          <a:solidFill>
            <a:srgbClr val="141418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The AES-GCM Nonce Reuse Hazard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Catastrophic Failure: </a:t>
            </a:r>
            <a:r>
              <a:rPr b="0" sz="1100">
                <a:solidFill>
                  <a:srgbClr val="E4E4E7"/>
                </a:solidFill>
              </a:rPr>
              <a:t>Reusing an IV/nonce under the same key in GCM immediately leaks the XOR of plaintexts and allows polynomial forgery of authentication tags.</a:t>
            </a:r>
            <a:r>
              <a:rPr b="1" sz="1000">
                <a:solidFill>
                  <a:srgbClr val="FFFFFF"/>
                </a:solidFill>
                <a:hlinkClick r:id="rId8"/>
              </a:rPr>
              <a:t> [McGrew &amp; Viega, INDOCRYPT 2004]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Random IV Flaw: </a:t>
            </a:r>
            <a:r>
              <a:rPr b="0" sz="1100">
                <a:solidFill>
                  <a:srgbClr val="E4E4E7"/>
                </a:solidFill>
              </a:rPr>
              <a:t>A random 96-bit IV has a non-negligible collision probability by the Birthday Paradox over millions of messages.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Bidirectional Collision: </a:t>
            </a:r>
            <a:r>
              <a:rPr b="0" sz="1100">
                <a:solidFill>
                  <a:srgbClr val="E4E4E7"/>
                </a:solidFill>
              </a:rPr>
              <a:t>Early bug discovery: Alice and Bob both starting at counter 0 with same key collided immediately on message #1 across directions.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691640"/>
            <a:ext cx="5212080" cy="4663440"/>
          </a:xfrm>
          <a:prstGeom prst="roundRect">
            <a:avLst/>
          </a:prstGeom>
          <a:solidFill>
            <a:srgbClr val="141418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Tetherless Deterministic Nonce</a:t>
            </a:r>
          </a:p>
          <a:p>
            <a:pPr>
              <a:spcAft>
                <a:spcPts val="500"/>
              </a:spcAft>
              <a:defRPr sz="1100">
                <a:latin typeface="Consolas"/>
              </a:defRPr>
            </a:pPr>
            <a:r>
              <a:rPr b="1" sz="1100">
                <a:solidFill>
                  <a:srgbClr val="FFFFFF"/>
                </a:solidFill>
              </a:rPr>
              <a:t>Structure: </a:t>
            </a:r>
            <a:r>
              <a:rPr b="0" sz="1100">
                <a:solidFill>
                  <a:srgbClr val="E4E4E7"/>
                </a:solidFill>
              </a:rPr>
              <a:t>12-byte (96-bit) buffer: [Direction: 4 bytes] || [Monotonic Counter: 8 bytes]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Direction Derivation: </a:t>
            </a:r>
            <a:r>
              <a:rPr b="0" sz="1100">
                <a:solidFill>
                  <a:srgbClr val="E4E4E7"/>
                </a:solidFill>
              </a:rPr>
              <a:t>Direction bit is deterministically computed by lexicographical sorting of Peer IDs: Initiator = 0x00000000, Responder = 0x00000001.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Send Budget Cap: </a:t>
            </a:r>
            <a:r>
              <a:rPr b="0" sz="1100">
                <a:solidFill>
                  <a:srgbClr val="E4E4E7"/>
                </a:solidFill>
              </a:rPr>
              <a:t>Hard cap of 100,000 messages per session key. Attempting to exceed budget triggers mandatory rekeying, preventing counter wraparound.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Empirical Verification: </a:t>
            </a:r>
            <a:r>
              <a:rPr b="0" sz="1100">
                <a:solidFill>
                  <a:srgbClr val="E4E4E7"/>
                </a:solidFill>
              </a:rPr>
              <a:t>Verified across 100,000 continuous message transmissions with zero duplicate nonces (IvReuseTest).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"/>
            <a:ext cx="21031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Segoe UI"/>
              </a:defRPr>
            </a:pPr>
            <a:r>
              <a:t>TETHERLESS E2EE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2743200" y="64008"/>
            <a:ext cx="1371600" cy="274320"/>
          </a:xfrm>
          <a:prstGeom prst="roundRect">
            <a:avLst/>
          </a:prstGeom>
          <a:solidFill>
            <a:srgbClr val="121215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0">
                <a:solidFill>
                  <a:srgbClr val="A1A1AA"/>
                </a:solidFill>
                <a:latin typeface="Segoe UI"/>
              </a:defRPr>
            </a:pPr>
            <a:r>
              <a:t>Architecture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4187952" y="64008"/>
            <a:ext cx="1371600" cy="274320"/>
          </a:xfrm>
          <a:prstGeom prst="roundRect">
            <a:avLst/>
          </a:prstGeom>
          <a:solidFill>
            <a:srgbClr val="22222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Cryptography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5632704" y="64008"/>
            <a:ext cx="1371600" cy="274320"/>
          </a:xfrm>
          <a:prstGeom prst="roundRect">
            <a:avLst/>
          </a:prstGeom>
          <a:solidFill>
            <a:srgbClr val="121215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0">
                <a:solidFill>
                  <a:srgbClr val="A1A1AA"/>
                </a:solidFill>
                <a:latin typeface="Segoe UI"/>
              </a:defRPr>
            </a:pPr>
            <a:r>
              <a:t>Threat Model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7077456" y="64008"/>
            <a:ext cx="1371600" cy="274320"/>
          </a:xfrm>
          <a:prstGeom prst="roundRect">
            <a:avLst/>
          </a:prstGeom>
          <a:solidFill>
            <a:srgbClr val="121215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0">
                <a:solidFill>
                  <a:srgbClr val="A1A1AA"/>
                </a:solidFill>
                <a:latin typeface="Segoe UI"/>
              </a:defRPr>
            </a:pPr>
            <a:r>
              <a:t>Relay System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8522208" y="64008"/>
            <a:ext cx="1371600" cy="274320"/>
          </a:xfrm>
          <a:prstGeom prst="roundRect">
            <a:avLst/>
          </a:prstGeom>
          <a:solidFill>
            <a:srgbClr val="121215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0">
                <a:solidFill>
                  <a:srgbClr val="A1A1AA"/>
                </a:solidFill>
                <a:latin typeface="Segoe UI"/>
              </a:defRPr>
            </a:pPr>
            <a:r>
              <a:t>Clients &amp; MVP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10149840" y="64008"/>
            <a:ext cx="347472" cy="274320"/>
          </a:xfrm>
          <a:prstGeom prst="roundRect">
            <a:avLst/>
          </a:prstGeom>
          <a:solidFill>
            <a:srgbClr val="222228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>
                <a:solidFill>
                  <a:srgbClr val="FFFFFF"/>
                </a:solidFill>
                <a:latin typeface="Segoe UI"/>
              </a:defRPr>
            </a:pPr>
            <a:r>
              <a:t>←</a:t>
            </a:r>
          </a:p>
        </p:txBody>
      </p:sp>
      <p:sp>
        <p:nvSpPr>
          <p:cNvPr id="11" name="Rounded Rectangle 10">
            <a:hlinkClick action="ppaction://hlinksldjump" r:id="rId4"/>
          </p:cNvPr>
          <p:cNvSpPr/>
          <p:nvPr/>
        </p:nvSpPr>
        <p:spPr>
          <a:xfrm>
            <a:off x="10561320" y="64008"/>
            <a:ext cx="347472" cy="274320"/>
          </a:xfrm>
          <a:prstGeom prst="roundRect">
            <a:avLst/>
          </a:prstGeom>
          <a:solidFill>
            <a:srgbClr val="222228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>
                <a:solidFill>
                  <a:srgbClr val="FFFFFF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20" y="64008"/>
            <a:ext cx="10058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E4E4E7"/>
                </a:solidFill>
                <a:latin typeface="Consolas"/>
              </a:defRPr>
            </a:pPr>
            <a:r>
              <a:t>06 /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035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A1A1AA"/>
                </a:solidFill>
                <a:latin typeface="Segoe UI"/>
              </a:defRPr>
            </a:pPr>
            <a:r>
              <a:t>KEY DERIVATION &amp; NORMALIZATION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786384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Segoe UI"/>
              </a:defRPr>
            </a:pPr>
            <a:r>
              <a:t>HKDF-SHA256 Derivation &amp; Normalization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29844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A1A1AA"/>
                </a:solidFill>
                <a:latin typeface="Segoe UI"/>
              </a:defRPr>
            </a:pPr>
            <a:r>
              <a:t>Extract-then-Expand PRF and solving cross-platform leading zero byte bugs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1691640"/>
            <a:ext cx="5120640" cy="4663440"/>
          </a:xfrm>
          <a:prstGeom prst="roundRect">
            <a:avLst/>
          </a:prstGeom>
          <a:solidFill>
            <a:srgbClr val="141418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HKDF-SHA256 Key Derivation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Extract Phase: </a:t>
            </a:r>
            <a:r>
              <a:rPr b="0" sz="1100">
                <a:solidFill>
                  <a:srgbClr val="E4E4E7"/>
                </a:solidFill>
              </a:rPr>
              <a:t>PRK = HMAC-SHA256(salt = nonceA || nonceB, IKM = DH_shared_secret). Extracts pseudorandom key from Diffie-Hellman secret.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Expand Phase: </a:t>
            </a:r>
            <a:r>
              <a:rPr b="0" sz="1100">
                <a:solidFill>
                  <a:srgbClr val="E4E4E7"/>
                </a:solidFill>
              </a:rPr>
              <a:t>OKM = HMAC-SHA256(PRK, info = 'tetherless-v1 aes-256-gcm' || 0x01, L = 32 bytes). Derives cryptographically isolated session key.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Formal Specification: </a:t>
            </a:r>
            <a:r>
              <a:rPr b="0" sz="1100">
                <a:solidFill>
                  <a:srgbClr val="A1A1AA"/>
                </a:solidFill>
              </a:rPr>
              <a:t>Formal security analysis of Extract-then-Expand PRF paradigms.</a:t>
            </a:r>
            <a:r>
              <a:rPr b="1" sz="1000">
                <a:solidFill>
                  <a:srgbClr val="FFFFFF"/>
                </a:solidFill>
                <a:hlinkClick r:id="rId8"/>
              </a:rPr>
              <a:t> [Krawczyk, CRYPTO 2010 / RFC 5869]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Test Vector Verified: </a:t>
            </a:r>
            <a:r>
              <a:rPr b="0" sz="1100">
                <a:solidFill>
                  <a:srgbClr val="E4E4E7"/>
                </a:solidFill>
              </a:rPr>
              <a:t>Verified against published RFC 5869 golden test vectors in CryptoVectorsTest.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691640"/>
            <a:ext cx="5212080" cy="4663440"/>
          </a:xfrm>
          <a:prstGeom prst="roundRect">
            <a:avLst/>
          </a:prstGeom>
          <a:solidFill>
            <a:srgbClr val="141418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Leading Zero Padding Normalization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The Intermittent Flaw: </a:t>
            </a:r>
            <a:r>
              <a:rPr b="0" sz="1100">
                <a:solidFill>
                  <a:srgbClr val="E4E4E7"/>
                </a:solidFill>
              </a:rPr>
              <a:t>DH shared secrets can produce leading zero bytes (~1 in 256 handshakes). Conscrypt (Android) and SunJCE (desktop) disagree on stripping them.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Catastrophic Consequence: </a:t>
            </a:r>
            <a:r>
              <a:rPr b="0" sz="1100">
                <a:solidFill>
                  <a:srgbClr val="E4E4E7"/>
                </a:solidFill>
              </a:rPr>
              <a:t>Without normalization, JVM and Android derived different keys on ~0.4% of sessions, causing silent handshake failures.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The Deterministic Fix: </a:t>
            </a:r>
            <a:r>
              <a:rPr b="0" sz="1100">
                <a:solidFill>
                  <a:srgbClr val="E4E4E7"/>
                </a:solidFill>
              </a:rPr>
              <a:t>Left-pad the shared secret to the exact byte length of modulus p before feeding HKDF.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Empirical Proof: </a:t>
            </a:r>
            <a:r>
              <a:rPr b="0" sz="1100">
                <a:solidFill>
                  <a:srgbClr val="E4E4E7"/>
                </a:solidFill>
              </a:rPr>
              <a:t>1,000 consecutive handshakes derive matching keys with zero mismatches (CryptoVectorsTest).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"/>
            <a:ext cx="21031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Segoe UI"/>
              </a:defRPr>
            </a:pPr>
            <a:r>
              <a:t>TETHERLESS E2EE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2743200" y="64008"/>
            <a:ext cx="1371600" cy="274320"/>
          </a:xfrm>
          <a:prstGeom prst="roundRect">
            <a:avLst/>
          </a:prstGeom>
          <a:solidFill>
            <a:srgbClr val="121215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0">
                <a:solidFill>
                  <a:srgbClr val="A1A1AA"/>
                </a:solidFill>
                <a:latin typeface="Segoe UI"/>
              </a:defRPr>
            </a:pPr>
            <a:r>
              <a:t>Architecture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4187952" y="64008"/>
            <a:ext cx="1371600" cy="274320"/>
          </a:xfrm>
          <a:prstGeom prst="roundRect">
            <a:avLst/>
          </a:prstGeom>
          <a:solidFill>
            <a:srgbClr val="121215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0">
                <a:solidFill>
                  <a:srgbClr val="A1A1AA"/>
                </a:solidFill>
                <a:latin typeface="Segoe UI"/>
              </a:defRPr>
            </a:pPr>
            <a:r>
              <a:t>Cryptography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5632704" y="64008"/>
            <a:ext cx="1371600" cy="274320"/>
          </a:xfrm>
          <a:prstGeom prst="roundRect">
            <a:avLst/>
          </a:prstGeom>
          <a:solidFill>
            <a:srgbClr val="22222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Threat Model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7077456" y="64008"/>
            <a:ext cx="1371600" cy="274320"/>
          </a:xfrm>
          <a:prstGeom prst="roundRect">
            <a:avLst/>
          </a:prstGeom>
          <a:solidFill>
            <a:srgbClr val="121215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0">
                <a:solidFill>
                  <a:srgbClr val="A1A1AA"/>
                </a:solidFill>
                <a:latin typeface="Segoe UI"/>
              </a:defRPr>
            </a:pPr>
            <a:r>
              <a:t>Relay System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8522208" y="64008"/>
            <a:ext cx="1371600" cy="274320"/>
          </a:xfrm>
          <a:prstGeom prst="roundRect">
            <a:avLst/>
          </a:prstGeom>
          <a:solidFill>
            <a:srgbClr val="121215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0">
                <a:solidFill>
                  <a:srgbClr val="A1A1AA"/>
                </a:solidFill>
                <a:latin typeface="Segoe UI"/>
              </a:defRPr>
            </a:pPr>
            <a:r>
              <a:t>Clients &amp; MVP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10149840" y="64008"/>
            <a:ext cx="347472" cy="274320"/>
          </a:xfrm>
          <a:prstGeom prst="roundRect">
            <a:avLst/>
          </a:prstGeom>
          <a:solidFill>
            <a:srgbClr val="222228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>
                <a:solidFill>
                  <a:srgbClr val="FFFFFF"/>
                </a:solidFill>
                <a:latin typeface="Segoe UI"/>
              </a:defRPr>
            </a:pPr>
            <a:r>
              <a:t>←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10561320" y="64008"/>
            <a:ext cx="347472" cy="274320"/>
          </a:xfrm>
          <a:prstGeom prst="roundRect">
            <a:avLst/>
          </a:prstGeom>
          <a:solidFill>
            <a:srgbClr val="222228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>
                <a:solidFill>
                  <a:srgbClr val="FFFFFF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20" y="64008"/>
            <a:ext cx="10058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E4E4E7"/>
                </a:solidFill>
                <a:latin typeface="Consolas"/>
              </a:defRPr>
            </a:pPr>
            <a:r>
              <a:t>07 /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035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A1A1AA"/>
                </a:solidFill>
                <a:latin typeface="Segoe UI"/>
              </a:defRPr>
            </a:pPr>
            <a:r>
              <a:t>FORMAL THREAT MATRIX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786384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Segoe UI"/>
              </a:defRPr>
            </a:pPr>
            <a:r>
              <a:t>Threat Matrix: Attacks T1 through T6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29844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A1A1AA"/>
                </a:solidFill>
                <a:latin typeface="Segoe UI"/>
              </a:defRPr>
            </a:pPr>
            <a:r>
              <a:t>Comprehensive mitigations and automated verification backing each security claim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1691640"/>
            <a:ext cx="5212080" cy="1371600"/>
          </a:xfrm>
          <a:prstGeom prst="roundRect">
            <a:avLst/>
          </a:prstGeom>
          <a:solidFill>
            <a:srgbClr val="141418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T1: Passive Relay Sniffing</a:t>
            </a:r>
          </a:p>
          <a:p>
            <a:pPr>
              <a:defRPr sz="1100">
                <a:solidFill>
                  <a:srgbClr val="E4E4E7"/>
                </a:solidFill>
                <a:latin typeface="Segoe UI"/>
              </a:defRPr>
            </a:pPr>
            <a:r>
              <a:t>AES-256-GCM encryption with client-held keys. Verified by EndToEndExchangeTest with live wire tap asserting zero plaintext.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691640"/>
            <a:ext cx="5212080" cy="1371600"/>
          </a:xfrm>
          <a:prstGeom prst="roundRect">
            <a:avLst/>
          </a:prstGeom>
          <a:solidFill>
            <a:srgbClr val="141418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T2: Active Relay MITM</a:t>
            </a:r>
          </a:p>
          <a:p>
            <a:pPr>
              <a:defRPr sz="1100">
                <a:solidFill>
                  <a:srgbClr val="E4E4E7"/>
                </a:solidFill>
                <a:latin typeface="Segoe UI"/>
              </a:defRPr>
            </a:pPr>
            <a:r>
              <a:t>Handshake signed with long-term RSA key; Peer ID bound to hash of public key. Verified by AdversarialRelayTest MITM scenarios.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227832"/>
            <a:ext cx="5212080" cy="1371600"/>
          </a:xfrm>
          <a:prstGeom prst="roundRect">
            <a:avLst/>
          </a:prstGeom>
          <a:solidFill>
            <a:srgbClr val="141418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T3: Network Interception</a:t>
            </a:r>
          </a:p>
          <a:p>
            <a:pPr>
              <a:defRPr sz="1100">
                <a:solidFill>
                  <a:srgbClr val="E4E4E7"/>
                </a:solidFill>
                <a:latin typeface="Segoe UI"/>
              </a:defRPr>
            </a:pPr>
            <a:r>
              <a:t>Pinned TLS 1.3 transport. Protects metadata and connection integrity from intermediate ISPs and eavesdroppers.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227832"/>
            <a:ext cx="5212080" cy="1371600"/>
          </a:xfrm>
          <a:prstGeom prst="roundRect">
            <a:avLst/>
          </a:prstGeom>
          <a:solidFill>
            <a:srgbClr val="141418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T4: Replay &amp; Reordering</a:t>
            </a:r>
          </a:p>
          <a:p>
            <a:pPr>
              <a:defRPr sz="1100">
                <a:solidFill>
                  <a:srgbClr val="E4E4E7"/>
                </a:solidFill>
                <a:latin typeface="Segoe UI"/>
              </a:defRPr>
            </a:pPr>
            <a:r>
              <a:t>Monotonic counter sliding window (floor = highest - 1024) + 5-min timestamp skew check. Replayed frames rejected silently.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764024"/>
            <a:ext cx="5212080" cy="1371600"/>
          </a:xfrm>
          <a:prstGeom prst="roundRect">
            <a:avLst/>
          </a:prstGeom>
          <a:solidFill>
            <a:srgbClr val="141418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T5: Malicious Peer Payload</a:t>
            </a:r>
          </a:p>
          <a:p>
            <a:pPr>
              <a:defRPr sz="1100">
                <a:solidFill>
                  <a:srgbClr val="E4E4E7"/>
                </a:solidFill>
                <a:latin typeface="Segoe UI"/>
              </a:defRPr>
            </a:pPr>
            <a:r>
              <a:t>Explicit length-prefixed binary codec with per-field size limits. Fuzz-tested with 20,000 mutations; no deserialization sinks.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764024"/>
            <a:ext cx="5212080" cy="1371600"/>
          </a:xfrm>
          <a:prstGeom prst="roundRect">
            <a:avLst/>
          </a:prstGeom>
          <a:solidFill>
            <a:srgbClr val="141418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T6: Device Compromise at Rest</a:t>
            </a:r>
          </a:p>
          <a:p>
            <a:pPr>
              <a:defRPr sz="1100">
                <a:solidFill>
                  <a:srgbClr val="E4E4E7"/>
                </a:solidFill>
                <a:latin typeface="Segoe UI"/>
              </a:defRPr>
            </a:pPr>
            <a:r>
              <a:t>SQLCipher full-database encryption on Android (AndroidKeyStore); PBKDF2 column encryption on Desktop. Keys never written in plaintext.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"/>
            <a:ext cx="21031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Segoe UI"/>
              </a:defRPr>
            </a:pPr>
            <a:r>
              <a:t>TETHERLESS E2EE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2743200" y="64008"/>
            <a:ext cx="1371600" cy="274320"/>
          </a:xfrm>
          <a:prstGeom prst="roundRect">
            <a:avLst/>
          </a:prstGeom>
          <a:solidFill>
            <a:srgbClr val="121215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0">
                <a:solidFill>
                  <a:srgbClr val="A1A1AA"/>
                </a:solidFill>
                <a:latin typeface="Segoe UI"/>
              </a:defRPr>
            </a:pPr>
            <a:r>
              <a:t>Architecture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4187952" y="64008"/>
            <a:ext cx="1371600" cy="274320"/>
          </a:xfrm>
          <a:prstGeom prst="roundRect">
            <a:avLst/>
          </a:prstGeom>
          <a:solidFill>
            <a:srgbClr val="121215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0">
                <a:solidFill>
                  <a:srgbClr val="A1A1AA"/>
                </a:solidFill>
                <a:latin typeface="Segoe UI"/>
              </a:defRPr>
            </a:pPr>
            <a:r>
              <a:t>Cryptography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5632704" y="64008"/>
            <a:ext cx="1371600" cy="274320"/>
          </a:xfrm>
          <a:prstGeom prst="roundRect">
            <a:avLst/>
          </a:prstGeom>
          <a:solidFill>
            <a:srgbClr val="22222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Threat Model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7077456" y="64008"/>
            <a:ext cx="1371600" cy="274320"/>
          </a:xfrm>
          <a:prstGeom prst="roundRect">
            <a:avLst/>
          </a:prstGeom>
          <a:solidFill>
            <a:srgbClr val="121215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0">
                <a:solidFill>
                  <a:srgbClr val="A1A1AA"/>
                </a:solidFill>
                <a:latin typeface="Segoe UI"/>
              </a:defRPr>
            </a:pPr>
            <a:r>
              <a:t>Relay System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8522208" y="64008"/>
            <a:ext cx="1371600" cy="274320"/>
          </a:xfrm>
          <a:prstGeom prst="roundRect">
            <a:avLst/>
          </a:prstGeom>
          <a:solidFill>
            <a:srgbClr val="121215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0">
                <a:solidFill>
                  <a:srgbClr val="A1A1AA"/>
                </a:solidFill>
                <a:latin typeface="Segoe UI"/>
              </a:defRPr>
            </a:pPr>
            <a:r>
              <a:t>Clients &amp; MVP</a:t>
            </a:r>
          </a:p>
        </p:txBody>
      </p:sp>
      <p:sp>
        <p:nvSpPr>
          <p:cNvPr id="10" name="Rounded Rectangle 9">
            <a:hlinkClick action="ppaction://hlinksldjump" r:id="rId4"/>
          </p:cNvPr>
          <p:cNvSpPr/>
          <p:nvPr/>
        </p:nvSpPr>
        <p:spPr>
          <a:xfrm>
            <a:off x="10149840" y="64008"/>
            <a:ext cx="347472" cy="274320"/>
          </a:xfrm>
          <a:prstGeom prst="roundRect">
            <a:avLst/>
          </a:prstGeom>
          <a:solidFill>
            <a:srgbClr val="222228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>
                <a:solidFill>
                  <a:srgbClr val="FFFFFF"/>
                </a:solidFill>
                <a:latin typeface="Segoe UI"/>
              </a:defRPr>
            </a:pPr>
            <a:r>
              <a:t>←</a:t>
            </a:r>
          </a:p>
        </p:txBody>
      </p:sp>
      <p:sp>
        <p:nvSpPr>
          <p:cNvPr id="11" name="Rounded Rectangle 10">
            <a:hlinkClick action="ppaction://hlinksldjump" r:id="rId7"/>
          </p:cNvPr>
          <p:cNvSpPr/>
          <p:nvPr/>
        </p:nvSpPr>
        <p:spPr>
          <a:xfrm>
            <a:off x="10561320" y="64008"/>
            <a:ext cx="347472" cy="274320"/>
          </a:xfrm>
          <a:prstGeom prst="roundRect">
            <a:avLst/>
          </a:prstGeom>
          <a:solidFill>
            <a:srgbClr val="222228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>
                <a:solidFill>
                  <a:srgbClr val="FFFFFF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20" y="64008"/>
            <a:ext cx="10058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E4E4E7"/>
                </a:solidFill>
                <a:latin typeface="Consolas"/>
              </a:defRPr>
            </a:pPr>
            <a:r>
              <a:t>08 /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035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A1A1AA"/>
                </a:solidFill>
                <a:latin typeface="Segoe UI"/>
              </a:defRPr>
            </a:pPr>
            <a:r>
              <a:t>IDENTITY &amp; TRUST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786384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Segoe UI"/>
              </a:defRPr>
            </a:pPr>
            <a:r>
              <a:t>Identity Architecture: TOFU &amp; Safety Numbers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29844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A1A1AA"/>
                </a:solidFill>
                <a:latin typeface="Segoe UI"/>
              </a:defRPr>
            </a:pPr>
            <a:r>
              <a:t>Binding identities cryptographically rather than relying on mutable display names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1691640"/>
            <a:ext cx="5120640" cy="4663440"/>
          </a:xfrm>
          <a:prstGeom prst="roundRect">
            <a:avLst/>
          </a:prstGeom>
          <a:solidFill>
            <a:srgbClr val="141418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Cryptographic Peer Identity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Address Derivation: </a:t>
            </a:r>
            <a:r>
              <a:rPr b="0" sz="1100">
                <a:solidFill>
                  <a:srgbClr val="E4E4E7"/>
                </a:solidFill>
              </a:rPr>
              <a:t>Peer ID = SHA-256(PublicKey)[0..16] (32 lowercase hex characters). Address never changes when a user changes display name.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Self-Signed HELLO Proof: </a:t>
            </a:r>
            <a:r>
              <a:rPr b="0" sz="1100">
                <a:solidFill>
                  <a:srgbClr val="E4E4E7"/>
                </a:solidFill>
              </a:rPr>
              <a:t>Clients transmit public key and sign their HELLO frame. Relay and peers reject any client whose ID does not match key hash.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Display Name Sanitization: </a:t>
            </a:r>
            <a:r>
              <a:rPr b="0" sz="1100">
                <a:solidFill>
                  <a:srgbClr val="E4E4E7"/>
                </a:solidFill>
              </a:rPr>
              <a:t>Display names are untrusted metadata. Stripped of bidirectional unicode overrides and control characters to prevent UI spoofing.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Formal Models: </a:t>
            </a:r>
            <a:r>
              <a:rPr b="0" sz="1100">
                <a:solidFill>
                  <a:srgbClr val="A1A1AA"/>
                </a:solidFill>
              </a:rPr>
              <a:t>Multi-stage key exchange security.</a:t>
            </a:r>
            <a:r>
              <a:rPr b="1" sz="1000">
                <a:solidFill>
                  <a:srgbClr val="FFFFFF"/>
                </a:solidFill>
                <a:hlinkClick r:id="rId8"/>
              </a:rPr>
              <a:t> [Cohn-Gordon et al., EuroS&amp;P 2017]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691640"/>
            <a:ext cx="5212080" cy="4663440"/>
          </a:xfrm>
          <a:prstGeom prst="roundRect">
            <a:avLst/>
          </a:prstGeom>
          <a:solidFill>
            <a:srgbClr val="141418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Trust-on-First-Use &amp; Safety Numbers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TOFU Binding: </a:t>
            </a:r>
            <a:r>
              <a:rPr b="0" sz="1100">
                <a:solidFill>
                  <a:srgbClr val="E4E4E7"/>
                </a:solidFill>
              </a:rPr>
              <a:t>First key seen for a peer is pinned. If a subsequent key differs, sending is blocked and the UI alerts KEY_CHANGED.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Safety Number Format: </a:t>
            </a:r>
            <a:r>
              <a:rPr b="0" sz="1100">
                <a:solidFill>
                  <a:srgbClr val="E4E4E7"/>
                </a:solidFill>
              </a:rPr>
              <a:t>12 groups of 5 decimal digits (60 digits total) displayed in UI.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Deterministic Symmetry: </a:t>
            </a:r>
            <a:r>
              <a:rPr b="0" sz="1100">
                <a:solidFill>
                  <a:srgbClr val="E4E4E7"/>
                </a:solidFill>
              </a:rPr>
              <a:t>Computed over SHA-256(minKey || maxKey); identical on both ends regardless of who initiates.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Short Authenticated Strings: </a:t>
            </a:r>
            <a:r>
              <a:rPr b="0" sz="1100">
                <a:solidFill>
                  <a:srgbClr val="E4E4E7"/>
                </a:solidFill>
              </a:rPr>
              <a:t>Implements Vaudenay's SAS authentication protocol for out-of-band human verification.</a:t>
            </a:r>
            <a:r>
              <a:rPr b="1" sz="1000">
                <a:solidFill>
                  <a:srgbClr val="FFFFFF"/>
                </a:solidFill>
                <a:hlinkClick r:id="rId9"/>
              </a:rPr>
              <a:t> [Vaudenay, CRYPTO 2005]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"/>
            <a:ext cx="21031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Segoe UI"/>
              </a:defRPr>
            </a:pPr>
            <a:r>
              <a:t>TETHERLESS E2EE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2743200" y="64008"/>
            <a:ext cx="1371600" cy="274320"/>
          </a:xfrm>
          <a:prstGeom prst="roundRect">
            <a:avLst/>
          </a:prstGeom>
          <a:solidFill>
            <a:srgbClr val="121215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0">
                <a:solidFill>
                  <a:srgbClr val="A1A1AA"/>
                </a:solidFill>
                <a:latin typeface="Segoe UI"/>
              </a:defRPr>
            </a:pPr>
            <a:r>
              <a:t>Architecture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4187952" y="64008"/>
            <a:ext cx="1371600" cy="274320"/>
          </a:xfrm>
          <a:prstGeom prst="roundRect">
            <a:avLst/>
          </a:prstGeom>
          <a:solidFill>
            <a:srgbClr val="121215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0">
                <a:solidFill>
                  <a:srgbClr val="A1A1AA"/>
                </a:solidFill>
                <a:latin typeface="Segoe UI"/>
              </a:defRPr>
            </a:pPr>
            <a:r>
              <a:t>Cryptography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5632704" y="64008"/>
            <a:ext cx="1371600" cy="274320"/>
          </a:xfrm>
          <a:prstGeom prst="roundRect">
            <a:avLst/>
          </a:prstGeom>
          <a:solidFill>
            <a:srgbClr val="22222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Threat Model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7077456" y="64008"/>
            <a:ext cx="1371600" cy="274320"/>
          </a:xfrm>
          <a:prstGeom prst="roundRect">
            <a:avLst/>
          </a:prstGeom>
          <a:solidFill>
            <a:srgbClr val="121215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0">
                <a:solidFill>
                  <a:srgbClr val="A1A1AA"/>
                </a:solidFill>
                <a:latin typeface="Segoe UI"/>
              </a:defRPr>
            </a:pPr>
            <a:r>
              <a:t>Relay System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8522208" y="64008"/>
            <a:ext cx="1371600" cy="274320"/>
          </a:xfrm>
          <a:prstGeom prst="roundRect">
            <a:avLst/>
          </a:prstGeom>
          <a:solidFill>
            <a:srgbClr val="121215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0">
                <a:solidFill>
                  <a:srgbClr val="A1A1AA"/>
                </a:solidFill>
                <a:latin typeface="Segoe UI"/>
              </a:defRPr>
            </a:pPr>
            <a:r>
              <a:t>Clients &amp; MVP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10149840" y="64008"/>
            <a:ext cx="347472" cy="274320"/>
          </a:xfrm>
          <a:prstGeom prst="roundRect">
            <a:avLst/>
          </a:prstGeom>
          <a:solidFill>
            <a:srgbClr val="222228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>
                <a:solidFill>
                  <a:srgbClr val="FFFFFF"/>
                </a:solidFill>
                <a:latin typeface="Segoe UI"/>
              </a:defRPr>
            </a:pPr>
            <a:r>
              <a:t>←</a:t>
            </a:r>
          </a:p>
        </p:txBody>
      </p:sp>
      <p:sp>
        <p:nvSpPr>
          <p:cNvPr id="11" name="Rounded Rectangle 10">
            <a:hlinkClick action="ppaction://hlinksldjump" r:id="rId5"/>
          </p:cNvPr>
          <p:cNvSpPr/>
          <p:nvPr/>
        </p:nvSpPr>
        <p:spPr>
          <a:xfrm>
            <a:off x="10561320" y="64008"/>
            <a:ext cx="347472" cy="274320"/>
          </a:xfrm>
          <a:prstGeom prst="roundRect">
            <a:avLst/>
          </a:prstGeom>
          <a:solidFill>
            <a:srgbClr val="222228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>
                <a:solidFill>
                  <a:srgbClr val="FFFFFF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20" y="64008"/>
            <a:ext cx="10058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E4E4E7"/>
                </a:solidFill>
                <a:latin typeface="Consolas"/>
              </a:defRPr>
            </a:pPr>
            <a:r>
              <a:t>09 /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035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A1A1AA"/>
                </a:solidFill>
                <a:latin typeface="Segoe UI"/>
              </a:defRPr>
            </a:pPr>
            <a:r>
              <a:t>SYSTEM BOUNDARIES &amp; NON-GOALS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786384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Segoe UI"/>
              </a:defRPr>
            </a:pPr>
            <a:r>
              <a:t>Honest Security Limitations &amp; Non-Goals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29844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A1A1AA"/>
                </a:solidFill>
                <a:latin typeface="Segoe UI"/>
              </a:defRPr>
            </a:pPr>
            <a:r>
              <a:t>Explicitly documenting system boundaries and what Tetherless does NOT protect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1691640"/>
            <a:ext cx="5120640" cy="4663440"/>
          </a:xfrm>
          <a:prstGeom prst="roundRect">
            <a:avLst/>
          </a:prstGeom>
          <a:solidFill>
            <a:srgbClr val="141418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Architectural Non-Guarantees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Relay Observes Metadata: </a:t>
            </a:r>
            <a:r>
              <a:rPr b="0" sz="1100">
                <a:solidFill>
                  <a:srgbClr val="E4E4E7"/>
                </a:solidFill>
              </a:rPr>
              <a:t>The relay observes the social graph: who talks to whom, timestamps, frequency, and frame byte lengths.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Single Point of Failure: </a:t>
            </a:r>
            <a:r>
              <a:rPr b="0" sz="1100">
                <a:solidFill>
                  <a:srgbClr val="E4E4E7"/>
                </a:solidFill>
              </a:rPr>
              <a:t>Centralized relay topology can deny service to clients. True federation is planned for post-1.0.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No Group Messaging: </a:t>
            </a:r>
            <a:r>
              <a:rPr b="0" sz="1100">
                <a:solidFill>
                  <a:srgbClr val="E4E4E7"/>
                </a:solidFill>
              </a:rPr>
              <a:t>Protocol is strictly point-to-point. Decentralized group messaging requires MLS.</a:t>
            </a:r>
            <a:r>
              <a:rPr b="1" sz="1000">
                <a:solidFill>
                  <a:srgbClr val="FFFFFF"/>
                </a:solidFill>
                <a:hlinkClick r:id="rId8"/>
              </a:rPr>
              <a:t> [RFC 9420 (MLS)]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No Multi-Device Sync: </a:t>
            </a:r>
            <a:r>
              <a:rPr b="0" sz="1100">
                <a:solidFill>
                  <a:srgbClr val="E4E4E7"/>
                </a:solidFill>
              </a:rPr>
              <a:t>One identity per device. A second device has a completely independent identity key.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691640"/>
            <a:ext cx="5212080" cy="4663440"/>
          </a:xfrm>
          <a:prstGeom prst="roundRect">
            <a:avLst/>
          </a:prstGeom>
          <a:solidFill>
            <a:srgbClr val="141418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Cryptographic Scope Boundaries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No Per-Message Ratchet: </a:t>
            </a:r>
            <a:r>
              <a:rPr b="0" sz="1100">
                <a:solidFill>
                  <a:srgbClr val="E4E4E7"/>
                </a:solidFill>
              </a:rPr>
              <a:t>DH exchange establishes a session key for up to 100,000 messages. Compromise of a session key compromises that session.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Session Expiry by Volume: </a:t>
            </a:r>
            <a:r>
              <a:rPr b="0" sz="1100">
                <a:solidFill>
                  <a:srgbClr val="E4E4E7"/>
                </a:solidFill>
              </a:rPr>
              <a:t>Key renewal is triggered by message count (100k budget), not by elapsed time TTL. In-memory keys cleared on restart.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Live Device Compromise: </a:t>
            </a:r>
            <a:r>
              <a:rPr b="0" sz="1100">
                <a:solidFill>
                  <a:srgbClr val="E4E4E7"/>
                </a:solidFill>
              </a:rPr>
              <a:t>Files are encrypted at rest, but an adversary running code inside the live process memory can access decrypted messages.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Unaudited Status: </a:t>
            </a:r>
            <a:r>
              <a:rPr b="0" sz="1100">
                <a:solidFill>
                  <a:srgbClr val="E4E4E7"/>
                </a:solidFill>
              </a:rPr>
              <a:t>While backed by rigorous automated test suites, Tetherless has not yet undergone third-party commercial security audits.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"/>
            <a:ext cx="21031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Segoe UI"/>
              </a:defRPr>
            </a:pPr>
            <a:r>
              <a:t>TETHERLESS E2EE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2743200" y="64008"/>
            <a:ext cx="1371600" cy="274320"/>
          </a:xfrm>
          <a:prstGeom prst="roundRect">
            <a:avLst/>
          </a:prstGeom>
          <a:solidFill>
            <a:srgbClr val="121215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0">
                <a:solidFill>
                  <a:srgbClr val="A1A1AA"/>
                </a:solidFill>
                <a:latin typeface="Segoe UI"/>
              </a:defRPr>
            </a:pPr>
            <a:r>
              <a:t>Architecture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4187952" y="64008"/>
            <a:ext cx="1371600" cy="274320"/>
          </a:xfrm>
          <a:prstGeom prst="roundRect">
            <a:avLst/>
          </a:prstGeom>
          <a:solidFill>
            <a:srgbClr val="121215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0">
                <a:solidFill>
                  <a:srgbClr val="A1A1AA"/>
                </a:solidFill>
                <a:latin typeface="Segoe UI"/>
              </a:defRPr>
            </a:pPr>
            <a:r>
              <a:t>Cryptography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5632704" y="64008"/>
            <a:ext cx="1371600" cy="274320"/>
          </a:xfrm>
          <a:prstGeom prst="roundRect">
            <a:avLst/>
          </a:prstGeom>
          <a:solidFill>
            <a:srgbClr val="121215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0">
                <a:solidFill>
                  <a:srgbClr val="A1A1AA"/>
                </a:solidFill>
                <a:latin typeface="Segoe UI"/>
              </a:defRPr>
            </a:pPr>
            <a:r>
              <a:t>Threat Model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7077456" y="64008"/>
            <a:ext cx="1371600" cy="274320"/>
          </a:xfrm>
          <a:prstGeom prst="roundRect">
            <a:avLst/>
          </a:prstGeom>
          <a:solidFill>
            <a:srgbClr val="22222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Relay System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8522208" y="64008"/>
            <a:ext cx="1371600" cy="274320"/>
          </a:xfrm>
          <a:prstGeom prst="roundRect">
            <a:avLst/>
          </a:prstGeom>
          <a:solidFill>
            <a:srgbClr val="121215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0">
                <a:solidFill>
                  <a:srgbClr val="A1A1AA"/>
                </a:solidFill>
                <a:latin typeface="Segoe UI"/>
              </a:defRPr>
            </a:pPr>
            <a:r>
              <a:t>Clients &amp; MVP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10149840" y="64008"/>
            <a:ext cx="347472" cy="274320"/>
          </a:xfrm>
          <a:prstGeom prst="roundRect">
            <a:avLst/>
          </a:prstGeom>
          <a:solidFill>
            <a:srgbClr val="222228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>
                <a:solidFill>
                  <a:srgbClr val="FFFFFF"/>
                </a:solidFill>
                <a:latin typeface="Segoe UI"/>
              </a:defRPr>
            </a:pPr>
            <a:r>
              <a:t>←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10561320" y="64008"/>
            <a:ext cx="347472" cy="274320"/>
          </a:xfrm>
          <a:prstGeom prst="roundRect">
            <a:avLst/>
          </a:prstGeom>
          <a:solidFill>
            <a:srgbClr val="222228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>
                <a:solidFill>
                  <a:srgbClr val="FFFFFF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20" y="64008"/>
            <a:ext cx="10058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E4E4E7"/>
                </a:solidFill>
                <a:latin typeface="Consolas"/>
              </a:defRPr>
            </a:pPr>
            <a:r>
              <a:t>10 /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035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A1A1AA"/>
                </a:solidFill>
                <a:latin typeface="Segoe UI"/>
              </a:defRPr>
            </a:pPr>
            <a:r>
              <a:t>RELAY FORWARDING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786384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Segoe UI"/>
              </a:defRPr>
            </a:pPr>
            <a:r>
              <a:t>Dumb Relay: Non-Blocking Ciphertext Routing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29844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A1A1AA"/>
                </a:solidFill>
                <a:latin typeface="Segoe UI"/>
              </a:defRPr>
            </a:pPr>
            <a:r>
              <a:t>High-throughput message routing with zero payload inspection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1691640"/>
            <a:ext cx="5120640" cy="4663440"/>
          </a:xfrm>
          <a:prstGeom prst="roundRect">
            <a:avLst/>
          </a:prstGeom>
          <a:solidFill>
            <a:srgbClr val="141418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Non-Blocking Per-Client Writer Queues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Dedicated Writer Threads: </a:t>
            </a:r>
            <a:r>
              <a:rPr b="0" sz="1100">
                <a:solidFill>
                  <a:srgbClr val="E4E4E7"/>
                </a:solidFill>
              </a:rPr>
              <a:t>Each client session maintains an ArrayBlockingQueue&lt;byte[]&gt; (capacity 256) serviced by a single dedicated writer thread.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No Head-of-Line Blocking: </a:t>
            </a:r>
            <a:r>
              <a:rPr b="0" sz="1100">
                <a:solidFill>
                  <a:srgbClr val="E4E4E7"/>
                </a:solidFill>
              </a:rPr>
              <a:t>A slow recipient cannot block the sender's thread. Handlers merely enqueue frames and immediately return.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Overflow Protection: </a:t>
            </a:r>
            <a:r>
              <a:rPr b="0" sz="1100">
                <a:solidFill>
                  <a:srgbClr val="E4E4E7"/>
                </a:solidFill>
              </a:rPr>
              <a:t>If a recipient queue fills beyond capacity, the connection is terminated cleanly with an ERROR frame rather than deadlocking.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Zero Decoding: </a:t>
            </a:r>
            <a:r>
              <a:rPr b="0" sz="1100">
                <a:solidFill>
                  <a:srgbClr val="E4E4E7"/>
                </a:solidFill>
              </a:rPr>
              <a:t>Routes based on header fields without decoding payload bytes.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691640"/>
            <a:ext cx="5212080" cy="4663440"/>
          </a:xfrm>
          <a:prstGeom prst="roundRect">
            <a:avLst/>
          </a:prstGeom>
          <a:solidFill>
            <a:srgbClr val="141418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Zero-Knowledge Forwarding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Verbatim Forwarding: </a:t>
            </a:r>
            <a:r>
              <a:rPr b="0" sz="1100">
                <a:solidFill>
                  <a:srgbClr val="E4E4E7"/>
                </a:solidFill>
              </a:rPr>
              <a:t>Relay forwards frames without re-encoding, preserving cryptographic signatures intact.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Redacted Logs: </a:t>
            </a:r>
            <a:r>
              <a:rPr b="0" sz="1100">
                <a:solidFill>
                  <a:srgbClr val="E4E4E7"/>
                </a:solidFill>
              </a:rPr>
              <a:t>Logs peer interactions using SHA-256 truncated IDs (Redact.id), never real IDs or payload bytes.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Stress Verified: </a:t>
            </a:r>
            <a:r>
              <a:rPr b="0" sz="1100">
                <a:solidFill>
                  <a:srgbClr val="E4E4E7"/>
                </a:solidFill>
              </a:rPr>
              <a:t>10 concurrent senders x 1,000 messages (10,000 total) to one recipient delivered without loss or corruption.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"/>
            <a:ext cx="21031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Segoe UI"/>
              </a:defRPr>
            </a:pPr>
            <a:r>
              <a:t>TETHERLESS E2EE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2743200" y="64008"/>
            <a:ext cx="1371600" cy="274320"/>
          </a:xfrm>
          <a:prstGeom prst="roundRect">
            <a:avLst/>
          </a:prstGeom>
          <a:solidFill>
            <a:srgbClr val="121215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0">
                <a:solidFill>
                  <a:srgbClr val="A1A1AA"/>
                </a:solidFill>
                <a:latin typeface="Segoe UI"/>
              </a:defRPr>
            </a:pPr>
            <a:r>
              <a:t>Architecture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4187952" y="64008"/>
            <a:ext cx="1371600" cy="274320"/>
          </a:xfrm>
          <a:prstGeom prst="roundRect">
            <a:avLst/>
          </a:prstGeom>
          <a:solidFill>
            <a:srgbClr val="121215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0">
                <a:solidFill>
                  <a:srgbClr val="A1A1AA"/>
                </a:solidFill>
                <a:latin typeface="Segoe UI"/>
              </a:defRPr>
            </a:pPr>
            <a:r>
              <a:t>Cryptography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5632704" y="64008"/>
            <a:ext cx="1371600" cy="274320"/>
          </a:xfrm>
          <a:prstGeom prst="roundRect">
            <a:avLst/>
          </a:prstGeom>
          <a:solidFill>
            <a:srgbClr val="121215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0">
                <a:solidFill>
                  <a:srgbClr val="A1A1AA"/>
                </a:solidFill>
                <a:latin typeface="Segoe UI"/>
              </a:defRPr>
            </a:pPr>
            <a:r>
              <a:t>Threat Model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7077456" y="64008"/>
            <a:ext cx="1371600" cy="274320"/>
          </a:xfrm>
          <a:prstGeom prst="roundRect">
            <a:avLst/>
          </a:prstGeom>
          <a:solidFill>
            <a:srgbClr val="22222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Relay System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8522208" y="64008"/>
            <a:ext cx="1371600" cy="274320"/>
          </a:xfrm>
          <a:prstGeom prst="roundRect">
            <a:avLst/>
          </a:prstGeom>
          <a:solidFill>
            <a:srgbClr val="121215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0">
                <a:solidFill>
                  <a:srgbClr val="A1A1AA"/>
                </a:solidFill>
                <a:latin typeface="Segoe UI"/>
              </a:defRPr>
            </a:pPr>
            <a:r>
              <a:t>Clients &amp; MVP</a:t>
            </a:r>
          </a:p>
        </p:txBody>
      </p:sp>
      <p:sp>
        <p:nvSpPr>
          <p:cNvPr id="10" name="Rounded Rectangle 9">
            <a:hlinkClick action="ppaction://hlinksldjump" r:id="rId5"/>
          </p:cNvPr>
          <p:cNvSpPr/>
          <p:nvPr/>
        </p:nvSpPr>
        <p:spPr>
          <a:xfrm>
            <a:off x="10149840" y="64008"/>
            <a:ext cx="347472" cy="274320"/>
          </a:xfrm>
          <a:prstGeom prst="roundRect">
            <a:avLst/>
          </a:prstGeom>
          <a:solidFill>
            <a:srgbClr val="222228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>
                <a:solidFill>
                  <a:srgbClr val="FFFFFF"/>
                </a:solidFill>
                <a:latin typeface="Segoe UI"/>
              </a:defRPr>
            </a:pPr>
            <a:r>
              <a:t>←</a:t>
            </a:r>
          </a:p>
        </p:txBody>
      </p:sp>
      <p:sp>
        <p:nvSpPr>
          <p:cNvPr id="11" name="Rounded Rectangle 10">
            <a:hlinkClick action="ppaction://hlinksldjump" r:id="rId7"/>
          </p:cNvPr>
          <p:cNvSpPr/>
          <p:nvPr/>
        </p:nvSpPr>
        <p:spPr>
          <a:xfrm>
            <a:off x="10561320" y="64008"/>
            <a:ext cx="347472" cy="274320"/>
          </a:xfrm>
          <a:prstGeom prst="roundRect">
            <a:avLst/>
          </a:prstGeom>
          <a:solidFill>
            <a:srgbClr val="222228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>
                <a:solidFill>
                  <a:srgbClr val="FFFFFF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20" y="64008"/>
            <a:ext cx="10058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E4E4E7"/>
                </a:solidFill>
                <a:latin typeface="Consolas"/>
              </a:defRPr>
            </a:pPr>
            <a:r>
              <a:t>11 /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035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A1A1AA"/>
                </a:solidFill>
                <a:latin typeface="Segoe UI"/>
              </a:defRPr>
            </a:pPr>
            <a:r>
              <a:t>CONNECTION CONCURRENCY &amp; LIFECYCLE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786384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Segoe UI"/>
              </a:defRPr>
            </a:pPr>
            <a:r>
              <a:t>Connection Lifecycle &amp; Race Defenses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29844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A1A1AA"/>
                </a:solidFill>
                <a:latin typeface="Segoe UI"/>
              </a:defRPr>
            </a:pPr>
            <a:r>
              <a:t>Atomic CAS teardown, half-open detection, and clean resource management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1691640"/>
            <a:ext cx="5120640" cy="4663440"/>
          </a:xfrm>
          <a:prstGeom prst="roundRect">
            <a:avLst/>
          </a:prstGeom>
          <a:solidFill>
            <a:srgbClr val="141418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Atomic Reconnect (CAS Protection)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The Reconnect Race: </a:t>
            </a:r>
            <a:r>
              <a:rPr b="0" sz="1100">
                <a:solidFill>
                  <a:srgbClr val="E4E4E7"/>
                </a:solidFill>
              </a:rPr>
              <a:t>A dying socket's cleanup thread racing a new incoming connection previously evicted the active client.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CAS Atomic Removal: </a:t>
            </a:r>
            <a:r>
              <a:rPr b="0" sz="1100">
                <a:solidFill>
                  <a:srgbClr val="E4E4E7"/>
                </a:solidFill>
              </a:rPr>
              <a:t>ClientRegistry.remove(clientId, expectedSession) removes only if the mapped value matches this exact dying socket instance.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Duplicate ID Rejection: </a:t>
            </a:r>
            <a:r>
              <a:rPr b="0" sz="1100">
                <a:solidFill>
                  <a:srgbClr val="E4E4E7"/>
                </a:solidFill>
              </a:rPr>
              <a:t>Two clients claiming the same ID are cleanly rejected.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Graceful Teardown: </a:t>
            </a:r>
            <a:r>
              <a:rPr b="0" sz="1100">
                <a:solidFill>
                  <a:srgbClr val="E4E4E7"/>
                </a:solidFill>
              </a:rPr>
              <a:t>Clients send DISCONNECT on exit; server cleans registry and closes worker threads cleanly.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691640"/>
            <a:ext cx="5212080" cy="4663440"/>
          </a:xfrm>
          <a:prstGeom prst="roundRect">
            <a:avLst/>
          </a:prstGeom>
          <a:solidFill>
            <a:srgbClr val="141418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Heartbeats &amp; Deadlock Prevention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Deadlock Detection: </a:t>
            </a:r>
            <a:r>
              <a:rPr b="0" sz="1100">
                <a:solidFill>
                  <a:srgbClr val="E4E4E7"/>
                </a:solidFill>
              </a:rPr>
              <a:t>SO_TIMEOUT of 90s prevents orphaned sockets from holding handler threads indefinitely.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Heartbeat PING/PONG: </a:t>
            </a:r>
            <a:r>
              <a:rPr b="0" sz="1100">
                <a:solidFill>
                  <a:srgbClr val="E4E4E7"/>
                </a:solidFill>
              </a:rPr>
              <a:t>Server issues PING every 30s; closes connection after 2 consecutive missed PONGs.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Shutdown Hook: </a:t>
            </a:r>
            <a:r>
              <a:rPr b="0" sz="1100">
                <a:solidFill>
                  <a:srgbClr val="E4E4E7"/>
                </a:solidFill>
              </a:rPr>
              <a:t>Relay shutdown hook sends DISCONNECT to all peers and drains thread pool before JVM exit.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Leak-Free Proof: </a:t>
            </a:r>
            <a:r>
              <a:rPr b="0" sz="1100">
                <a:solidFill>
                  <a:srgbClr val="E4E4E7"/>
                </a:solidFill>
              </a:rPr>
              <a:t>1,000 rapid connect/disconnect cycles leave thread count at baseline (ChatServerLifecycleTest).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"/>
            <a:ext cx="21031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Segoe UI"/>
              </a:defRPr>
            </a:pPr>
            <a:r>
              <a:t>TETHERLESS E2EE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2743200" y="64008"/>
            <a:ext cx="1371600" cy="274320"/>
          </a:xfrm>
          <a:prstGeom prst="roundRect">
            <a:avLst/>
          </a:prstGeom>
          <a:solidFill>
            <a:srgbClr val="121215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0">
                <a:solidFill>
                  <a:srgbClr val="A1A1AA"/>
                </a:solidFill>
                <a:latin typeface="Segoe UI"/>
              </a:defRPr>
            </a:pPr>
            <a:r>
              <a:t>Architecture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4187952" y="64008"/>
            <a:ext cx="1371600" cy="274320"/>
          </a:xfrm>
          <a:prstGeom prst="roundRect">
            <a:avLst/>
          </a:prstGeom>
          <a:solidFill>
            <a:srgbClr val="121215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0">
                <a:solidFill>
                  <a:srgbClr val="A1A1AA"/>
                </a:solidFill>
                <a:latin typeface="Segoe UI"/>
              </a:defRPr>
            </a:pPr>
            <a:r>
              <a:t>Cryptography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5632704" y="64008"/>
            <a:ext cx="1371600" cy="274320"/>
          </a:xfrm>
          <a:prstGeom prst="roundRect">
            <a:avLst/>
          </a:prstGeom>
          <a:solidFill>
            <a:srgbClr val="121215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0">
                <a:solidFill>
                  <a:srgbClr val="A1A1AA"/>
                </a:solidFill>
                <a:latin typeface="Segoe UI"/>
              </a:defRPr>
            </a:pPr>
            <a:r>
              <a:t>Threat Model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7077456" y="64008"/>
            <a:ext cx="1371600" cy="274320"/>
          </a:xfrm>
          <a:prstGeom prst="roundRect">
            <a:avLst/>
          </a:prstGeom>
          <a:solidFill>
            <a:srgbClr val="22222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Relay System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8522208" y="64008"/>
            <a:ext cx="1371600" cy="274320"/>
          </a:xfrm>
          <a:prstGeom prst="roundRect">
            <a:avLst/>
          </a:prstGeom>
          <a:solidFill>
            <a:srgbClr val="121215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0">
                <a:solidFill>
                  <a:srgbClr val="A1A1AA"/>
                </a:solidFill>
                <a:latin typeface="Segoe UI"/>
              </a:defRPr>
            </a:pPr>
            <a:r>
              <a:t>Clients &amp; MVP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10149840" y="64008"/>
            <a:ext cx="347472" cy="274320"/>
          </a:xfrm>
          <a:prstGeom prst="roundRect">
            <a:avLst/>
          </a:prstGeom>
          <a:solidFill>
            <a:srgbClr val="222228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>
                <a:solidFill>
                  <a:srgbClr val="FFFFFF"/>
                </a:solidFill>
                <a:latin typeface="Segoe UI"/>
              </a:defRPr>
            </a:pPr>
            <a:r>
              <a:t>←</a:t>
            </a:r>
          </a:p>
        </p:txBody>
      </p:sp>
      <p:sp>
        <p:nvSpPr>
          <p:cNvPr id="11" name="Rounded Rectangle 10">
            <a:hlinkClick action="ppaction://hlinksldjump" r:id="rId6"/>
          </p:cNvPr>
          <p:cNvSpPr/>
          <p:nvPr/>
        </p:nvSpPr>
        <p:spPr>
          <a:xfrm>
            <a:off x="10561320" y="64008"/>
            <a:ext cx="347472" cy="274320"/>
          </a:xfrm>
          <a:prstGeom prst="roundRect">
            <a:avLst/>
          </a:prstGeom>
          <a:solidFill>
            <a:srgbClr val="222228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>
                <a:solidFill>
                  <a:srgbClr val="FFFFFF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20" y="64008"/>
            <a:ext cx="10058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E4E4E7"/>
                </a:solidFill>
                <a:latin typeface="Consolas"/>
              </a:defRPr>
            </a:pPr>
            <a:r>
              <a:t>12 /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035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A1A1AA"/>
                </a:solidFill>
                <a:latin typeface="Segoe UI"/>
              </a:defRPr>
            </a:pPr>
            <a:r>
              <a:t>OPERATIONAL HARDENING &amp; GATING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786384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Segoe UI"/>
              </a:defRPr>
            </a:pPr>
            <a:r>
              <a:t>Operational Hardening &amp; Release Gating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29844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A1A1AA"/>
                </a:solidFill>
                <a:latin typeface="Segoe UI"/>
              </a:defRPr>
            </a:pPr>
            <a:r>
              <a:t>Eliminating default development keys and securing host environments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1691640"/>
            <a:ext cx="5120640" cy="4663440"/>
          </a:xfrm>
          <a:prstGeom prst="roundRect">
            <a:avLst/>
          </a:prstGeom>
          <a:solidFill>
            <a:srgbClr val="141418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Release Gate Enforcement (-PreleaseBuild)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The Dev Certificate Trap: </a:t>
            </a:r>
            <a:r>
              <a:rPr b="0" sz="1100">
                <a:solidFill>
                  <a:srgbClr val="E4E4E7"/>
                </a:solidFill>
              </a:rPr>
              <a:t>In dev, relay uses a known self-signed cert from repo scripts. Shipping with this would allow trivial MitM by anyone.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Refusal to Fall Back: </a:t>
            </a:r>
            <a:r>
              <a:rPr b="0" sz="1100">
                <a:solidFill>
                  <a:srgbClr val="E4E4E7"/>
                </a:solidFill>
              </a:rPr>
              <a:t>Packaged relay strictly refuses to start unless a custom keystore is configured; development keystore is stripped from JAR and Docker image.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Secret Management: </a:t>
            </a:r>
            <a:r>
              <a:rPr b="0" sz="1100">
                <a:solidFill>
                  <a:srgbClr val="E4E4E7"/>
                </a:solidFill>
              </a:rPr>
              <a:t>Prefers KEYSTORE_PASSWORD_FILE over environment variables to prevent leaking credentials in process lists or docker inspect.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691640"/>
            <a:ext cx="5212080" cy="4663440"/>
          </a:xfrm>
          <a:prstGeom prst="roundRect">
            <a:avLst/>
          </a:prstGeom>
          <a:solidFill>
            <a:srgbClr val="141418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Container &amp; Host Sandboxing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Docker Compose Hardening: </a:t>
            </a:r>
            <a:r>
              <a:rPr b="0" sz="1100">
                <a:solidFill>
                  <a:srgbClr val="E4E4E7"/>
                </a:solidFill>
              </a:rPr>
              <a:t>Runs unprivileged as non-root user (tetherless:tetherless), read-only root filesystem, drop ALL Linux capabilities.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Loopback Metrics: </a:t>
            </a:r>
            <a:r>
              <a:rPr b="0" sz="1100">
                <a:solidFill>
                  <a:srgbClr val="E4E4E7"/>
                </a:solidFill>
              </a:rPr>
              <a:t>Prometheus metrics on PORT + 1 bound strictly to 127.0.0.1; unauthenticated telemetry is never reachable from WAN.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systemd Unit Hardening: </a:t>
            </a:r>
            <a:r>
              <a:rPr b="0" sz="1100">
                <a:solidFill>
                  <a:srgbClr val="E4E4E7"/>
                </a:solidFill>
              </a:rPr>
              <a:t>Configured with ProtectSystem=strict, PrivateTmp=true, ProtectHome=true, and system call filtering.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"/>
            <a:ext cx="21031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Segoe UI"/>
              </a:defRPr>
            </a:pPr>
            <a:r>
              <a:t>TETHERLESS E2EE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2743200" y="64008"/>
            <a:ext cx="1371600" cy="274320"/>
          </a:xfrm>
          <a:prstGeom prst="roundRect">
            <a:avLst/>
          </a:prstGeom>
          <a:solidFill>
            <a:srgbClr val="121215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0">
                <a:solidFill>
                  <a:srgbClr val="A1A1AA"/>
                </a:solidFill>
                <a:latin typeface="Segoe UI"/>
              </a:defRPr>
            </a:pPr>
            <a:r>
              <a:t>Architecture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4187952" y="64008"/>
            <a:ext cx="1371600" cy="274320"/>
          </a:xfrm>
          <a:prstGeom prst="roundRect">
            <a:avLst/>
          </a:prstGeom>
          <a:solidFill>
            <a:srgbClr val="121215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0">
                <a:solidFill>
                  <a:srgbClr val="A1A1AA"/>
                </a:solidFill>
                <a:latin typeface="Segoe UI"/>
              </a:defRPr>
            </a:pPr>
            <a:r>
              <a:t>Cryptography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5632704" y="64008"/>
            <a:ext cx="1371600" cy="274320"/>
          </a:xfrm>
          <a:prstGeom prst="roundRect">
            <a:avLst/>
          </a:prstGeom>
          <a:solidFill>
            <a:srgbClr val="121215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0">
                <a:solidFill>
                  <a:srgbClr val="A1A1AA"/>
                </a:solidFill>
                <a:latin typeface="Segoe UI"/>
              </a:defRPr>
            </a:pPr>
            <a:r>
              <a:t>Threat Model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7077456" y="64008"/>
            <a:ext cx="1371600" cy="274320"/>
          </a:xfrm>
          <a:prstGeom prst="roundRect">
            <a:avLst/>
          </a:prstGeom>
          <a:solidFill>
            <a:srgbClr val="121215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0">
                <a:solidFill>
                  <a:srgbClr val="A1A1AA"/>
                </a:solidFill>
                <a:latin typeface="Segoe UI"/>
              </a:defRPr>
            </a:pPr>
            <a:r>
              <a:t>Relay System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8522208" y="64008"/>
            <a:ext cx="1371600" cy="274320"/>
          </a:xfrm>
          <a:prstGeom prst="roundRect">
            <a:avLst/>
          </a:prstGeom>
          <a:solidFill>
            <a:srgbClr val="22222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Clients &amp; MVP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10149840" y="64008"/>
            <a:ext cx="347472" cy="274320"/>
          </a:xfrm>
          <a:prstGeom prst="roundRect">
            <a:avLst/>
          </a:prstGeom>
          <a:solidFill>
            <a:srgbClr val="222228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>
                <a:solidFill>
                  <a:srgbClr val="FFFFFF"/>
                </a:solidFill>
                <a:latin typeface="Segoe UI"/>
              </a:defRPr>
            </a:pPr>
            <a:r>
              <a:t>←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10561320" y="64008"/>
            <a:ext cx="347472" cy="274320"/>
          </a:xfrm>
          <a:prstGeom prst="roundRect">
            <a:avLst/>
          </a:prstGeom>
          <a:solidFill>
            <a:srgbClr val="222228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>
                <a:solidFill>
                  <a:srgbClr val="FFFFFF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20" y="64008"/>
            <a:ext cx="10058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E4E4E7"/>
                </a:solidFill>
                <a:latin typeface="Consolas"/>
              </a:defRPr>
            </a:pPr>
            <a:r>
              <a:t>13 /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035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A1A1AA"/>
                </a:solidFill>
                <a:latin typeface="Segoe UI"/>
              </a:defRPr>
            </a:pPr>
            <a:r>
              <a:t>CLIENT PERSISTENCE &amp; PACKAGING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786384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Segoe UI"/>
              </a:defRPr>
            </a:pPr>
            <a:r>
              <a:t>Client Implementations: Desktop &amp; Mobile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29844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A1A1AA"/>
                </a:solidFill>
                <a:latin typeface="Segoe UI"/>
              </a:defRPr>
            </a:pPr>
            <a:r>
              <a:t>Swing UI, SQLite WAL, Room, SQLCipher, and background services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1691640"/>
            <a:ext cx="5120640" cy="4663440"/>
          </a:xfrm>
          <a:prstGeom prst="roundRect">
            <a:avLst/>
          </a:prstGeom>
          <a:solidFill>
            <a:srgbClr val="141418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Desktop Client (chat-desktop)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EDT Decoupling: </a:t>
            </a:r>
            <a:r>
              <a:rPr b="0" sz="1100">
                <a:solidFill>
                  <a:srgbClr val="E4E4E7"/>
                </a:solidFill>
              </a:rPr>
              <a:t>All network I/O and cryptographic operations execute off Event Dispatch Thread. UI updates marshaled via invokeLater.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SQLite in WAL Mode: </a:t>
            </a:r>
            <a:r>
              <a:rPr b="0" sz="1100">
                <a:solidFill>
                  <a:srgbClr val="E4E4E7"/>
                </a:solidFill>
              </a:rPr>
              <a:t>Configured with PRAGMA journal_mode=WAL and busy_timeout=5000; single-writer connection preventing database lock contention.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In-Process Keygen: </a:t>
            </a:r>
            <a:r>
              <a:rPr b="0" sz="1100">
                <a:solidFill>
                  <a:srgbClr val="E4E4E7"/>
                </a:solidFill>
              </a:rPr>
              <a:t>Identity keys generated strictly in-process; eliminated legacy flaw that shelled out to keytool exposing passphrases in CLI args.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Self-Contained Packaging: </a:t>
            </a:r>
            <a:r>
              <a:rPr b="0" sz="1100">
                <a:solidFill>
                  <a:srgbClr val="E4E4E7"/>
                </a:solidFill>
              </a:rPr>
              <a:t>Packaged via jpackage into a standalone .msi on Windows, embedding a stripped custom JRE runtime (users need no JDK).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691640"/>
            <a:ext cx="5212080" cy="4663440"/>
          </a:xfrm>
          <a:prstGeom prst="roundRect">
            <a:avLst/>
          </a:prstGeom>
          <a:solidFill>
            <a:srgbClr val="141418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Mobile Client (chat-mobile)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Jetpack Architecture: </a:t>
            </a:r>
            <a:r>
              <a:rPr b="0" sz="1100">
                <a:solidFill>
                  <a:srgbClr val="E4E4E7"/>
                </a:solidFill>
              </a:rPr>
              <a:t>Built on Room ORM, ViewModel, LiveData reactive streams, and ListAdapter with DiffUtil.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SQLCipher Full-File Encryption: </a:t>
            </a:r>
            <a:r>
              <a:rPr b="0" sz="1100">
                <a:solidFill>
                  <a:srgbClr val="E4E4E7"/>
                </a:solidFill>
              </a:rPr>
              <a:t>Unlike desktop column encryption, Android encrypts entire SQLite database file including tables, participants, and timestamps.</a:t>
            </a:r>
            <a:r>
              <a:rPr b="1" sz="1000">
                <a:solidFill>
                  <a:srgbClr val="FFFFFF"/>
                </a:solidFill>
                <a:hlinkClick r:id="rId9"/>
              </a:rPr>
              <a:t> [SQLCipher Design Spec]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Persistent ChatService: </a:t>
            </a:r>
            <a:r>
              <a:rPr b="0" sz="1100">
                <a:solidFill>
                  <a:srgbClr val="E4E4E7"/>
                </a:solidFill>
              </a:rPr>
              <a:t>Configured as an Android Foreground Service with continuous notification; survives backgrounding, Doze mode, and memory trim.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Update Checker (CLIENT-DESKTOP-08): </a:t>
            </a:r>
            <a:r>
              <a:rPr b="0" sz="1100">
                <a:solidFill>
                  <a:srgbClr val="E4E4E7"/>
                </a:solidFill>
              </a:rPr>
              <a:t>Async GitHub release polling with non-intrusive UI banner; no dangerous auto-execution of unsigned binaries.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"/>
            <a:ext cx="21031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Segoe UI"/>
              </a:defRPr>
            </a:pPr>
            <a:r>
              <a:t>TETHERLESS E2EE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2743200" y="64008"/>
            <a:ext cx="1371600" cy="274320"/>
          </a:xfrm>
          <a:prstGeom prst="roundRect">
            <a:avLst/>
          </a:prstGeom>
          <a:solidFill>
            <a:srgbClr val="121215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0">
                <a:solidFill>
                  <a:srgbClr val="A1A1AA"/>
                </a:solidFill>
                <a:latin typeface="Segoe UI"/>
              </a:defRPr>
            </a:pPr>
            <a:r>
              <a:t>Architecture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4187952" y="64008"/>
            <a:ext cx="1371600" cy="274320"/>
          </a:xfrm>
          <a:prstGeom prst="roundRect">
            <a:avLst/>
          </a:prstGeom>
          <a:solidFill>
            <a:srgbClr val="121215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0">
                <a:solidFill>
                  <a:srgbClr val="A1A1AA"/>
                </a:solidFill>
                <a:latin typeface="Segoe UI"/>
              </a:defRPr>
            </a:pPr>
            <a:r>
              <a:t>Cryptography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5632704" y="64008"/>
            <a:ext cx="1371600" cy="274320"/>
          </a:xfrm>
          <a:prstGeom prst="roundRect">
            <a:avLst/>
          </a:prstGeom>
          <a:solidFill>
            <a:srgbClr val="121215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0">
                <a:solidFill>
                  <a:srgbClr val="A1A1AA"/>
                </a:solidFill>
                <a:latin typeface="Segoe UI"/>
              </a:defRPr>
            </a:pPr>
            <a:r>
              <a:t>Threat Model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7077456" y="64008"/>
            <a:ext cx="1371600" cy="274320"/>
          </a:xfrm>
          <a:prstGeom prst="roundRect">
            <a:avLst/>
          </a:prstGeom>
          <a:solidFill>
            <a:srgbClr val="121215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0">
                <a:solidFill>
                  <a:srgbClr val="A1A1AA"/>
                </a:solidFill>
                <a:latin typeface="Segoe UI"/>
              </a:defRPr>
            </a:pPr>
            <a:r>
              <a:t>Relay System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8522208" y="64008"/>
            <a:ext cx="1371600" cy="274320"/>
          </a:xfrm>
          <a:prstGeom prst="roundRect">
            <a:avLst/>
          </a:prstGeom>
          <a:solidFill>
            <a:srgbClr val="22222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Clients &amp; MVP</a:t>
            </a:r>
          </a:p>
        </p:txBody>
      </p:sp>
      <p:sp>
        <p:nvSpPr>
          <p:cNvPr id="10" name="Rounded Rectangle 9">
            <a:hlinkClick action="ppaction://hlinksldjump" r:id="rId6"/>
          </p:cNvPr>
          <p:cNvSpPr/>
          <p:nvPr/>
        </p:nvSpPr>
        <p:spPr>
          <a:xfrm>
            <a:off x="10149840" y="64008"/>
            <a:ext cx="347472" cy="274320"/>
          </a:xfrm>
          <a:prstGeom prst="roundRect">
            <a:avLst/>
          </a:prstGeom>
          <a:solidFill>
            <a:srgbClr val="222228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>
                <a:solidFill>
                  <a:srgbClr val="FFFFFF"/>
                </a:solidFill>
                <a:latin typeface="Segoe UI"/>
              </a:defRPr>
            </a:pPr>
            <a:r>
              <a:t>←</a:t>
            </a:r>
          </a:p>
        </p:txBody>
      </p:sp>
      <p:sp>
        <p:nvSpPr>
          <p:cNvPr id="11" name="Rounded Rectangle 10">
            <a:hlinkClick action="ppaction://hlinksldjump" r:id="rId7"/>
          </p:cNvPr>
          <p:cNvSpPr/>
          <p:nvPr/>
        </p:nvSpPr>
        <p:spPr>
          <a:xfrm>
            <a:off x="10561320" y="64008"/>
            <a:ext cx="347472" cy="274320"/>
          </a:xfrm>
          <a:prstGeom prst="roundRect">
            <a:avLst/>
          </a:prstGeom>
          <a:solidFill>
            <a:srgbClr val="222228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>
                <a:solidFill>
                  <a:srgbClr val="FFFFFF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20" y="64008"/>
            <a:ext cx="10058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E4E4E7"/>
                </a:solidFill>
                <a:latin typeface="Consolas"/>
              </a:defRPr>
            </a:pPr>
            <a:r>
              <a:t>14 /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035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A1A1AA"/>
                </a:solidFill>
                <a:latin typeface="Segoe UI"/>
              </a:defRPr>
            </a:pPr>
            <a:r>
              <a:t>ADVERSARIAL VERIFICATION SUITE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786384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Segoe UI"/>
              </a:defRPr>
            </a:pPr>
            <a:r>
              <a:t>Adversarial Testing &amp; Verification Suite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29844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A1A1AA"/>
                </a:solidFill>
                <a:latin typeface="Segoe UI"/>
              </a:defRPr>
            </a:pPr>
            <a:r>
              <a:t>Proving security properties through deliberate mutation and attack injection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1691640"/>
            <a:ext cx="5120640" cy="4663440"/>
          </a:xfrm>
          <a:prstGeom prst="roundRect">
            <a:avLst/>
          </a:prstGeom>
          <a:solidFill>
            <a:srgbClr val="141418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AdversarialRelayTest (13 Attack Scenarios)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Key Substitution MITM: </a:t>
            </a:r>
            <a:r>
              <a:rPr b="0" sz="1100">
                <a:solidFill>
                  <a:srgbClr val="E4E4E7"/>
                </a:solidFill>
              </a:rPr>
              <a:t>Relay attempts to substitute DH public keys during handshake; clients abort handshake immediately.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Identity Forgery: </a:t>
            </a:r>
            <a:r>
              <a:rPr b="0" sz="1100">
                <a:solidFill>
                  <a:srgbClr val="E4E4E7"/>
                </a:solidFill>
              </a:rPr>
              <a:t>Relay substitutes public key inside HELLO frame; rejected because Peer ID does not match public key hash.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Ciphertext Bit-Flipping: </a:t>
            </a:r>
            <a:r>
              <a:rPr b="0" sz="1100">
                <a:solidFill>
                  <a:srgbClr val="E4E4E7"/>
                </a:solidFill>
              </a:rPr>
              <a:t>Single bit flipped in ciphertext payload; GCM authentication tag verification fails, message dropped with warning.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Replay Attack: </a:t>
            </a:r>
            <a:r>
              <a:rPr b="0" sz="1100">
                <a:solidFill>
                  <a:srgbClr val="E4E4E7"/>
                </a:solidFill>
              </a:rPr>
              <a:t>Relay re-transmits valid captured frame; client detects duplicate counter within sliding window and drops frame.</a:t>
            </a:r>
            <a:r>
              <a:rPr b="1" sz="1000">
                <a:solidFill>
                  <a:srgbClr val="FFFFFF"/>
                </a:solidFill>
                <a:hlinkClick r:id="rId8"/>
              </a:rPr>
              <a:t> [Perrig et al., TESLA 2002]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691640"/>
            <a:ext cx="5212080" cy="4663440"/>
          </a:xfrm>
          <a:prstGeom prst="roundRect">
            <a:avLst/>
          </a:prstGeom>
          <a:solidFill>
            <a:srgbClr val="141418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End-to-End &amp; Golden Conformance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EndToEndExchangeTest: </a:t>
            </a:r>
            <a:r>
              <a:rPr b="0" sz="1100">
                <a:solidFill>
                  <a:srgbClr val="E4E4E7"/>
                </a:solidFill>
              </a:rPr>
              <a:t>Transmits 200 real messages through live relay with external wire tap; mathematically asserts zero plaintext substrings in transit.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Cross-Platform Vectors: </a:t>
            </a:r>
            <a:r>
              <a:rPr b="0" sz="1100">
                <a:solidFill>
                  <a:srgbClr val="E4E4E7"/>
                </a:solidFill>
              </a:rPr>
              <a:t>17 frozen wire-format vectors (ProtocolVectors) tested across JVM and Android emulator, preventing cross-platform codec drift.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Zero-Warning Static Analysis: </a:t>
            </a:r>
            <a:r>
              <a:rPr b="0" sz="1100">
                <a:solidFill>
                  <a:srgbClr val="E4E4E7"/>
                </a:solidFill>
              </a:rPr>
              <a:t>SpotBugs with find-sec-bugs plugin runs on all modules with ZERO unresolved high-severity vulnerabilities.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"/>
            <a:ext cx="21031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Segoe UI"/>
              </a:defRPr>
            </a:pPr>
            <a:r>
              <a:t>TETHERLESS E2EE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2743200" y="64008"/>
            <a:ext cx="1371600" cy="274320"/>
          </a:xfrm>
          <a:prstGeom prst="roundRect">
            <a:avLst/>
          </a:prstGeom>
          <a:solidFill>
            <a:srgbClr val="121215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0">
                <a:solidFill>
                  <a:srgbClr val="A1A1AA"/>
                </a:solidFill>
                <a:latin typeface="Segoe UI"/>
              </a:defRPr>
            </a:pPr>
            <a:r>
              <a:t>Architecture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4187952" y="64008"/>
            <a:ext cx="1371600" cy="274320"/>
          </a:xfrm>
          <a:prstGeom prst="roundRect">
            <a:avLst/>
          </a:prstGeom>
          <a:solidFill>
            <a:srgbClr val="121215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0">
                <a:solidFill>
                  <a:srgbClr val="A1A1AA"/>
                </a:solidFill>
                <a:latin typeface="Segoe UI"/>
              </a:defRPr>
            </a:pPr>
            <a:r>
              <a:t>Cryptography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5632704" y="64008"/>
            <a:ext cx="1371600" cy="274320"/>
          </a:xfrm>
          <a:prstGeom prst="roundRect">
            <a:avLst/>
          </a:prstGeom>
          <a:solidFill>
            <a:srgbClr val="121215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0">
                <a:solidFill>
                  <a:srgbClr val="A1A1AA"/>
                </a:solidFill>
                <a:latin typeface="Segoe UI"/>
              </a:defRPr>
            </a:pPr>
            <a:r>
              <a:t>Threat Model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7077456" y="64008"/>
            <a:ext cx="1371600" cy="274320"/>
          </a:xfrm>
          <a:prstGeom prst="roundRect">
            <a:avLst/>
          </a:prstGeom>
          <a:solidFill>
            <a:srgbClr val="121215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0">
                <a:solidFill>
                  <a:srgbClr val="A1A1AA"/>
                </a:solidFill>
                <a:latin typeface="Segoe UI"/>
              </a:defRPr>
            </a:pPr>
            <a:r>
              <a:t>Relay System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8522208" y="64008"/>
            <a:ext cx="1371600" cy="274320"/>
          </a:xfrm>
          <a:prstGeom prst="roundRect">
            <a:avLst/>
          </a:prstGeom>
          <a:solidFill>
            <a:srgbClr val="22222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Clients &amp; MVP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10149840" y="64008"/>
            <a:ext cx="347472" cy="274320"/>
          </a:xfrm>
          <a:prstGeom prst="roundRect">
            <a:avLst/>
          </a:prstGeom>
          <a:solidFill>
            <a:srgbClr val="222228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>
                <a:solidFill>
                  <a:srgbClr val="FFFFFF"/>
                </a:solidFill>
                <a:latin typeface="Segoe UI"/>
              </a:defRPr>
            </a:pPr>
            <a:r>
              <a:t>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61320" y="64008"/>
            <a:ext cx="347472" cy="274320"/>
          </a:xfrm>
          <a:prstGeom prst="roundRect">
            <a:avLst/>
          </a:prstGeom>
          <a:solidFill>
            <a:srgbClr val="222228"/>
          </a:solidFill>
          <a:ln w="635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>
                <a:solidFill>
                  <a:srgbClr val="71717A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20" y="64008"/>
            <a:ext cx="10058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E4E4E7"/>
                </a:solidFill>
                <a:latin typeface="Consolas"/>
              </a:defRPr>
            </a:pPr>
            <a:r>
              <a:t>15 /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035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A1A1AA"/>
                </a:solidFill>
                <a:latin typeface="Segoe UI"/>
              </a:defRPr>
            </a:pPr>
            <a:r>
              <a:t>PRODUCTION ROADMAP &amp; REFERENCES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786384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Segoe UI"/>
              </a:defRPr>
            </a:pPr>
            <a:r>
              <a:t>MVP Delivery Roadmap &amp; Academic Citations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29844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A1A1AA"/>
                </a:solidFill>
                <a:latin typeface="Segoe UI"/>
              </a:defRPr>
            </a:pPr>
            <a:r>
              <a:t>Prioritized ticket backlog for production deployment and foundational literature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1691640"/>
            <a:ext cx="5120640" cy="4663440"/>
          </a:xfrm>
          <a:prstGeom prst="roundRect">
            <a:avLst/>
          </a:prstGeom>
          <a:solidFill>
            <a:srgbClr val="141418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Prioritized MVP Ticket Backlog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1. CLIENT-DESKTOP-07 (Active): </a:t>
            </a:r>
            <a:r>
              <a:rPr b="0" sz="1100">
                <a:solidFill>
                  <a:srgbClr val="E4E4E7"/>
                </a:solidFill>
              </a:rPr>
              <a:t>Desktop test coverage: unit tests for MessageRepository and ConnectionManager.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2. INTEG-01 (High Priority): </a:t>
            </a:r>
            <a:r>
              <a:rPr b="0" sz="1100">
                <a:solidFill>
                  <a:srgbClr val="E4E4E7"/>
                </a:solidFill>
              </a:rPr>
              <a:t>End-to-end headless integration harness: automated multi-client exchange over live relay.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3. BUILD-04 (High Priority): </a:t>
            </a:r>
            <a:r>
              <a:rPr b="0" sz="1100">
                <a:solidFill>
                  <a:srgbClr val="E4E4E7"/>
                </a:solidFill>
              </a:rPr>
              <a:t>Continuous integration: GitHub Actions pipeline running clean build and SpotBugs.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4. REL-01 (High Priority): </a:t>
            </a:r>
            <a:r>
              <a:rPr b="0" sz="1100">
                <a:solidFill>
                  <a:srgbClr val="E4E4E7"/>
                </a:solidFill>
              </a:rPr>
              <a:t>Security review pass: formalize threat model, audit logs for zero secret leaks.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5. CLIENT-DESKTOP-08 (MVP Feature): </a:t>
            </a:r>
            <a:r>
              <a:rPr b="0" sz="1100">
                <a:solidFill>
                  <a:srgbClr val="E4E4E7"/>
                </a:solidFill>
              </a:rPr>
              <a:t>In-app update notifications: async GitHub release polling with non-intrusive banner.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6. REL-03 &amp; INTEG-04 (Release Prep): </a:t>
            </a:r>
            <a:r>
              <a:rPr b="0" sz="1100">
                <a:solidFill>
                  <a:srgbClr val="E4E4E7"/>
                </a:solidFill>
              </a:rPr>
              <a:t>Manual QA matrix execution on Windows and documentation overhaul.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691640"/>
            <a:ext cx="5212080" cy="4663440"/>
          </a:xfrm>
          <a:prstGeom prst="roundRect">
            <a:avLst/>
          </a:prstGeom>
          <a:solidFill>
            <a:srgbClr val="141418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Core Academic Bibliography &amp; Standards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Diffie &amp; Hellman (1976): </a:t>
            </a:r>
            <a:r>
              <a:rPr b="0" sz="1100">
                <a:solidFill>
                  <a:srgbClr val="E4E4E7"/>
                </a:solidFill>
              </a:rPr>
              <a:t>New Directions in Cryptography. IEEE Transactions on Information Theory.</a:t>
            </a:r>
            <a:r>
              <a:rPr b="1" sz="1000">
                <a:solidFill>
                  <a:srgbClr val="FFFFFF"/>
                </a:solidFill>
                <a:hlinkClick r:id="rId8"/>
              </a:rPr>
              <a:t> [IEEE]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McGrew &amp; Viega (2004): </a:t>
            </a:r>
            <a:r>
              <a:rPr b="0" sz="1100">
                <a:solidFill>
                  <a:srgbClr val="E4E4E7"/>
                </a:solidFill>
              </a:rPr>
              <a:t>Security of Galois/Counter Mode (GCM). INDOCRYPT / NIST SP 800-38D.</a:t>
            </a:r>
            <a:r>
              <a:rPr b="1" sz="1000">
                <a:solidFill>
                  <a:srgbClr val="FFFFFF"/>
                </a:solidFill>
                <a:hlinkClick r:id="rId9"/>
              </a:rPr>
              <a:t> [Springer]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Krawczyk (2010): </a:t>
            </a:r>
            <a:r>
              <a:rPr b="0" sz="1100">
                <a:solidFill>
                  <a:srgbClr val="E4E4E7"/>
                </a:solidFill>
              </a:rPr>
              <a:t>Cryptographic Extraction &amp; HKDF. CRYPTO 2010 / RFC 5869.</a:t>
            </a:r>
            <a:r>
              <a:rPr b="1" sz="1000">
                <a:solidFill>
                  <a:srgbClr val="FFFFFF"/>
                </a:solidFill>
                <a:hlinkClick r:id="rId10"/>
              </a:rPr>
              <a:t> [IACR]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Unger et al. (2015): </a:t>
            </a:r>
            <a:r>
              <a:rPr b="0" sz="1100">
                <a:solidFill>
                  <a:srgbClr val="E4E4E7"/>
                </a:solidFill>
              </a:rPr>
              <a:t>SoK: Secure Messaging. IEEE Symposium on Security and Privacy (S&amp;P).</a:t>
            </a:r>
            <a:r>
              <a:rPr b="1" sz="1000">
                <a:solidFill>
                  <a:srgbClr val="FFFFFF"/>
                </a:solidFill>
                <a:hlinkClick r:id="rId11"/>
              </a:rPr>
              <a:t> [IEEE S&amp;P]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Cohn-Gordon et al. (2017): </a:t>
            </a:r>
            <a:r>
              <a:rPr b="0" sz="1100">
                <a:solidFill>
                  <a:srgbClr val="E4E4E7"/>
                </a:solidFill>
              </a:rPr>
              <a:t>Formal Analysis of Signal Protocol. IEEE EuroS&amp;P.</a:t>
            </a:r>
            <a:r>
              <a:rPr b="1" sz="1000">
                <a:solidFill>
                  <a:srgbClr val="FFFFFF"/>
                </a:solidFill>
                <a:hlinkClick r:id="rId12"/>
              </a:rPr>
              <a:t> [IACR]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Vaudenay (2005): </a:t>
            </a:r>
            <a:r>
              <a:rPr b="0" sz="1100">
                <a:solidFill>
                  <a:srgbClr val="E4E4E7"/>
                </a:solidFill>
              </a:rPr>
              <a:t>Secure Communications Based on SAS. CRYPTO 2005.</a:t>
            </a:r>
            <a:r>
              <a:rPr b="1" sz="1000">
                <a:solidFill>
                  <a:srgbClr val="FFFFFF"/>
                </a:solidFill>
                <a:hlinkClick r:id="rId13"/>
              </a:rPr>
              <a:t> [IACR]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Frohoff &amp; Lawrence (2015): </a:t>
            </a:r>
            <a:r>
              <a:rPr b="0" sz="1100">
                <a:solidFill>
                  <a:srgbClr val="E4E4E7"/>
                </a:solidFill>
              </a:rPr>
              <a:t>Deserializing Objects Exploit. AppSecCali 2015.</a:t>
            </a:r>
            <a:r>
              <a:rPr b="1" sz="1000">
                <a:solidFill>
                  <a:srgbClr val="FFFFFF"/>
                </a:solidFill>
                <a:hlinkClick r:id="rId14"/>
              </a:rPr>
              <a:t> [AppSecCali]</a:t>
            </a:r>
          </a:p>
          <a:p>
            <a:pPr>
              <a:spcAft>
                <a:spcPts val="5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FFFFFF"/>
                </a:solidFill>
              </a:rPr>
              <a:t>IETF Standards: </a:t>
            </a:r>
            <a:r>
              <a:rPr b="0" sz="1100">
                <a:solidFill>
                  <a:srgbClr val="E4E4E7"/>
                </a:solidFill>
              </a:rPr>
              <a:t>RFC 3526 (DH-14), RFC 5869 (HKDF), RFC 8446 (TLS 1.3), RFC 9420 (MLS).</a:t>
            </a:r>
            <a:r>
              <a:rPr b="1" sz="1000">
                <a:solidFill>
                  <a:srgbClr val="FFFFFF"/>
                </a:solidFill>
                <a:hlinkClick r:id="rId15"/>
              </a:rPr>
              <a:t> [IETF RFCs]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