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central question: can the server deliver a conversation without reading it? Tetherless puts encryption and decryption on the clients, while a relay forwards the ciphertext. The current architecture has a central relay, so describe it as relay-based end-to-end encrypted messaging. The chapters below are clickable. We will follow a message, establish trust, then examine operations and the path to an MVP.</a:t>
            </a:r>
          </a:p>
          <a:p>
            <a:endParaRPr/>
          </a:p>
          <a:p>
            <a:r>
              <a:t>[Sources]</a:t>
            </a:r>
          </a:p>
          <a:p>
            <a:r>
              <a:t>docs/tetherless_presentation.pdf</a:t>
            </a:r>
          </a:p>
          <a:p>
            <a:r>
              <a:t>docs/security.md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arrows from the desktop client to the relay and then to Android. Plaintext and session keys stay at the endpoints. Each client uses core-shared for cryptography, the binary codec and session state. The relay uses shared protocol code but does not receive clients’ E2EE keys. TLS protects each client-to-relay connection; the relay still observes routing metadata. Hand over to Speaker 2 for the cryptographic flow.</a:t>
            </a:r>
          </a:p>
          <a:p>
            <a:endParaRPr/>
          </a:p>
          <a:p>
            <a:r>
              <a:t>[Sources]</a:t>
            </a:r>
          </a:p>
          <a:p>
            <a:r>
              <a:t>docs/tetherless_presentation.pdf</a:t>
            </a:r>
          </a:p>
          <a:p>
            <a:r>
              <a:t>settings.gradle</a:t>
            </a:r>
          </a:p>
          <a:p>
            <a:r>
              <a:t>docs/protocol.md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bind a peer identifier to an RSA public key and validate signed handshake messages. Then perform ephemeral Diffie-Hellman with Group 14 and validate the peer’s public value. Normalize the shared-secret byte length before HKDF-SHA256 derives the AES key. AES-GCM encrypts and authenticates message contents. Pinned TLS is an additional transport layer. This is a conceptual flow, not a complete protocol transcript.</a:t>
            </a:r>
          </a:p>
          <a:p>
            <a:endParaRPr/>
          </a:p>
          <a:p>
            <a:r>
              <a:t>[Sources]</a:t>
            </a:r>
          </a:p>
          <a:p>
            <a:r>
              <a:t>docs/tetherless_presentation.pdf</a:t>
            </a:r>
          </a:p>
          <a:p>
            <a:r>
              <a:t>core-shared/src/main/java/com/e2eechat/core/crypto/DHUtils.java</a:t>
            </a:r>
          </a:p>
          <a:p>
            <a:r>
              <a:t>docs/protocol.md</a:t>
            </a:r>
          </a:p>
          <a:p>
            <a:r>
              <a:t>https://www.rfc-editor.org/rfc/rfc5869</a:t>
            </a:r>
          </a:p>
          <a:p>
            <a:r>
              <a:t>https://www.rfc-editor.org/rfc/rfc3526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nonce from left to right: four bytes for direction and eight for the counter. The sender’s ordering relative to the peer ID determines the direction; it is not assigned by who initiated the handshake. For one shared key, the two directions must be distinct and counters must not repeat. The code caps sends at 100,000 per key and initiates renewal when that budget is exhausted. A replay window rejects duplicates and stale counters. Hand over to Speaker 3 to explain identity.</a:t>
            </a:r>
          </a:p>
          <a:p>
            <a:endParaRPr/>
          </a:p>
          <a:p>
            <a:r>
              <a:t>[Sources]</a:t>
            </a:r>
          </a:p>
          <a:p>
            <a:r>
              <a:t>docs/tetherless_presentation.pdf</a:t>
            </a:r>
          </a:p>
          <a:p>
            <a:r>
              <a:t>core-shared/src/main/java/com/e2eechat/core/session/Session.java</a:t>
            </a:r>
          </a:p>
          <a:p>
            <a:r>
              <a:t>core-shared/src/main/java/com/e2eechat/core/session/SessionManager.java</a:t>
            </a:r>
          </a:p>
          <a:p>
            <a:r>
              <a:t>core-shared/src/main/java/com/e2eechat/core/session/SecureChat.java</a:t>
            </a:r>
          </a:p>
          <a:p>
            <a:r>
              <a:t>https://csrc.nist.gov/pubs/sp/800/38/d/final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peer ID is derived from the identity public key. Trust on first use remembers the first key, but first contact alone does not establish a human identity. Compare the safety number over a trusted separate channel. A changed key blocks sending and needs review. The audience prompt is deliberate: ask how they would verify a new contact, then point to the separate-channel comparison.</a:t>
            </a:r>
          </a:p>
          <a:p>
            <a:endParaRPr/>
          </a:p>
          <a:p>
            <a:r>
              <a:t>[Sources]</a:t>
            </a:r>
          </a:p>
          <a:p>
            <a:r>
              <a:t>docs/tetherless_presentation.pdf</a:t>
            </a:r>
          </a:p>
          <a:p>
            <a:r>
              <a:t>docs/security.md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what the system protects from what it exposes. Ciphertext protects message contents and authentication detects unauthorized changes, subject to correct implementation and trusted endpoints. The relay still sees who communicates, timing and frame lengths, and can deny service. A compromised live device can read plaintext. Keys are renewed by session; there is no per-message Double Ratchet. Group messaging, federation and multi-device sync remain future scope. Hand over to Speaker 4.</a:t>
            </a:r>
          </a:p>
          <a:p>
            <a:endParaRPr/>
          </a:p>
          <a:p>
            <a:r>
              <a:t>[Sources]</a:t>
            </a:r>
          </a:p>
          <a:p>
            <a:r>
              <a:t>docs/tetherless_presentation.pdf</a:t>
            </a:r>
          </a:p>
          <a:p>
            <a:r>
              <a:t>docs/security.md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relay routes an incoming frame to a bounded queue owned by the recipient’s writer. A slow recipient cannot hold up another recipient’s writer. When a queue fills, the affected connection is closed instead of accumulating unbounded work. Conditional registry removal protects a new connection from cleanup by an old one. Heartbeats detect dead peers. Binary framing validates lengths before allocation and avoids native Java object deserialization.</a:t>
            </a:r>
          </a:p>
          <a:p>
            <a:endParaRPr/>
          </a:p>
          <a:p>
            <a:r>
              <a:t>[Sources]</a:t>
            </a:r>
          </a:p>
          <a:p>
            <a:r>
              <a:t>docs/tetherless_presentation.pdf</a:t>
            </a:r>
          </a:p>
          <a:p>
            <a:r>
              <a:t>docs/protocol.md</a:t>
            </a:r>
          </a:p>
          <a:p>
            <a:r>
              <a:t>docs/adr.md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clients share the protocol, crypto and session logic. Desktop uses Swing with network and crypto work off the event dispatch thread, plus SQLite WAL and encrypted message columns. Android uses Room, SQLCipher and AndroidKeyStore protection. Release packages need an external TLS keystore; use restricted runtime privileges and loopback metrics. These are design and implementation features, not evidence that a release is already production-approved. Hand over to Speaker 5.</a:t>
            </a:r>
          </a:p>
          <a:p>
            <a:endParaRPr/>
          </a:p>
          <a:p>
            <a:r>
              <a:t>[Sources]</a:t>
            </a:r>
          </a:p>
          <a:p>
            <a:r>
              <a:t>docs/tetherless_presentation.pdf</a:t>
            </a:r>
          </a:p>
          <a:p>
            <a:r>
              <a:t>docs/deployment.md</a:t>
            </a:r>
          </a:p>
          <a:p>
            <a:r>
              <a:t>docs/security.md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repository defines 13 adversarial relay test methods and two codec fuzz loops of 10,000 iterations each. It also defines 17 wire vectors. Explain what each tests: malicious relay behavior, parser resilience and stable cross-platform encoding. IV tests cover direction separation and repetition, but the current IvReuseTest does not run 100,000 sends, so do not repeat that claim from the old deck. Execute the test suite and capture results before making current pass claims. Tests do not replace independent security review.</a:t>
            </a:r>
          </a:p>
          <a:p>
            <a:endParaRPr/>
          </a:p>
          <a:p>
            <a:r>
              <a:t>[Sources]</a:t>
            </a:r>
          </a:p>
          <a:p>
            <a:r>
              <a:t>docs/tetherless_presentation.pdf</a:t>
            </a:r>
          </a:p>
          <a:p>
            <a:r>
              <a:t>core-shared/src/test/java/com/e2eechat/core/session/AdversarialRelayTest.java</a:t>
            </a:r>
          </a:p>
          <a:p>
            <a:r>
              <a:t>core-shared/src/test/java/com/e2eechat/core/protocol/CodecFuzzTest.java</a:t>
            </a:r>
          </a:p>
          <a:p>
            <a:r>
              <a:t>core-shared/src/main/java/com/e2eechat/core/protocol/ProtocolVectors.java</a:t>
            </a:r>
          </a:p>
          <a:p>
            <a:r>
              <a:t>core-shared/src/test/java/com/e2eechat/core/session/IvReuseTest.java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a concrete path: complete desktop and integration evidence, run CI and static checks, review the threat model and release configuration, then execute packaging and manual QA. This is a recommended release sequence rather than an assertion that these checks have passed today. The immediate target is the relay plus Windows desktop. Federation, group chat and per-message ratcheting need separate protocol work. Ask the audience which risk they would validate first and use the chapter links to return to supporting slides.</a:t>
            </a:r>
          </a:p>
          <a:p>
            <a:endParaRPr/>
          </a:p>
          <a:p>
            <a:r>
              <a:t>[Sources]</a:t>
            </a:r>
          </a:p>
          <a:p>
            <a:r>
              <a:t>docs/tetherless_presentation.pdf</a:t>
            </a:r>
          </a:p>
          <a:p>
            <a:r>
              <a:t>docs/development_plan.md</a:t>
            </a:r>
          </a:p>
          <a:p>
            <a:r>
              <a:t>docs/qa_script.md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A800-87DB-4279-9D9C-575563FC0A2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1A355988-4BB4-49CA-85F3-EA999341065D}"/>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AF8DFD7B-441D-4BE5-B4FF-A1658F1E0C16}"/>
              </a:ext>
            </a:extLst>
          </p:cNvPr>
          <p:cNvSpPr>
            <a:spLocks noGrp="1"/>
          </p:cNvSpPr>
          <p:nvPr>
            <p:ph type="dt" idx="10"/>
          </p:nvPr>
        </p:nvSpPr>
        <p:spPr/>
        <p:txBody>
          <a:body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E4C4D3D2-DDD7-4305-AE2C-F06D168AF2A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462D1C4-DEA0-460D-AE29-4B3C08D3354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94FE3-1304-4C08-9A25-1EB62C3A0C8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38F4A5D-F9EC-46E9-83E3-914CF8B58CC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B15FA2-0E32-4BAD-B570-0845888AD6A2}"/>
              </a:ext>
            </a:extLst>
          </p:cNvPr>
          <p:cNvSpPr>
            <a:spLocks noGrp="1"/>
          </p:cNvSpPr>
          <p:nvPr>
            <p:ph type="dt" idx="10"/>
          </p:nvPr>
        </p:nvSpPr>
        <p:spPr/>
        <p:txBody>
          <a:body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9959056A-31AA-4B77-8C09-F0709D8AA4B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9FB1C42-C32D-4352-B38B-53C6967AD3B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ADC1-0BC4-48D8-91C2-EC01608E28A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B767E012-062C-48D4-AD17-2E66FDE75907}"/>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D27469F-5B35-4234-B9B7-82EDDCDA83C6}"/>
              </a:ext>
            </a:extLst>
          </p:cNvPr>
          <p:cNvSpPr>
            <a:spLocks noGrp="1"/>
          </p:cNvSpPr>
          <p:nvPr>
            <p:ph type="dt" idx="10"/>
          </p:nvPr>
        </p:nvSpPr>
        <p:spPr/>
        <p:txBody>
          <a:body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E9FFA208-1160-43B7-BC68-4C3F44ACF1B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8654DA4-A2F0-4CB0-BC54-3EFE7FAD0E7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F12F-BB64-4D61-88DD-8E3C0C892E8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96DF3AC-3B9D-4581-B02A-E5A35163E670}"/>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512E49CC-387D-4DE6-8967-DC8360E942A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09A7A8A0-BE8A-468A-B576-428D1588CCEE}"/>
              </a:ext>
            </a:extLst>
          </p:cNvPr>
          <p:cNvSpPr>
            <a:spLocks noGrp="1"/>
          </p:cNvSpPr>
          <p:nvPr>
            <p:ph type="dt" idx="10"/>
          </p:nvPr>
        </p:nvSpPr>
        <p:spPr/>
        <p:txBody>
          <a:bodyPr/>
          <a:lstStyle/>
          <a:p>
            <a:fld id="{5BCAD085-E8A6-8845-BD4E-CB4CCA059FC4}" type="datetimeFigureOut">
              <a:t>9/9/2026</a:t>
            </a:fld>
            <a:endParaRPr/>
          </a:p>
        </p:txBody>
      </p:sp>
      <p:sp>
        <p:nvSpPr>
          <p:cNvPr id="6" name="Footer Placeholder 5">
            <a:extLst>
              <a:ext uri="{FF2B5EF4-FFF2-40B4-BE49-F238E27FC236}">
                <a16:creationId xmlns:a16="http://schemas.microsoft.com/office/drawing/2014/main" id="{6AACEF8D-F3CF-4D20-B44B-F105C0588B9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EBBAED6-173F-4E70-887C-7394442B5FB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D4EC7-2985-46C3-8E89-72A4718EC579}"/>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F7C7959-AB43-458E-B973-1F003ABFA0A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C66925E-4A80-4198-AAD3-B39BD39EFB24}"/>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DB21A7B1-8141-431F-85EB-7EB34080A149}"/>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499D870-7B83-434B-84E5-201E1321FC4E}"/>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AD34D2B-009D-4BF5-941F-B9981950FCDF}"/>
              </a:ext>
            </a:extLst>
          </p:cNvPr>
          <p:cNvSpPr>
            <a:spLocks noGrp="1"/>
          </p:cNvSpPr>
          <p:nvPr>
            <p:ph type="dt" idx="10"/>
          </p:nvPr>
        </p:nvSpPr>
        <p:spPr/>
        <p:txBody>
          <a:bodyPr/>
          <a:lstStyle/>
          <a:p>
            <a:fld id="{5BCAD085-E8A6-8845-BD4E-CB4CCA059FC4}" type="datetimeFigureOut">
              <a:t>9/9/2026</a:t>
            </a:fld>
            <a:endParaRPr/>
          </a:p>
        </p:txBody>
      </p:sp>
      <p:sp>
        <p:nvSpPr>
          <p:cNvPr id="8" name="Footer Placeholder 7">
            <a:extLst>
              <a:ext uri="{FF2B5EF4-FFF2-40B4-BE49-F238E27FC236}">
                <a16:creationId xmlns:a16="http://schemas.microsoft.com/office/drawing/2014/main" id="{45113E81-EEE4-4E4A-B370-44A91571923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FBCE90A5-FE10-4E10-ACC0-1B0F4CF9111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B6ABE-44E6-4F7C-B8CF-B27EA6F75D0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A74042A-7E0B-40E5-AF97-1A0D807A84E0}"/>
              </a:ext>
            </a:extLst>
          </p:cNvPr>
          <p:cNvSpPr>
            <a:spLocks noGrp="1"/>
          </p:cNvSpPr>
          <p:nvPr>
            <p:ph type="dt" idx="10"/>
          </p:nvPr>
        </p:nvSpPr>
        <p:spPr/>
        <p:txBody>
          <a:bodyPr/>
          <a:lstStyle/>
          <a:p>
            <a:fld id="{5BCAD085-E8A6-8845-BD4E-CB4CCA059FC4}" type="datetimeFigureOut">
              <a:t>9/9/2026</a:t>
            </a:fld>
            <a:endParaRPr/>
          </a:p>
        </p:txBody>
      </p:sp>
      <p:sp>
        <p:nvSpPr>
          <p:cNvPr id="4" name="Footer Placeholder 3">
            <a:extLst>
              <a:ext uri="{FF2B5EF4-FFF2-40B4-BE49-F238E27FC236}">
                <a16:creationId xmlns:a16="http://schemas.microsoft.com/office/drawing/2014/main" id="{D5F4D68A-F932-4EFA-9F98-88DD815DBD36}"/>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6BA439D1-B280-491A-8A36-02D28FB9D62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1DA9D5-371E-4AD8-9F4F-DBCC920BFA60}"/>
              </a:ext>
            </a:extLst>
          </p:cNvPr>
          <p:cNvSpPr>
            <a:spLocks noGrp="1"/>
          </p:cNvSpPr>
          <p:nvPr>
            <p:ph type="dt" idx="10"/>
          </p:nvPr>
        </p:nvSpPr>
        <p:spPr/>
        <p:txBody>
          <a:bodyPr/>
          <a:lstStyle/>
          <a:p>
            <a:fld id="{5BCAD085-E8A6-8845-BD4E-CB4CCA059FC4}" type="datetimeFigureOut">
              <a:t>9/9/2026</a:t>
            </a:fld>
            <a:endParaRPr/>
          </a:p>
        </p:txBody>
      </p:sp>
      <p:sp>
        <p:nvSpPr>
          <p:cNvPr id="3" name="Footer Placeholder 2">
            <a:extLst>
              <a:ext uri="{FF2B5EF4-FFF2-40B4-BE49-F238E27FC236}">
                <a16:creationId xmlns:a16="http://schemas.microsoft.com/office/drawing/2014/main" id="{62CAD3DF-0377-496E-A6E8-EA0D7AC402D7}"/>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79CC5B4-CD64-4613-9792-FD44A25D9B6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C3608-F9A3-47F2-85D4-91228DCBE339}"/>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C745703E-44D2-4AF0-964A-05DFC46DCA9D}"/>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EC8E87AD-81CC-46FB-9FCC-0ABFF4D6719F}"/>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48294C2-86F8-41A9-9B1B-407DB04439FA}"/>
              </a:ext>
            </a:extLst>
          </p:cNvPr>
          <p:cNvSpPr>
            <a:spLocks noGrp="1"/>
          </p:cNvSpPr>
          <p:nvPr>
            <p:ph type="dt" idx="10"/>
          </p:nvPr>
        </p:nvSpPr>
        <p:spPr/>
        <p:txBody>
          <a:bodyPr/>
          <a:lstStyle/>
          <a:p>
            <a:fld id="{5BCAD085-E8A6-8845-BD4E-CB4CCA059FC4}" type="datetimeFigureOut">
              <a:t>9/9/2026</a:t>
            </a:fld>
            <a:endParaRPr/>
          </a:p>
        </p:txBody>
      </p:sp>
      <p:sp>
        <p:nvSpPr>
          <p:cNvPr id="6" name="Footer Placeholder 5">
            <a:extLst>
              <a:ext uri="{FF2B5EF4-FFF2-40B4-BE49-F238E27FC236}">
                <a16:creationId xmlns:a16="http://schemas.microsoft.com/office/drawing/2014/main" id="{1097CE81-107C-4011-B1B8-932FF99030B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77BDF3C-5231-4FFD-BE87-F4C4924EE93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BCE1-86FD-412E-8C44-B3FB0CD602E7}"/>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FB0589DE-FC23-43D1-8879-C5799EA65F81}"/>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342F7DB-CF96-4CA4-AB02-FB746434D83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FE8E332-A631-4E47-8C58-16DC1B161D75}"/>
              </a:ext>
            </a:extLst>
          </p:cNvPr>
          <p:cNvSpPr>
            <a:spLocks noGrp="1"/>
          </p:cNvSpPr>
          <p:nvPr>
            <p:ph type="dt" idx="10"/>
          </p:nvPr>
        </p:nvSpPr>
        <p:spPr/>
        <p:txBody>
          <a:bodyPr/>
          <a:lstStyle/>
          <a:p>
            <a:fld id="{5BCAD085-E8A6-8845-BD4E-CB4CCA059FC4}" type="datetimeFigureOut">
              <a:t>9/9/2026</a:t>
            </a:fld>
            <a:endParaRPr/>
          </a:p>
        </p:txBody>
      </p:sp>
      <p:sp>
        <p:nvSpPr>
          <p:cNvPr id="6" name="Footer Placeholder 5">
            <a:extLst>
              <a:ext uri="{FF2B5EF4-FFF2-40B4-BE49-F238E27FC236}">
                <a16:creationId xmlns:a16="http://schemas.microsoft.com/office/drawing/2014/main" id="{FB5ADE51-4A09-45C5-8C46-2D7E5059F96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EADB14B-8F60-4763-A569-52F3E8C6C02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E468B-2704-4357-802D-0F4F9C3C614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4B3E565C-793D-4E22-8202-AFDD6B7FBF3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5E88782-F474-4C1A-B4E9-1638499BD5D5}"/>
              </a:ext>
            </a:extLst>
          </p:cNvPr>
          <p:cNvSpPr>
            <a:spLocks noGrp="1"/>
          </p:cNvSpPr>
          <p:nvPr>
            <p:ph type="dt" idx="10"/>
          </p:nvPr>
        </p:nvSpPr>
        <p:spPr/>
        <p:txBody>
          <a:body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ED974944-E812-4A54-8ED3-A4BF4144A51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440F6BD-0E01-469F-9CF7-F5FB2EF1BAA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DB27C3-7709-438C-AE2F-B5E46BBFB08C}"/>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51960B62-8964-4C2F-ADE2-E3D655E91566}"/>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18B2D9E-EFF9-4976-9299-338B23574EEB}"/>
              </a:ext>
            </a:extLst>
          </p:cNvPr>
          <p:cNvSpPr>
            <a:spLocks noGrp="1"/>
          </p:cNvSpPr>
          <p:nvPr>
            <p:ph type="dt" idx="10"/>
          </p:nvPr>
        </p:nvSpPr>
        <p:spPr/>
        <p:txBody>
          <a:body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800C31F5-D577-419D-9F44-2DB9D7195F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EE894A6-1B39-4CA9-9FC3-C4236CB70C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0F8BE3-C549-4F35-A055-F477FA4936E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F62C894-4431-4691-8F5E-1C24701F82C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C806A6B-8F2C-4019-B310-A95D5D645792}"/>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9/9/2026</a:t>
            </a:fld>
            <a:endParaRPr/>
          </a:p>
        </p:txBody>
      </p:sp>
      <p:sp>
        <p:nvSpPr>
          <p:cNvPr id="5" name="Footer Placeholder 4">
            <a:extLst>
              <a:ext uri="{FF2B5EF4-FFF2-40B4-BE49-F238E27FC236}">
                <a16:creationId xmlns:a16="http://schemas.microsoft.com/office/drawing/2014/main" id="{67517FE3-257E-491B-AE11-4874F9EED296}"/>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F9C0D7E3-9108-41D9-BE5E-0D6CFA748199}"/>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slide" Target="slide10.xml"/></Relationships>
</file>

<file path=ppt/slides/_rels/slide10.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hyperlink" Target="https://csrc.nist.gov/pubs/sp/800/38/d/final" TargetMode="External"/><Relationship Id="rId5" Type="http://schemas.openxmlformats.org/officeDocument/2006/relationships/slide" Target="slide5.xml"/><Relationship Id="rId10" Type="http://schemas.openxmlformats.org/officeDocument/2006/relationships/hyperlink" Target="https://www.rfc-editor.org/rfc/rfc3526" TargetMode="External"/><Relationship Id="rId4" Type="http://schemas.openxmlformats.org/officeDocument/2006/relationships/slide" Target="slide3.xml"/><Relationship Id="rId9" Type="http://schemas.openxmlformats.org/officeDocument/2006/relationships/hyperlink" Target="https://www.rfc-editor.org/rfc/rfc58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3B8356-8ED4-44C3-8C7A-B8908F8A5BA6}"/>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CB1DC49-B245-4ABA-BBD8-1F36B3D8C042}"/>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A2FBDA94-BD97-4C3A-9EE9-516D03F4DB55}"/>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01 / 10</a:t>
            </a:r>
          </a:p>
        </p:txBody>
      </p:sp>
      <p:sp>
        <p:nvSpPr>
          <p:cNvPr id="14" name="TextBox 13">
            <a:extLst>
              <a:ext uri="{FF2B5EF4-FFF2-40B4-BE49-F238E27FC236}">
                <a16:creationId xmlns:a16="http://schemas.microsoft.com/office/drawing/2014/main" id="{8A841102-69A8-4A06-8538-BCDE0E2730EF}"/>
              </a:ext>
            </a:extLst>
          </p:cNvPr>
          <p:cNvSpPr>
            <a:spLocks noGrp="1"/>
          </p:cNvSpPr>
          <p:nvPr/>
        </p:nvSpPr>
        <p:spPr>
          <a:xfrm>
            <a:off x="685800" y="933450"/>
            <a:ext cx="10820400" cy="1005840"/>
          </a:xfrm>
          <a:prstGeom prst="rect">
            <a:avLst/>
          </a:prstGeom>
          <a:noFill/>
          <a:ln w="0">
            <a:noFill/>
          </a:ln>
        </p:spPr>
        <p:txBody>
          <a:bodyPr wrap="none" lIns="0" tIns="0" rIns="0" bIns="0" anchor="ctr">
            <a:noAutofit/>
          </a:bodyPr>
          <a:lstStyle/>
          <a:p>
            <a:pPr>
              <a:buNone/>
              <a:defRPr sz="6600" b="1">
                <a:solidFill>
                  <a:srgbClr val="FFFFFF"/>
                </a:solidFill>
                <a:latin typeface="Segoe UI"/>
                <a:ea typeface="Segoe UI"/>
                <a:cs typeface="Segoe UI"/>
              </a:defRPr>
            </a:pPr>
            <a:r>
              <a:rPr sz="6600" b="1">
                <a:solidFill>
                  <a:srgbClr val="FFFFFF"/>
                </a:solidFill>
                <a:latin typeface="Segoe UI"/>
                <a:ea typeface="Segoe UI"/>
                <a:cs typeface="Segoe UI"/>
              </a:rPr>
              <a:t>Tetherless</a:t>
            </a:r>
          </a:p>
        </p:txBody>
      </p:sp>
      <p:sp>
        <p:nvSpPr>
          <p:cNvPr id="15" name="TextBox 14">
            <a:extLst>
              <a:ext uri="{FF2B5EF4-FFF2-40B4-BE49-F238E27FC236}">
                <a16:creationId xmlns:a16="http://schemas.microsoft.com/office/drawing/2014/main" id="{D92541E1-DD57-438B-99C8-DEF469004835}"/>
              </a:ext>
            </a:extLst>
          </p:cNvPr>
          <p:cNvSpPr>
            <a:spLocks noGrp="1"/>
          </p:cNvSpPr>
          <p:nvPr/>
        </p:nvSpPr>
        <p:spPr>
          <a:xfrm>
            <a:off x="685800" y="1924050"/>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End-to-end encrypted chat • Technical architecture</a:t>
            </a:r>
          </a:p>
        </p:txBody>
      </p:sp>
      <p:sp>
        <p:nvSpPr>
          <p:cNvPr id="16" name="divider">
            <a:extLst>
              <a:ext uri="{FF2B5EF4-FFF2-40B4-BE49-F238E27FC236}">
                <a16:creationId xmlns:a16="http://schemas.microsoft.com/office/drawing/2014/main" id="{F9F8F10F-6743-4DD8-9D22-DB9DC9455175}"/>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321E94E4-2EB9-4E27-A6AE-41B2CA9BF25B}"/>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F2EE27C6-FD46-435A-8960-C846A9C452F5}"/>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8EDDFFB2-CC12-4723-B23B-A287A53BB1BB}"/>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6BD45236-4DB5-430D-AE91-4DEB329BA0BE}"/>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B4C86891-BA82-4333-A489-053B4B5CD68B}"/>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3" action="ppaction://hlinksldjump"/>
            <a:extLst>
              <a:ext uri="{FF2B5EF4-FFF2-40B4-BE49-F238E27FC236}">
                <a16:creationId xmlns:a16="http://schemas.microsoft.com/office/drawing/2014/main" id="{CB2AE088-3FBC-424F-B0BB-4CBEAE0215A1}"/>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8" action="ppaction://hlinksldjump"/>
            <a:extLst>
              <a:ext uri="{FF2B5EF4-FFF2-40B4-BE49-F238E27FC236}">
                <a16:creationId xmlns:a16="http://schemas.microsoft.com/office/drawing/2014/main" id="{69975AF3-7035-4711-BB7C-5075CD3439DE}"/>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3EA7A04A-5A29-4ACC-9218-9C6FA6F05072}"/>
              </a:ext>
            </a:extLst>
          </p:cNvPr>
          <p:cNvSpPr>
            <a:spLocks noGrp="1"/>
          </p:cNvSpPr>
          <p:nvPr/>
        </p:nvSpPr>
        <p:spPr>
          <a:xfrm>
            <a:off x="3381375" y="3562350"/>
            <a:ext cx="1076325"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B9D35FBF-E80A-4F8B-BDE3-FF3AA5B85601}"/>
              </a:ext>
            </a:extLst>
          </p:cNvPr>
          <p:cNvSpPr>
            <a:spLocks noGrp="1"/>
          </p:cNvSpPr>
          <p:nvPr/>
        </p:nvSpPr>
        <p:spPr>
          <a:xfrm>
            <a:off x="7686675" y="3562350"/>
            <a:ext cx="1076325" cy="171450"/>
          </a:xfrm>
          <a:prstGeom prst="rightArrow">
            <a:avLst/>
          </a:prstGeom>
          <a:solidFill>
            <a:srgbClr val="B4B4BD"/>
          </a:solidFill>
          <a:ln w="0">
            <a:noFill/>
            <a:prstDash val="solid"/>
          </a:ln>
        </p:spPr>
      </p:sp>
      <p:sp>
        <p:nvSpPr>
          <p:cNvPr id="26" name="Sender node">
            <a:extLst>
              <a:ext uri="{FF2B5EF4-FFF2-40B4-BE49-F238E27FC236}">
                <a16:creationId xmlns:a16="http://schemas.microsoft.com/office/drawing/2014/main" id="{43B2E8D9-C46E-403F-BCBC-E9F86A828AFB}"/>
              </a:ext>
            </a:extLst>
          </p:cNvPr>
          <p:cNvSpPr>
            <a:spLocks noGrp="1"/>
          </p:cNvSpPr>
          <p:nvPr/>
        </p:nvSpPr>
        <p:spPr>
          <a:xfrm>
            <a:off x="685800" y="2952750"/>
            <a:ext cx="2667000" cy="1476375"/>
          </a:xfrm>
          <a:prstGeom prst="rect">
            <a:avLst/>
          </a:prstGeom>
          <a:solidFill>
            <a:srgbClr val="17171C"/>
          </a:solidFill>
          <a:ln w="14288">
            <a:solidFill>
              <a:srgbClr val="51515B"/>
            </a:solidFill>
            <a:prstDash val="solid"/>
          </a:ln>
        </p:spPr>
      </p:sp>
      <p:sp>
        <p:nvSpPr>
          <p:cNvPr id="27" name="Sender">
            <a:extLst>
              <a:ext uri="{FF2B5EF4-FFF2-40B4-BE49-F238E27FC236}">
                <a16:creationId xmlns:a16="http://schemas.microsoft.com/office/drawing/2014/main" id="{70113A9C-DB1A-419A-84FD-EA2B4AB63C84}"/>
              </a:ext>
            </a:extLst>
          </p:cNvPr>
          <p:cNvSpPr>
            <a:spLocks noGrp="1"/>
          </p:cNvSpPr>
          <p:nvPr/>
        </p:nvSpPr>
        <p:spPr>
          <a:xfrm>
            <a:off x="876300" y="3124200"/>
            <a:ext cx="22860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Sender</a:t>
            </a:r>
          </a:p>
        </p:txBody>
      </p:sp>
      <p:sp>
        <p:nvSpPr>
          <p:cNvPr id="28" name="Encrypt locally">
            <a:extLst>
              <a:ext uri="{FF2B5EF4-FFF2-40B4-BE49-F238E27FC236}">
                <a16:creationId xmlns:a16="http://schemas.microsoft.com/office/drawing/2014/main" id="{F4061152-1DDC-48A3-AAA2-58E2859E1E5F}"/>
              </a:ext>
            </a:extLst>
          </p:cNvPr>
          <p:cNvSpPr>
            <a:spLocks noGrp="1"/>
          </p:cNvSpPr>
          <p:nvPr/>
        </p:nvSpPr>
        <p:spPr>
          <a:xfrm>
            <a:off x="876300" y="3600450"/>
            <a:ext cx="2286000" cy="7429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Encrypt locally</a:t>
            </a:r>
          </a:p>
        </p:txBody>
      </p:sp>
      <p:sp>
        <p:nvSpPr>
          <p:cNvPr id="29" name="Untrusted relay node">
            <a:extLst>
              <a:ext uri="{FF2B5EF4-FFF2-40B4-BE49-F238E27FC236}">
                <a16:creationId xmlns:a16="http://schemas.microsoft.com/office/drawing/2014/main" id="{394D5212-0617-43B7-AE9C-591C5A8138E1}"/>
              </a:ext>
            </a:extLst>
          </p:cNvPr>
          <p:cNvSpPr>
            <a:spLocks noGrp="1"/>
          </p:cNvSpPr>
          <p:nvPr/>
        </p:nvSpPr>
        <p:spPr>
          <a:xfrm>
            <a:off x="4686300" y="2952750"/>
            <a:ext cx="2971800" cy="1476375"/>
          </a:xfrm>
          <a:prstGeom prst="rect">
            <a:avLst/>
          </a:prstGeom>
          <a:solidFill>
            <a:srgbClr val="17171C"/>
          </a:solidFill>
          <a:ln w="14288">
            <a:solidFill>
              <a:srgbClr val="51515B"/>
            </a:solidFill>
            <a:prstDash val="solid"/>
          </a:ln>
        </p:spPr>
      </p:sp>
      <p:sp>
        <p:nvSpPr>
          <p:cNvPr id="30" name="Untrusted relay">
            <a:extLst>
              <a:ext uri="{FF2B5EF4-FFF2-40B4-BE49-F238E27FC236}">
                <a16:creationId xmlns:a16="http://schemas.microsoft.com/office/drawing/2014/main" id="{9BCC673A-32C8-4AA5-A62F-C66D16BDEF04}"/>
              </a:ext>
            </a:extLst>
          </p:cNvPr>
          <p:cNvSpPr>
            <a:spLocks noGrp="1"/>
          </p:cNvSpPr>
          <p:nvPr/>
        </p:nvSpPr>
        <p:spPr>
          <a:xfrm>
            <a:off x="4876800" y="3124200"/>
            <a:ext cx="25908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Untrusted relay</a:t>
            </a:r>
          </a:p>
        </p:txBody>
      </p:sp>
      <p:sp>
        <p:nvSpPr>
          <p:cNvPr id="31" name="Forward ciphertext">
            <a:extLst>
              <a:ext uri="{FF2B5EF4-FFF2-40B4-BE49-F238E27FC236}">
                <a16:creationId xmlns:a16="http://schemas.microsoft.com/office/drawing/2014/main" id="{A3DBC6B3-F34F-4ACA-AD06-93ABFA37A9D5}"/>
              </a:ext>
            </a:extLst>
          </p:cNvPr>
          <p:cNvSpPr>
            <a:spLocks noGrp="1"/>
          </p:cNvSpPr>
          <p:nvPr/>
        </p:nvSpPr>
        <p:spPr>
          <a:xfrm>
            <a:off x="4876800" y="3600450"/>
            <a:ext cx="2590800" cy="7429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Forward ciphertext</a:t>
            </a:r>
          </a:p>
        </p:txBody>
      </p:sp>
      <p:sp>
        <p:nvSpPr>
          <p:cNvPr id="32" name="Recipient node">
            <a:extLst>
              <a:ext uri="{FF2B5EF4-FFF2-40B4-BE49-F238E27FC236}">
                <a16:creationId xmlns:a16="http://schemas.microsoft.com/office/drawing/2014/main" id="{A886C22F-4E13-4F3C-B614-4DAFDA364926}"/>
              </a:ext>
            </a:extLst>
          </p:cNvPr>
          <p:cNvSpPr>
            <a:spLocks noGrp="1"/>
          </p:cNvSpPr>
          <p:nvPr/>
        </p:nvSpPr>
        <p:spPr>
          <a:xfrm>
            <a:off x="8839200" y="2952750"/>
            <a:ext cx="2667000" cy="1476375"/>
          </a:xfrm>
          <a:prstGeom prst="rect">
            <a:avLst/>
          </a:prstGeom>
          <a:solidFill>
            <a:srgbClr val="17171C"/>
          </a:solidFill>
          <a:ln w="14288">
            <a:solidFill>
              <a:srgbClr val="51515B"/>
            </a:solidFill>
            <a:prstDash val="solid"/>
          </a:ln>
        </p:spPr>
      </p:sp>
      <p:sp>
        <p:nvSpPr>
          <p:cNvPr id="33" name="Recipient">
            <a:extLst>
              <a:ext uri="{FF2B5EF4-FFF2-40B4-BE49-F238E27FC236}">
                <a16:creationId xmlns:a16="http://schemas.microsoft.com/office/drawing/2014/main" id="{84E9BA12-AD67-442B-BCB4-C213E756F70E}"/>
              </a:ext>
            </a:extLst>
          </p:cNvPr>
          <p:cNvSpPr>
            <a:spLocks noGrp="1"/>
          </p:cNvSpPr>
          <p:nvPr/>
        </p:nvSpPr>
        <p:spPr>
          <a:xfrm>
            <a:off x="9029700" y="3124200"/>
            <a:ext cx="22860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Recipient</a:t>
            </a:r>
          </a:p>
        </p:txBody>
      </p:sp>
      <p:sp>
        <p:nvSpPr>
          <p:cNvPr id="34" name="Decrypt locally">
            <a:extLst>
              <a:ext uri="{FF2B5EF4-FFF2-40B4-BE49-F238E27FC236}">
                <a16:creationId xmlns:a16="http://schemas.microsoft.com/office/drawing/2014/main" id="{6180061F-31E4-40FA-BBE3-EC406914148E}"/>
              </a:ext>
            </a:extLst>
          </p:cNvPr>
          <p:cNvSpPr>
            <a:spLocks noGrp="1"/>
          </p:cNvSpPr>
          <p:nvPr/>
        </p:nvSpPr>
        <p:spPr>
          <a:xfrm>
            <a:off x="9029700" y="3600450"/>
            <a:ext cx="2286000" cy="7429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Decrypt locally</a:t>
            </a:r>
          </a:p>
        </p:txBody>
      </p:sp>
      <p:sp>
        <p:nvSpPr>
          <p:cNvPr id="35" name="Can a server deliver a conversation with">
            <a:extLst>
              <a:ext uri="{FF2B5EF4-FFF2-40B4-BE49-F238E27FC236}">
                <a16:creationId xmlns:a16="http://schemas.microsoft.com/office/drawing/2014/main" id="{0056F366-27E1-404F-8CBC-255EBBFA53A3}"/>
              </a:ext>
            </a:extLst>
          </p:cNvPr>
          <p:cNvSpPr>
            <a:spLocks noGrp="1"/>
          </p:cNvSpPr>
          <p:nvPr/>
        </p:nvSpPr>
        <p:spPr>
          <a:xfrm>
            <a:off x="685800" y="4895850"/>
            <a:ext cx="10820400" cy="666750"/>
          </a:xfrm>
          <a:prstGeom prst="rect">
            <a:avLst/>
          </a:prstGeom>
          <a:noFill/>
          <a:ln w="0">
            <a:noFill/>
            <a:prstDash val="solid"/>
          </a:ln>
        </p:spPr>
        <p:txBody>
          <a:bodyPr wrap="square" lIns="0" tIns="0" rIns="0" bIns="0" anchor="ctr">
            <a:noAutofit/>
          </a:bodyPr>
          <a:lstStyle/>
          <a:p>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Can a server deliver a conversation without reading it?</a:t>
            </a:r>
          </a:p>
        </p:txBody>
      </p:sp>
      <p:sp>
        <p:nvSpPr>
          <p:cNvPr id="36" name="Choose a chapter below, or follow the ar">
            <a:extLst>
              <a:ext uri="{FF2B5EF4-FFF2-40B4-BE49-F238E27FC236}">
                <a16:creationId xmlns:a16="http://schemas.microsoft.com/office/drawing/2014/main" id="{A0E6F135-3A73-440F-BCFF-317FE1DE0339}"/>
              </a:ext>
            </a:extLst>
          </p:cNvPr>
          <p:cNvSpPr>
            <a:spLocks noGrp="1"/>
          </p:cNvSpPr>
          <p:nvPr/>
        </p:nvSpPr>
        <p:spPr>
          <a:xfrm>
            <a:off x="685800" y="5610225"/>
            <a:ext cx="10820400" cy="285750"/>
          </a:xfrm>
          <a:prstGeom prst="rect">
            <a:avLst/>
          </a:prstGeom>
          <a:noFill/>
          <a:ln w="0">
            <a:noFill/>
            <a:prstDash val="solid"/>
          </a:ln>
        </p:spPr>
        <p:txBody>
          <a:bodyPr wrap="square" lIns="0" tIns="0" rIns="0" bIns="0" anchor="ctr">
            <a:noAutofit/>
          </a:bodyPr>
          <a:lstStyle/>
          <a:p>
            <a:pPr algn="l">
              <a:defRPr sz="1650" b="0">
                <a:solidFill>
                  <a:srgbClr val="B4B4BD"/>
                </a:solidFill>
                <a:latin typeface="Segoe UI"/>
                <a:ea typeface="Segoe UI"/>
                <a:cs typeface="Segoe UI"/>
              </a:defRPr>
            </a:pPr>
            <a:r>
              <a:rPr sz="1650" b="0">
                <a:solidFill>
                  <a:srgbClr val="B4B4BD"/>
                </a:solidFill>
                <a:latin typeface="Segoe UI"/>
                <a:ea typeface="Segoe UI"/>
                <a:cs typeface="Segoe UI"/>
              </a:rPr>
              <a:t>Choose a chapter below, or follow the arrows.</a:t>
            </a:r>
          </a:p>
        </p:txBody>
      </p:sp>
    </p:spTree>
    <p:extLst>
      <p:ext uri="{BB962C8B-B14F-4D97-AF65-F5344CB8AC3E}">
        <p14:creationId xmlns:p14="http://schemas.microsoft.com/office/powerpoint/2010/main" val="222391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75158F-EE3F-4229-83FE-391339720AE0}"/>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015C453F-5C92-406B-A620-A2E628223B14}"/>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297CFCF6-125E-4BD2-96E3-96D55395A20A}"/>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02 / 10</a:t>
            </a:r>
          </a:p>
        </p:txBody>
      </p:sp>
      <p:sp>
        <p:nvSpPr>
          <p:cNvPr id="14" name="TextBox 13">
            <a:extLst>
              <a:ext uri="{FF2B5EF4-FFF2-40B4-BE49-F238E27FC236}">
                <a16:creationId xmlns:a16="http://schemas.microsoft.com/office/drawing/2014/main" id="{8B2BC2AA-AA5B-47FB-8D1F-9D1FBA6BBBE8}"/>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Privacy lives at the endpoints</a:t>
            </a:r>
          </a:p>
        </p:txBody>
      </p:sp>
      <p:sp>
        <p:nvSpPr>
          <p:cNvPr id="15" name="TextBox 14">
            <a:extLst>
              <a:ext uri="{FF2B5EF4-FFF2-40B4-BE49-F238E27FC236}">
                <a16:creationId xmlns:a16="http://schemas.microsoft.com/office/drawing/2014/main" id="{2061248E-FBA2-446A-97B0-380CC02DF5FD}"/>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The relay routes ciphertext. Desktop and Android own the secrets.</a:t>
            </a:r>
          </a:p>
        </p:txBody>
      </p:sp>
      <p:sp>
        <p:nvSpPr>
          <p:cNvPr id="16" name="divider">
            <a:extLst>
              <a:ext uri="{FF2B5EF4-FFF2-40B4-BE49-F238E27FC236}">
                <a16:creationId xmlns:a16="http://schemas.microsoft.com/office/drawing/2014/main" id="{81121C6D-3259-4C1F-B4BF-5AC87E80D532}"/>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4E7EC332-743C-400A-AA11-5B91F4D6F788}"/>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570A5A0E-A01E-4DDC-B139-BD6CDCB21EE9}"/>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F67DBC42-98F7-4F8D-A36F-AD864DBE4B8D}"/>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990F562F-78E8-44F3-B78F-ADDCFA9E4E1C}"/>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FAB77E91-DE1A-4436-9045-FD83DC91A780}"/>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3" action="ppaction://hlinksldjump"/>
            <a:extLst>
              <a:ext uri="{FF2B5EF4-FFF2-40B4-BE49-F238E27FC236}">
                <a16:creationId xmlns:a16="http://schemas.microsoft.com/office/drawing/2014/main" id="{1F16B71F-C9F8-4D73-A21C-D318C7F20A46}"/>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4" action="ppaction://hlinksldjump"/>
            <a:extLst>
              <a:ext uri="{FF2B5EF4-FFF2-40B4-BE49-F238E27FC236}">
                <a16:creationId xmlns:a16="http://schemas.microsoft.com/office/drawing/2014/main" id="{44FA1068-B7AE-4B01-A0F4-A69D79A36A05}"/>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77D6239B-2E52-4189-82A8-372E9C983C11}"/>
              </a:ext>
            </a:extLst>
          </p:cNvPr>
          <p:cNvSpPr>
            <a:spLocks noGrp="1"/>
          </p:cNvSpPr>
          <p:nvPr/>
        </p:nvSpPr>
        <p:spPr>
          <a:xfrm>
            <a:off x="3495675" y="3009900"/>
            <a:ext cx="1009650"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BA5D43B2-B398-4FCC-9477-DF58F69C1DC0}"/>
              </a:ext>
            </a:extLst>
          </p:cNvPr>
          <p:cNvSpPr>
            <a:spLocks noGrp="1"/>
          </p:cNvSpPr>
          <p:nvPr/>
        </p:nvSpPr>
        <p:spPr>
          <a:xfrm>
            <a:off x="7705725" y="3009900"/>
            <a:ext cx="1009650" cy="171450"/>
          </a:xfrm>
          <a:prstGeom prst="rightArrow">
            <a:avLst/>
          </a:prstGeom>
          <a:solidFill>
            <a:srgbClr val="B4B4BD"/>
          </a:solidFill>
          <a:ln w="0">
            <a:noFill/>
            <a:prstDash val="solid"/>
          </a:ln>
        </p:spPr>
      </p:sp>
      <p:sp>
        <p:nvSpPr>
          <p:cNvPr id="26" name="Desktop client node">
            <a:extLst>
              <a:ext uri="{FF2B5EF4-FFF2-40B4-BE49-F238E27FC236}">
                <a16:creationId xmlns:a16="http://schemas.microsoft.com/office/drawing/2014/main" id="{204D92C3-D771-4A43-BB35-B9CD142DAFDC}"/>
              </a:ext>
            </a:extLst>
          </p:cNvPr>
          <p:cNvSpPr>
            <a:spLocks noGrp="1"/>
          </p:cNvSpPr>
          <p:nvPr/>
        </p:nvSpPr>
        <p:spPr>
          <a:xfrm>
            <a:off x="685800" y="2466975"/>
            <a:ext cx="2781300" cy="1323975"/>
          </a:xfrm>
          <a:prstGeom prst="rect">
            <a:avLst/>
          </a:prstGeom>
          <a:solidFill>
            <a:srgbClr val="17171C"/>
          </a:solidFill>
          <a:ln w="14288">
            <a:solidFill>
              <a:srgbClr val="51515B"/>
            </a:solidFill>
            <a:prstDash val="solid"/>
          </a:ln>
        </p:spPr>
      </p:sp>
      <p:sp>
        <p:nvSpPr>
          <p:cNvPr id="27" name="Desktop client">
            <a:extLst>
              <a:ext uri="{FF2B5EF4-FFF2-40B4-BE49-F238E27FC236}">
                <a16:creationId xmlns:a16="http://schemas.microsoft.com/office/drawing/2014/main" id="{F5B9DCBD-D2C9-44FA-AF48-93B444B28A56}"/>
              </a:ext>
            </a:extLst>
          </p:cNvPr>
          <p:cNvSpPr>
            <a:spLocks noGrp="1"/>
          </p:cNvSpPr>
          <p:nvPr/>
        </p:nvSpPr>
        <p:spPr>
          <a:xfrm>
            <a:off x="876300" y="2638425"/>
            <a:ext cx="24003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Desktop client</a:t>
            </a:r>
          </a:p>
        </p:txBody>
      </p:sp>
      <p:sp>
        <p:nvSpPr>
          <p:cNvPr id="28" name="Plaintext + keys">
            <a:extLst>
              <a:ext uri="{FF2B5EF4-FFF2-40B4-BE49-F238E27FC236}">
                <a16:creationId xmlns:a16="http://schemas.microsoft.com/office/drawing/2014/main" id="{623D06BE-6033-4F10-AABC-97F75CD7598D}"/>
              </a:ext>
            </a:extLst>
          </p:cNvPr>
          <p:cNvSpPr>
            <a:spLocks noGrp="1"/>
          </p:cNvSpPr>
          <p:nvPr/>
        </p:nvSpPr>
        <p:spPr>
          <a:xfrm>
            <a:off x="876300" y="3114675"/>
            <a:ext cx="2400300" cy="5905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Plaintext + keys</a:t>
            </a:r>
          </a:p>
        </p:txBody>
      </p:sp>
      <p:sp>
        <p:nvSpPr>
          <p:cNvPr id="29" name="chat-server node">
            <a:extLst>
              <a:ext uri="{FF2B5EF4-FFF2-40B4-BE49-F238E27FC236}">
                <a16:creationId xmlns:a16="http://schemas.microsoft.com/office/drawing/2014/main" id="{B60D2027-E92F-462D-B37E-5B3C249663C8}"/>
              </a:ext>
            </a:extLst>
          </p:cNvPr>
          <p:cNvSpPr>
            <a:spLocks noGrp="1"/>
          </p:cNvSpPr>
          <p:nvPr/>
        </p:nvSpPr>
        <p:spPr>
          <a:xfrm>
            <a:off x="4572000" y="2466975"/>
            <a:ext cx="3124200" cy="1323975"/>
          </a:xfrm>
          <a:prstGeom prst="rect">
            <a:avLst/>
          </a:prstGeom>
          <a:solidFill>
            <a:srgbClr val="17171C"/>
          </a:solidFill>
          <a:ln w="14288">
            <a:solidFill>
              <a:srgbClr val="51515B"/>
            </a:solidFill>
            <a:prstDash val="solid"/>
          </a:ln>
        </p:spPr>
      </p:sp>
      <p:sp>
        <p:nvSpPr>
          <p:cNvPr id="30" name="chat-server">
            <a:extLst>
              <a:ext uri="{FF2B5EF4-FFF2-40B4-BE49-F238E27FC236}">
                <a16:creationId xmlns:a16="http://schemas.microsoft.com/office/drawing/2014/main" id="{8AAED81F-8CBC-4107-8EAE-CDC0086ADB50}"/>
              </a:ext>
            </a:extLst>
          </p:cNvPr>
          <p:cNvSpPr>
            <a:spLocks noGrp="1"/>
          </p:cNvSpPr>
          <p:nvPr/>
        </p:nvSpPr>
        <p:spPr>
          <a:xfrm>
            <a:off x="4762500" y="2638425"/>
            <a:ext cx="27432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chat-server</a:t>
            </a:r>
          </a:p>
        </p:txBody>
      </p:sp>
      <p:sp>
        <p:nvSpPr>
          <p:cNvPr id="31" name="Ciphertext + routing">
            <a:extLst>
              <a:ext uri="{FF2B5EF4-FFF2-40B4-BE49-F238E27FC236}">
                <a16:creationId xmlns:a16="http://schemas.microsoft.com/office/drawing/2014/main" id="{3E109862-4F7B-4822-B6A4-1B0982074276}"/>
              </a:ext>
            </a:extLst>
          </p:cNvPr>
          <p:cNvSpPr>
            <a:spLocks noGrp="1"/>
          </p:cNvSpPr>
          <p:nvPr/>
        </p:nvSpPr>
        <p:spPr>
          <a:xfrm>
            <a:off x="4762500" y="3114675"/>
            <a:ext cx="2743200" cy="5905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Ciphertext + routing</a:t>
            </a:r>
          </a:p>
        </p:txBody>
      </p:sp>
      <p:sp>
        <p:nvSpPr>
          <p:cNvPr id="32" name="Android client node">
            <a:extLst>
              <a:ext uri="{FF2B5EF4-FFF2-40B4-BE49-F238E27FC236}">
                <a16:creationId xmlns:a16="http://schemas.microsoft.com/office/drawing/2014/main" id="{BABB6976-9E9C-4425-87C2-2D08E177922A}"/>
              </a:ext>
            </a:extLst>
          </p:cNvPr>
          <p:cNvSpPr>
            <a:spLocks noGrp="1"/>
          </p:cNvSpPr>
          <p:nvPr/>
        </p:nvSpPr>
        <p:spPr>
          <a:xfrm>
            <a:off x="8724900" y="2466975"/>
            <a:ext cx="2781300" cy="1323975"/>
          </a:xfrm>
          <a:prstGeom prst="rect">
            <a:avLst/>
          </a:prstGeom>
          <a:solidFill>
            <a:srgbClr val="17171C"/>
          </a:solidFill>
          <a:ln w="14288">
            <a:solidFill>
              <a:srgbClr val="51515B"/>
            </a:solidFill>
            <a:prstDash val="solid"/>
          </a:ln>
        </p:spPr>
      </p:sp>
      <p:sp>
        <p:nvSpPr>
          <p:cNvPr id="33" name="Android client">
            <a:extLst>
              <a:ext uri="{FF2B5EF4-FFF2-40B4-BE49-F238E27FC236}">
                <a16:creationId xmlns:a16="http://schemas.microsoft.com/office/drawing/2014/main" id="{06273264-76E9-499B-BD3D-E02D061094BE}"/>
              </a:ext>
            </a:extLst>
          </p:cNvPr>
          <p:cNvSpPr>
            <a:spLocks noGrp="1"/>
          </p:cNvSpPr>
          <p:nvPr/>
        </p:nvSpPr>
        <p:spPr>
          <a:xfrm>
            <a:off x="8915400" y="2638425"/>
            <a:ext cx="24003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Android client</a:t>
            </a:r>
          </a:p>
        </p:txBody>
      </p:sp>
      <p:sp>
        <p:nvSpPr>
          <p:cNvPr id="34" name="Plaintext + keys">
            <a:extLst>
              <a:ext uri="{FF2B5EF4-FFF2-40B4-BE49-F238E27FC236}">
                <a16:creationId xmlns:a16="http://schemas.microsoft.com/office/drawing/2014/main" id="{8D6915E1-C922-488F-8266-01F09C829C41}"/>
              </a:ext>
            </a:extLst>
          </p:cNvPr>
          <p:cNvSpPr>
            <a:spLocks noGrp="1"/>
          </p:cNvSpPr>
          <p:nvPr/>
        </p:nvSpPr>
        <p:spPr>
          <a:xfrm>
            <a:off x="8915400" y="3114675"/>
            <a:ext cx="2400300" cy="5905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Plaintext + keys</a:t>
            </a:r>
          </a:p>
        </p:txBody>
      </p:sp>
      <p:sp>
        <p:nvSpPr>
          <p:cNvPr id="35" name="Pinned TLS">
            <a:extLst>
              <a:ext uri="{FF2B5EF4-FFF2-40B4-BE49-F238E27FC236}">
                <a16:creationId xmlns:a16="http://schemas.microsoft.com/office/drawing/2014/main" id="{7BEC3E09-2534-4F61-950E-A7746AAB70CC}"/>
              </a:ext>
            </a:extLst>
          </p:cNvPr>
          <p:cNvSpPr>
            <a:spLocks noGrp="1"/>
          </p:cNvSpPr>
          <p:nvPr/>
        </p:nvSpPr>
        <p:spPr>
          <a:xfrm>
            <a:off x="3571875" y="3505200"/>
            <a:ext cx="990600" cy="333375"/>
          </a:xfrm>
          <a:prstGeom prst="rect">
            <a:avLst/>
          </a:prstGeom>
          <a:noFill/>
          <a:ln w="0">
            <a:noFill/>
            <a:prstDash val="solid"/>
          </a:ln>
        </p:spPr>
        <p:txBody>
          <a:bodyPr wrap="square" lIns="0" tIns="0" rIns="0" bIns="0" anchor="ctr">
            <a:noAutofit/>
          </a:bodyPr>
          <a:lstStyle/>
          <a:p>
            <a:pPr algn="l">
              <a:defRPr sz="1275" b="0">
                <a:solidFill>
                  <a:srgbClr val="B4B4BD"/>
                </a:solidFill>
                <a:latin typeface="Segoe UI"/>
                <a:ea typeface="Segoe UI"/>
                <a:cs typeface="Segoe UI"/>
              </a:defRPr>
            </a:pPr>
            <a:r>
              <a:rPr sz="1275" b="0">
                <a:solidFill>
                  <a:srgbClr val="B4B4BD"/>
                </a:solidFill>
                <a:latin typeface="Segoe UI"/>
                <a:ea typeface="Segoe UI"/>
                <a:cs typeface="Segoe UI"/>
              </a:rPr>
              <a:t>Pinned TLS</a:t>
            </a:r>
          </a:p>
        </p:txBody>
      </p:sp>
      <p:sp>
        <p:nvSpPr>
          <p:cNvPr id="36" name="Pinned TLS">
            <a:extLst>
              <a:ext uri="{FF2B5EF4-FFF2-40B4-BE49-F238E27FC236}">
                <a16:creationId xmlns:a16="http://schemas.microsoft.com/office/drawing/2014/main" id="{01D33533-D0CE-4239-99B4-385562554C63}"/>
              </a:ext>
            </a:extLst>
          </p:cNvPr>
          <p:cNvSpPr>
            <a:spLocks noGrp="1"/>
          </p:cNvSpPr>
          <p:nvPr/>
        </p:nvSpPr>
        <p:spPr>
          <a:xfrm>
            <a:off x="7781925" y="3505200"/>
            <a:ext cx="990600" cy="333375"/>
          </a:xfrm>
          <a:prstGeom prst="rect">
            <a:avLst/>
          </a:prstGeom>
          <a:noFill/>
          <a:ln w="0">
            <a:noFill/>
            <a:prstDash val="solid"/>
          </a:ln>
        </p:spPr>
        <p:txBody>
          <a:bodyPr wrap="square" lIns="0" tIns="0" rIns="0" bIns="0" anchor="ctr">
            <a:noAutofit/>
          </a:bodyPr>
          <a:lstStyle/>
          <a:p>
            <a:pPr algn="l">
              <a:defRPr sz="1275" b="0">
                <a:solidFill>
                  <a:srgbClr val="B4B4BD"/>
                </a:solidFill>
                <a:latin typeface="Segoe UI"/>
                <a:ea typeface="Segoe UI"/>
                <a:cs typeface="Segoe UI"/>
              </a:defRPr>
            </a:pPr>
            <a:r>
              <a:rPr sz="1275" b="0">
                <a:solidFill>
                  <a:srgbClr val="B4B4BD"/>
                </a:solidFill>
                <a:latin typeface="Segoe UI"/>
                <a:ea typeface="Segoe UI"/>
                <a:cs typeface="Segoe UI"/>
              </a:rPr>
              <a:t>Pinned TLS</a:t>
            </a:r>
          </a:p>
        </p:txBody>
      </p:sp>
      <p:sp>
        <p:nvSpPr>
          <p:cNvPr id="37" name="divider">
            <a:extLst>
              <a:ext uri="{FF2B5EF4-FFF2-40B4-BE49-F238E27FC236}">
                <a16:creationId xmlns:a16="http://schemas.microsoft.com/office/drawing/2014/main" id="{313DDC74-493A-4BD8-9934-95FF8C4BF64E}"/>
              </a:ext>
            </a:extLst>
          </p:cNvPr>
          <p:cNvSpPr>
            <a:spLocks noGrp="1"/>
          </p:cNvSpPr>
          <p:nvPr/>
        </p:nvSpPr>
        <p:spPr>
          <a:xfrm>
            <a:off x="685800" y="4162425"/>
            <a:ext cx="10820400" cy="14288"/>
          </a:xfrm>
          <a:prstGeom prst="rect">
            <a:avLst/>
          </a:prstGeom>
          <a:solidFill>
            <a:srgbClr val="51515B"/>
          </a:solidFill>
          <a:ln w="0">
            <a:noFill/>
            <a:prstDash val="solid"/>
          </a:ln>
        </p:spPr>
      </p:sp>
      <p:sp>
        <p:nvSpPr>
          <p:cNvPr id="38" name="core-shared">
            <a:extLst>
              <a:ext uri="{FF2B5EF4-FFF2-40B4-BE49-F238E27FC236}">
                <a16:creationId xmlns:a16="http://schemas.microsoft.com/office/drawing/2014/main" id="{9D9BE761-DA7F-47D4-8195-098372117775}"/>
              </a:ext>
            </a:extLst>
          </p:cNvPr>
          <p:cNvSpPr>
            <a:spLocks noGrp="1"/>
          </p:cNvSpPr>
          <p:nvPr/>
        </p:nvSpPr>
        <p:spPr>
          <a:xfrm>
            <a:off x="685800" y="4476750"/>
            <a:ext cx="2762250" cy="447675"/>
          </a:xfrm>
          <a:prstGeom prst="rect">
            <a:avLst/>
          </a:prstGeom>
          <a:noFill/>
          <a:ln w="0">
            <a:noFill/>
            <a:prstDash val="solid"/>
          </a:ln>
        </p:spPr>
        <p:txBody>
          <a:bodyPr wrap="square" lIns="0" tIns="0" rIns="0" bIns="0" anchor="ctr">
            <a:noAutofit/>
          </a:bodyPr>
          <a:lstStyle/>
          <a:p>
            <a:pPr algn="l">
              <a:defRPr sz="2700" b="1">
                <a:solidFill>
                  <a:srgbClr val="FFFFFF"/>
                </a:solidFill>
                <a:latin typeface="Segoe UI"/>
                <a:ea typeface="Segoe UI"/>
                <a:cs typeface="Segoe UI"/>
              </a:defRPr>
            </a:pPr>
            <a:r>
              <a:rPr sz="2700" b="1">
                <a:solidFill>
                  <a:srgbClr val="FFFFFF"/>
                </a:solidFill>
                <a:latin typeface="Segoe UI"/>
                <a:ea typeface="Segoe UI"/>
                <a:cs typeface="Segoe UI"/>
              </a:rPr>
              <a:t>core-shared</a:t>
            </a:r>
          </a:p>
        </p:txBody>
      </p:sp>
      <p:sp>
        <p:nvSpPr>
          <p:cNvPr id="39" name="Cryptography  /  binary codec  /  sessio">
            <a:extLst>
              <a:ext uri="{FF2B5EF4-FFF2-40B4-BE49-F238E27FC236}">
                <a16:creationId xmlns:a16="http://schemas.microsoft.com/office/drawing/2014/main" id="{6E87524A-830E-4E97-97FF-B6AD41D1EED9}"/>
              </a:ext>
            </a:extLst>
          </p:cNvPr>
          <p:cNvSpPr>
            <a:spLocks noGrp="1"/>
          </p:cNvSpPr>
          <p:nvPr/>
        </p:nvSpPr>
        <p:spPr>
          <a:xfrm>
            <a:off x="3714750" y="4495800"/>
            <a:ext cx="7791450" cy="400050"/>
          </a:xfrm>
          <a:prstGeom prst="rect">
            <a:avLst/>
          </a:prstGeom>
          <a:noFill/>
          <a:ln w="0">
            <a:noFill/>
            <a:prstDash val="solid"/>
          </a:ln>
        </p:spPr>
        <p:txBody>
          <a:bodyPr wrap="square" lIns="0" tIns="0" rIns="0" bIns="0" anchor="ctr">
            <a:noAutofit/>
          </a:bodyPr>
          <a:lstStyle/>
          <a:p>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Cryptography  /  binary codec  /  session state</a:t>
            </a:r>
          </a:p>
        </p:txBody>
      </p:sp>
      <p:sp>
        <p:nvSpPr>
          <p:cNvPr id="40" name="Client-held E2EE keys never need to ente">
            <a:extLst>
              <a:ext uri="{FF2B5EF4-FFF2-40B4-BE49-F238E27FC236}">
                <a16:creationId xmlns:a16="http://schemas.microsoft.com/office/drawing/2014/main" id="{EF014F3B-0A7E-4028-B36A-E428BE55742F}"/>
              </a:ext>
            </a:extLst>
          </p:cNvPr>
          <p:cNvSpPr>
            <a:spLocks noGrp="1"/>
          </p:cNvSpPr>
          <p:nvPr/>
        </p:nvSpPr>
        <p:spPr>
          <a:xfrm>
            <a:off x="3714750" y="5038725"/>
            <a:ext cx="7791450" cy="523875"/>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Client-held E2EE keys never need to enter the relay.</a:t>
            </a:r>
          </a:p>
        </p:txBody>
      </p:sp>
    </p:spTree>
    <p:extLst>
      <p:ext uri="{BB962C8B-B14F-4D97-AF65-F5344CB8AC3E}">
        <p14:creationId xmlns:p14="http://schemas.microsoft.com/office/powerpoint/2010/main" val="205268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1F802A-A732-42D7-97EA-9A731E5A99DE}"/>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B25DF53-B6C1-4568-8ADF-E787A01E2E7B}"/>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F7160B70-90E7-4258-B8CD-14538CE1892D}"/>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03 / 10</a:t>
            </a:r>
          </a:p>
        </p:txBody>
      </p:sp>
      <p:sp>
        <p:nvSpPr>
          <p:cNvPr id="14" name="TextBox 13">
            <a:extLst>
              <a:ext uri="{FF2B5EF4-FFF2-40B4-BE49-F238E27FC236}">
                <a16:creationId xmlns:a16="http://schemas.microsoft.com/office/drawing/2014/main" id="{0627DFBE-3211-4268-8153-38FF6A33C11A}"/>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A handshake creates the session key</a:t>
            </a:r>
          </a:p>
        </p:txBody>
      </p:sp>
      <p:sp>
        <p:nvSpPr>
          <p:cNvPr id="15" name="TextBox 14">
            <a:extLst>
              <a:ext uri="{FF2B5EF4-FFF2-40B4-BE49-F238E27FC236}">
                <a16:creationId xmlns:a16="http://schemas.microsoft.com/office/drawing/2014/main" id="{24B9D112-8E92-4F6E-B51D-5B06AC6E7CCC}"/>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Identity authentication → key agreement → authenticated encryption</a:t>
            </a:r>
          </a:p>
        </p:txBody>
      </p:sp>
      <p:sp>
        <p:nvSpPr>
          <p:cNvPr id="16" name="divider">
            <a:extLst>
              <a:ext uri="{FF2B5EF4-FFF2-40B4-BE49-F238E27FC236}">
                <a16:creationId xmlns:a16="http://schemas.microsoft.com/office/drawing/2014/main" id="{827D04FC-80D8-4B58-AB2B-00F7C0E25DAD}"/>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CAA535C1-9954-4A86-AEB6-123F60F05031}"/>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3164391D-0C75-4365-A51A-CB54F3A7A1F1}"/>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18CAF2F8-EE3E-4AD3-A447-452C5033A5F7}"/>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68BBBEF2-83E6-4BFC-B3A3-1103D97BCA4B}"/>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3630F59A-23D5-4364-862E-732F9B2BC228}"/>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8" action="ppaction://hlinksldjump"/>
            <a:extLst>
              <a:ext uri="{FF2B5EF4-FFF2-40B4-BE49-F238E27FC236}">
                <a16:creationId xmlns:a16="http://schemas.microsoft.com/office/drawing/2014/main" id="{D9883E99-76A9-4D4A-8B43-4F54C4B3F47A}"/>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9" action="ppaction://hlinksldjump"/>
            <a:extLst>
              <a:ext uri="{FF2B5EF4-FFF2-40B4-BE49-F238E27FC236}">
                <a16:creationId xmlns:a16="http://schemas.microsoft.com/office/drawing/2014/main" id="{D62F4ECB-28B9-452F-8309-750870F13CF6}"/>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C5C2FEC7-D596-47A4-B1D0-3357C74BA05B}"/>
              </a:ext>
            </a:extLst>
          </p:cNvPr>
          <p:cNvSpPr>
            <a:spLocks noGrp="1"/>
          </p:cNvSpPr>
          <p:nvPr/>
        </p:nvSpPr>
        <p:spPr>
          <a:xfrm>
            <a:off x="3143250" y="3343275"/>
            <a:ext cx="266700"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F199D2EC-0F26-4754-A089-FE62E1B82323}"/>
              </a:ext>
            </a:extLst>
          </p:cNvPr>
          <p:cNvSpPr>
            <a:spLocks noGrp="1"/>
          </p:cNvSpPr>
          <p:nvPr/>
        </p:nvSpPr>
        <p:spPr>
          <a:xfrm>
            <a:off x="5934075" y="3343275"/>
            <a:ext cx="266700" cy="171450"/>
          </a:xfrm>
          <a:prstGeom prst="rightArrow">
            <a:avLst/>
          </a:prstGeom>
          <a:solidFill>
            <a:srgbClr val="B4B4BD"/>
          </a:solidFill>
          <a:ln w="0">
            <a:noFill/>
            <a:prstDash val="solid"/>
          </a:ln>
        </p:spPr>
      </p:sp>
      <p:sp>
        <p:nvSpPr>
          <p:cNvPr id="26" name="flow arrow">
            <a:extLst>
              <a:ext uri="{FF2B5EF4-FFF2-40B4-BE49-F238E27FC236}">
                <a16:creationId xmlns:a16="http://schemas.microsoft.com/office/drawing/2014/main" id="{B31D84CF-A660-474D-B299-339C185A0708}"/>
              </a:ext>
            </a:extLst>
          </p:cNvPr>
          <p:cNvSpPr>
            <a:spLocks noGrp="1"/>
          </p:cNvSpPr>
          <p:nvPr/>
        </p:nvSpPr>
        <p:spPr>
          <a:xfrm>
            <a:off x="8724900" y="3343275"/>
            <a:ext cx="266700" cy="171450"/>
          </a:xfrm>
          <a:prstGeom prst="rightArrow">
            <a:avLst/>
          </a:prstGeom>
          <a:solidFill>
            <a:srgbClr val="B4B4BD"/>
          </a:solidFill>
          <a:ln w="0">
            <a:noFill/>
            <a:prstDash val="solid"/>
          </a:ln>
        </p:spPr>
      </p:sp>
      <p:sp>
        <p:nvSpPr>
          <p:cNvPr id="27" name="01">
            <a:extLst>
              <a:ext uri="{FF2B5EF4-FFF2-40B4-BE49-F238E27FC236}">
                <a16:creationId xmlns:a16="http://schemas.microsoft.com/office/drawing/2014/main" id="{D66DB24A-20C0-4874-88CC-E364E174183D}"/>
              </a:ext>
            </a:extLst>
          </p:cNvPr>
          <p:cNvSpPr>
            <a:spLocks noGrp="1"/>
          </p:cNvSpPr>
          <p:nvPr/>
        </p:nvSpPr>
        <p:spPr>
          <a:xfrm>
            <a:off x="685800" y="2476500"/>
            <a:ext cx="1143000" cy="523875"/>
          </a:xfrm>
          <a:prstGeom prst="rect">
            <a:avLst/>
          </a:prstGeom>
          <a:noFill/>
          <a:ln w="0">
            <a:noFill/>
            <a:prstDash val="solid"/>
          </a:ln>
        </p:spPr>
        <p:txBody>
          <a:bodyPr wrap="square" lIns="0" tIns="0" rIns="0" bIns="0" anchor="ctr">
            <a:noAutofit/>
          </a:bodyPr>
          <a:lstStyle/>
          <a:p>
            <a:pPr algn="l">
              <a:defRPr sz="2850" b="0">
                <a:solidFill>
                  <a:srgbClr val="B4B4BD"/>
                </a:solidFill>
                <a:latin typeface="Segoe UI"/>
                <a:ea typeface="Segoe UI"/>
                <a:cs typeface="Segoe UI"/>
              </a:defRPr>
            </a:pPr>
            <a:r>
              <a:rPr sz="2850" b="0">
                <a:solidFill>
                  <a:srgbClr val="B4B4BD"/>
                </a:solidFill>
                <a:latin typeface="Segoe UI"/>
                <a:ea typeface="Segoe UI"/>
                <a:cs typeface="Segoe UI"/>
              </a:rPr>
              <a:t>01</a:t>
            </a:r>
          </a:p>
        </p:txBody>
      </p:sp>
      <p:sp>
        <p:nvSpPr>
          <p:cNvPr id="28" name="Authenticate node">
            <a:extLst>
              <a:ext uri="{FF2B5EF4-FFF2-40B4-BE49-F238E27FC236}">
                <a16:creationId xmlns:a16="http://schemas.microsoft.com/office/drawing/2014/main" id="{9BFD5C85-8D9E-4A59-ACD8-245A2A489C68}"/>
              </a:ext>
            </a:extLst>
          </p:cNvPr>
          <p:cNvSpPr>
            <a:spLocks noGrp="1"/>
          </p:cNvSpPr>
          <p:nvPr/>
        </p:nvSpPr>
        <p:spPr>
          <a:xfrm>
            <a:off x="685800" y="3105150"/>
            <a:ext cx="2447925" cy="1685925"/>
          </a:xfrm>
          <a:prstGeom prst="rect">
            <a:avLst/>
          </a:prstGeom>
          <a:solidFill>
            <a:srgbClr val="17171C"/>
          </a:solidFill>
          <a:ln w="14288">
            <a:solidFill>
              <a:srgbClr val="51515B"/>
            </a:solidFill>
            <a:prstDash val="solid"/>
          </a:ln>
        </p:spPr>
      </p:sp>
      <p:sp>
        <p:nvSpPr>
          <p:cNvPr id="29" name="Authenticate">
            <a:extLst>
              <a:ext uri="{FF2B5EF4-FFF2-40B4-BE49-F238E27FC236}">
                <a16:creationId xmlns:a16="http://schemas.microsoft.com/office/drawing/2014/main" id="{172F3CF9-47D1-4D34-9B0C-A1022DA930F1}"/>
              </a:ext>
            </a:extLst>
          </p:cNvPr>
          <p:cNvSpPr>
            <a:spLocks noGrp="1"/>
          </p:cNvSpPr>
          <p:nvPr/>
        </p:nvSpPr>
        <p:spPr>
          <a:xfrm>
            <a:off x="876300" y="3276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Authenticate</a:t>
            </a:r>
          </a:p>
        </p:txBody>
      </p:sp>
      <p:sp>
        <p:nvSpPr>
          <p:cNvPr id="30" name="RSA identity&#10;Signed handshake">
            <a:extLst>
              <a:ext uri="{FF2B5EF4-FFF2-40B4-BE49-F238E27FC236}">
                <a16:creationId xmlns:a16="http://schemas.microsoft.com/office/drawing/2014/main" id="{BAFBA50D-CB93-472B-A5B8-3574C632D045}"/>
              </a:ext>
            </a:extLst>
          </p:cNvPr>
          <p:cNvSpPr>
            <a:spLocks noGrp="1"/>
          </p:cNvSpPr>
          <p:nvPr/>
        </p:nvSpPr>
        <p:spPr>
          <a:xfrm>
            <a:off x="876300" y="3752850"/>
            <a:ext cx="2066925" cy="9525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RSA identity</a:t>
            </a:r>
          </a:p>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Signed handshake</a:t>
            </a:r>
          </a:p>
        </p:txBody>
      </p:sp>
      <p:sp>
        <p:nvSpPr>
          <p:cNvPr id="31" name="02">
            <a:extLst>
              <a:ext uri="{FF2B5EF4-FFF2-40B4-BE49-F238E27FC236}">
                <a16:creationId xmlns:a16="http://schemas.microsoft.com/office/drawing/2014/main" id="{7331B631-5E2E-479D-B070-DC7EE25C321D}"/>
              </a:ext>
            </a:extLst>
          </p:cNvPr>
          <p:cNvSpPr>
            <a:spLocks noGrp="1"/>
          </p:cNvSpPr>
          <p:nvPr/>
        </p:nvSpPr>
        <p:spPr>
          <a:xfrm>
            <a:off x="3476625" y="2476500"/>
            <a:ext cx="1143000" cy="523875"/>
          </a:xfrm>
          <a:prstGeom prst="rect">
            <a:avLst/>
          </a:prstGeom>
          <a:noFill/>
          <a:ln w="0">
            <a:noFill/>
            <a:prstDash val="solid"/>
          </a:ln>
        </p:spPr>
        <p:txBody>
          <a:bodyPr wrap="square" lIns="0" tIns="0" rIns="0" bIns="0" anchor="ctr">
            <a:noAutofit/>
          </a:bodyPr>
          <a:lstStyle/>
          <a:p>
            <a:pPr algn="l">
              <a:defRPr sz="2850" b="0">
                <a:solidFill>
                  <a:srgbClr val="B4B4BD"/>
                </a:solidFill>
                <a:latin typeface="Segoe UI"/>
                <a:ea typeface="Segoe UI"/>
                <a:cs typeface="Segoe UI"/>
              </a:defRPr>
            </a:pPr>
            <a:r>
              <a:rPr sz="2850" b="0">
                <a:solidFill>
                  <a:srgbClr val="B4B4BD"/>
                </a:solidFill>
                <a:latin typeface="Segoe UI"/>
                <a:ea typeface="Segoe UI"/>
                <a:cs typeface="Segoe UI"/>
              </a:rPr>
              <a:t>02</a:t>
            </a:r>
          </a:p>
        </p:txBody>
      </p:sp>
      <p:sp>
        <p:nvSpPr>
          <p:cNvPr id="32" name="Agree node">
            <a:extLst>
              <a:ext uri="{FF2B5EF4-FFF2-40B4-BE49-F238E27FC236}">
                <a16:creationId xmlns:a16="http://schemas.microsoft.com/office/drawing/2014/main" id="{19E6FB93-2EE6-470F-B105-5CDF9DAE8905}"/>
              </a:ext>
            </a:extLst>
          </p:cNvPr>
          <p:cNvSpPr>
            <a:spLocks noGrp="1"/>
          </p:cNvSpPr>
          <p:nvPr/>
        </p:nvSpPr>
        <p:spPr>
          <a:xfrm>
            <a:off x="3476625" y="3105150"/>
            <a:ext cx="2447925" cy="1685925"/>
          </a:xfrm>
          <a:prstGeom prst="rect">
            <a:avLst/>
          </a:prstGeom>
          <a:solidFill>
            <a:srgbClr val="17171C"/>
          </a:solidFill>
          <a:ln w="14288">
            <a:solidFill>
              <a:srgbClr val="51515B"/>
            </a:solidFill>
            <a:prstDash val="solid"/>
          </a:ln>
        </p:spPr>
      </p:sp>
      <p:sp>
        <p:nvSpPr>
          <p:cNvPr id="33" name="Agree">
            <a:extLst>
              <a:ext uri="{FF2B5EF4-FFF2-40B4-BE49-F238E27FC236}">
                <a16:creationId xmlns:a16="http://schemas.microsoft.com/office/drawing/2014/main" id="{CF78CE2F-48A1-4BDE-8112-BC12A2AABBCA}"/>
              </a:ext>
            </a:extLst>
          </p:cNvPr>
          <p:cNvSpPr>
            <a:spLocks noGrp="1"/>
          </p:cNvSpPr>
          <p:nvPr/>
        </p:nvSpPr>
        <p:spPr>
          <a:xfrm>
            <a:off x="3667125" y="3276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Agree</a:t>
            </a:r>
          </a:p>
        </p:txBody>
      </p:sp>
      <p:sp>
        <p:nvSpPr>
          <p:cNvPr id="34" name="DH Group 14&#10;Validate peer value">
            <a:extLst>
              <a:ext uri="{FF2B5EF4-FFF2-40B4-BE49-F238E27FC236}">
                <a16:creationId xmlns:a16="http://schemas.microsoft.com/office/drawing/2014/main" id="{716B3194-4B5F-4617-BB38-2D7B1196CB5A}"/>
              </a:ext>
            </a:extLst>
          </p:cNvPr>
          <p:cNvSpPr>
            <a:spLocks noGrp="1"/>
          </p:cNvSpPr>
          <p:nvPr/>
        </p:nvSpPr>
        <p:spPr>
          <a:xfrm>
            <a:off x="3667125" y="3752850"/>
            <a:ext cx="2066925" cy="9525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DH Group 14</a:t>
            </a:r>
          </a:p>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Validate peer value</a:t>
            </a:r>
          </a:p>
        </p:txBody>
      </p:sp>
      <p:sp>
        <p:nvSpPr>
          <p:cNvPr id="35" name="03">
            <a:extLst>
              <a:ext uri="{FF2B5EF4-FFF2-40B4-BE49-F238E27FC236}">
                <a16:creationId xmlns:a16="http://schemas.microsoft.com/office/drawing/2014/main" id="{33357FB7-4C28-495A-B1A8-6D48DB55C054}"/>
              </a:ext>
            </a:extLst>
          </p:cNvPr>
          <p:cNvSpPr>
            <a:spLocks noGrp="1"/>
          </p:cNvSpPr>
          <p:nvPr/>
        </p:nvSpPr>
        <p:spPr>
          <a:xfrm>
            <a:off x="6267450" y="2476500"/>
            <a:ext cx="1143000" cy="523875"/>
          </a:xfrm>
          <a:prstGeom prst="rect">
            <a:avLst/>
          </a:prstGeom>
          <a:noFill/>
          <a:ln w="0">
            <a:noFill/>
            <a:prstDash val="solid"/>
          </a:ln>
        </p:spPr>
        <p:txBody>
          <a:bodyPr wrap="square" lIns="0" tIns="0" rIns="0" bIns="0" anchor="ctr">
            <a:noAutofit/>
          </a:bodyPr>
          <a:lstStyle/>
          <a:p>
            <a:pPr algn="l">
              <a:defRPr sz="2850" b="0">
                <a:solidFill>
                  <a:srgbClr val="B4B4BD"/>
                </a:solidFill>
                <a:latin typeface="Segoe UI"/>
                <a:ea typeface="Segoe UI"/>
                <a:cs typeface="Segoe UI"/>
              </a:defRPr>
            </a:pPr>
            <a:r>
              <a:rPr sz="2850" b="0">
                <a:solidFill>
                  <a:srgbClr val="B4B4BD"/>
                </a:solidFill>
                <a:latin typeface="Segoe UI"/>
                <a:ea typeface="Segoe UI"/>
                <a:cs typeface="Segoe UI"/>
              </a:rPr>
              <a:t>03</a:t>
            </a:r>
          </a:p>
        </p:txBody>
      </p:sp>
      <p:sp>
        <p:nvSpPr>
          <p:cNvPr id="36" name="Derive node">
            <a:extLst>
              <a:ext uri="{FF2B5EF4-FFF2-40B4-BE49-F238E27FC236}">
                <a16:creationId xmlns:a16="http://schemas.microsoft.com/office/drawing/2014/main" id="{34F337F1-21B4-4D8B-AF3F-9C1CD470B59F}"/>
              </a:ext>
            </a:extLst>
          </p:cNvPr>
          <p:cNvSpPr>
            <a:spLocks noGrp="1"/>
          </p:cNvSpPr>
          <p:nvPr/>
        </p:nvSpPr>
        <p:spPr>
          <a:xfrm>
            <a:off x="6267450" y="3105150"/>
            <a:ext cx="2447925" cy="1685925"/>
          </a:xfrm>
          <a:prstGeom prst="rect">
            <a:avLst/>
          </a:prstGeom>
          <a:solidFill>
            <a:srgbClr val="17171C"/>
          </a:solidFill>
          <a:ln w="14288">
            <a:solidFill>
              <a:srgbClr val="51515B"/>
            </a:solidFill>
            <a:prstDash val="solid"/>
          </a:ln>
        </p:spPr>
      </p:sp>
      <p:sp>
        <p:nvSpPr>
          <p:cNvPr id="37" name="Derive">
            <a:extLst>
              <a:ext uri="{FF2B5EF4-FFF2-40B4-BE49-F238E27FC236}">
                <a16:creationId xmlns:a16="http://schemas.microsoft.com/office/drawing/2014/main" id="{2D272EE3-B3A8-4A6E-A75F-75599B06A0D5}"/>
              </a:ext>
            </a:extLst>
          </p:cNvPr>
          <p:cNvSpPr>
            <a:spLocks noGrp="1"/>
          </p:cNvSpPr>
          <p:nvPr/>
        </p:nvSpPr>
        <p:spPr>
          <a:xfrm>
            <a:off x="6457950" y="3276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Derive</a:t>
            </a:r>
          </a:p>
        </p:txBody>
      </p:sp>
      <p:sp>
        <p:nvSpPr>
          <p:cNvPr id="38" name="Normalize secret&#10;HKDF-SHA256">
            <a:extLst>
              <a:ext uri="{FF2B5EF4-FFF2-40B4-BE49-F238E27FC236}">
                <a16:creationId xmlns:a16="http://schemas.microsoft.com/office/drawing/2014/main" id="{158144EA-5708-4BF9-B814-0FE935BF501C}"/>
              </a:ext>
            </a:extLst>
          </p:cNvPr>
          <p:cNvSpPr>
            <a:spLocks noGrp="1"/>
          </p:cNvSpPr>
          <p:nvPr/>
        </p:nvSpPr>
        <p:spPr>
          <a:xfrm>
            <a:off x="6457950" y="3752850"/>
            <a:ext cx="2066925" cy="9525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Normalize secret</a:t>
            </a:r>
          </a:p>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HKDF-SHA256</a:t>
            </a:r>
          </a:p>
        </p:txBody>
      </p:sp>
      <p:sp>
        <p:nvSpPr>
          <p:cNvPr id="39" name="04">
            <a:extLst>
              <a:ext uri="{FF2B5EF4-FFF2-40B4-BE49-F238E27FC236}">
                <a16:creationId xmlns:a16="http://schemas.microsoft.com/office/drawing/2014/main" id="{40FB2368-0A80-487A-BC2A-EC57DE489FA0}"/>
              </a:ext>
            </a:extLst>
          </p:cNvPr>
          <p:cNvSpPr>
            <a:spLocks noGrp="1"/>
          </p:cNvSpPr>
          <p:nvPr/>
        </p:nvSpPr>
        <p:spPr>
          <a:xfrm>
            <a:off x="9058275" y="2476500"/>
            <a:ext cx="1143000" cy="523875"/>
          </a:xfrm>
          <a:prstGeom prst="rect">
            <a:avLst/>
          </a:prstGeom>
          <a:noFill/>
          <a:ln w="0">
            <a:noFill/>
            <a:prstDash val="solid"/>
          </a:ln>
        </p:spPr>
        <p:txBody>
          <a:bodyPr wrap="square" lIns="0" tIns="0" rIns="0" bIns="0" anchor="ctr">
            <a:noAutofit/>
          </a:bodyPr>
          <a:lstStyle/>
          <a:p>
            <a:pPr algn="l">
              <a:defRPr sz="2850" b="0">
                <a:solidFill>
                  <a:srgbClr val="B4B4BD"/>
                </a:solidFill>
                <a:latin typeface="Segoe UI"/>
                <a:ea typeface="Segoe UI"/>
                <a:cs typeface="Segoe UI"/>
              </a:defRPr>
            </a:pPr>
            <a:r>
              <a:rPr sz="2850" b="0">
                <a:solidFill>
                  <a:srgbClr val="B4B4BD"/>
                </a:solidFill>
                <a:latin typeface="Segoe UI"/>
                <a:ea typeface="Segoe UI"/>
                <a:cs typeface="Segoe UI"/>
              </a:rPr>
              <a:t>04</a:t>
            </a:r>
          </a:p>
        </p:txBody>
      </p:sp>
      <p:sp>
        <p:nvSpPr>
          <p:cNvPr id="40" name="Encrypt node">
            <a:extLst>
              <a:ext uri="{FF2B5EF4-FFF2-40B4-BE49-F238E27FC236}">
                <a16:creationId xmlns:a16="http://schemas.microsoft.com/office/drawing/2014/main" id="{86E5D9DB-FF9F-4B41-A843-37F2D9D477EC}"/>
              </a:ext>
            </a:extLst>
          </p:cNvPr>
          <p:cNvSpPr>
            <a:spLocks noGrp="1"/>
          </p:cNvSpPr>
          <p:nvPr/>
        </p:nvSpPr>
        <p:spPr>
          <a:xfrm>
            <a:off x="9058275" y="3105150"/>
            <a:ext cx="2447925" cy="1685925"/>
          </a:xfrm>
          <a:prstGeom prst="rect">
            <a:avLst/>
          </a:prstGeom>
          <a:solidFill>
            <a:srgbClr val="17171C"/>
          </a:solidFill>
          <a:ln w="14288">
            <a:solidFill>
              <a:srgbClr val="51515B"/>
            </a:solidFill>
            <a:prstDash val="solid"/>
          </a:ln>
        </p:spPr>
      </p:sp>
      <p:sp>
        <p:nvSpPr>
          <p:cNvPr id="41" name="Encrypt">
            <a:extLst>
              <a:ext uri="{FF2B5EF4-FFF2-40B4-BE49-F238E27FC236}">
                <a16:creationId xmlns:a16="http://schemas.microsoft.com/office/drawing/2014/main" id="{2475D8B8-A7DA-4739-A9EF-F68E74474C1F}"/>
              </a:ext>
            </a:extLst>
          </p:cNvPr>
          <p:cNvSpPr>
            <a:spLocks noGrp="1"/>
          </p:cNvSpPr>
          <p:nvPr/>
        </p:nvSpPr>
        <p:spPr>
          <a:xfrm>
            <a:off x="9248775" y="3276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Encrypt</a:t>
            </a:r>
          </a:p>
        </p:txBody>
      </p:sp>
      <p:sp>
        <p:nvSpPr>
          <p:cNvPr id="42" name="AES-256-GCM&#10;Client-held key">
            <a:extLst>
              <a:ext uri="{FF2B5EF4-FFF2-40B4-BE49-F238E27FC236}">
                <a16:creationId xmlns:a16="http://schemas.microsoft.com/office/drawing/2014/main" id="{4572758F-05E9-4A71-BC28-421F4214E84D}"/>
              </a:ext>
            </a:extLst>
          </p:cNvPr>
          <p:cNvSpPr>
            <a:spLocks noGrp="1"/>
          </p:cNvSpPr>
          <p:nvPr/>
        </p:nvSpPr>
        <p:spPr>
          <a:xfrm>
            <a:off x="9248775" y="3752850"/>
            <a:ext cx="2066925" cy="9525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AES-256-GCM</a:t>
            </a:r>
          </a:p>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Client-held key</a:t>
            </a:r>
          </a:p>
        </p:txBody>
      </p:sp>
      <p:sp>
        <p:nvSpPr>
          <p:cNvPr id="43" name="Pinned TLS protects transport on each cl">
            <a:extLst>
              <a:ext uri="{FF2B5EF4-FFF2-40B4-BE49-F238E27FC236}">
                <a16:creationId xmlns:a16="http://schemas.microsoft.com/office/drawing/2014/main" id="{41FD4545-A010-4583-A06F-0725A1D081BA}"/>
              </a:ext>
            </a:extLst>
          </p:cNvPr>
          <p:cNvSpPr>
            <a:spLocks noGrp="1"/>
          </p:cNvSpPr>
          <p:nvPr/>
        </p:nvSpPr>
        <p:spPr>
          <a:xfrm>
            <a:off x="685800" y="5257800"/>
            <a:ext cx="10820400" cy="457200"/>
          </a:xfrm>
          <a:prstGeom prst="rect">
            <a:avLst/>
          </a:prstGeom>
          <a:noFill/>
          <a:ln w="0">
            <a:noFill/>
            <a:prstDash val="solid"/>
          </a:ln>
        </p:spPr>
        <p:txBody>
          <a:bodyPr wrap="square" lIns="0" tIns="0" rIns="0" bIns="0" anchor="ctr">
            <a:noAutofit/>
          </a:bodyPr>
          <a:lstStyle/>
          <a:p>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Pinned TLS protects transport on each client ↔ relay connection.</a:t>
            </a:r>
          </a:p>
        </p:txBody>
      </p:sp>
    </p:spTree>
    <p:extLst>
      <p:ext uri="{BB962C8B-B14F-4D97-AF65-F5344CB8AC3E}">
        <p14:creationId xmlns:p14="http://schemas.microsoft.com/office/powerpoint/2010/main" val="1258688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EA195C-AC3A-4768-8F66-498073A8A994}"/>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CE0DECC-06C8-498D-8475-BC2033240B48}"/>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A9D54862-B656-43EB-90E9-809EF21D9445}"/>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04 / 10</a:t>
            </a:r>
          </a:p>
        </p:txBody>
      </p:sp>
      <p:sp>
        <p:nvSpPr>
          <p:cNvPr id="14" name="TextBox 13">
            <a:extLst>
              <a:ext uri="{FF2B5EF4-FFF2-40B4-BE49-F238E27FC236}">
                <a16:creationId xmlns:a16="http://schemas.microsoft.com/office/drawing/2014/main" id="{E00B2BB0-E360-4794-9B41-DBFF3563C4C5}"/>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Every message needs a unique nonce</a:t>
            </a:r>
          </a:p>
        </p:txBody>
      </p:sp>
      <p:sp>
        <p:nvSpPr>
          <p:cNvPr id="15" name="TextBox 14">
            <a:extLst>
              <a:ext uri="{FF2B5EF4-FFF2-40B4-BE49-F238E27FC236}">
                <a16:creationId xmlns:a16="http://schemas.microsoft.com/office/drawing/2014/main" id="{7F6F22FB-6041-4D93-9418-8B36E6E73935}"/>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A 12-byte structure separates directions and advances with each send.</a:t>
            </a:r>
          </a:p>
        </p:txBody>
      </p:sp>
      <p:sp>
        <p:nvSpPr>
          <p:cNvPr id="16" name="divider">
            <a:extLst>
              <a:ext uri="{FF2B5EF4-FFF2-40B4-BE49-F238E27FC236}">
                <a16:creationId xmlns:a16="http://schemas.microsoft.com/office/drawing/2014/main" id="{20BB587B-B774-46D8-9496-DB191F0DFF7B}"/>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72F35E1B-67D4-40C1-A00B-11414FCF9D8F}"/>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52E5540E-94E1-4573-BDC5-42930A09716E}"/>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244C8D12-EF64-4007-B4DA-2F6B912CC379}"/>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76796B37-224F-49D3-BF40-F31CC6D7E6E0}"/>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E3CF8EB6-3393-48C1-97AB-4303774D9BD9}"/>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4" action="ppaction://hlinksldjump"/>
            <a:extLst>
              <a:ext uri="{FF2B5EF4-FFF2-40B4-BE49-F238E27FC236}">
                <a16:creationId xmlns:a16="http://schemas.microsoft.com/office/drawing/2014/main" id="{EA509DD5-F881-482C-998E-8C0026EB6FCA}"/>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5" action="ppaction://hlinksldjump"/>
            <a:extLst>
              <a:ext uri="{FF2B5EF4-FFF2-40B4-BE49-F238E27FC236}">
                <a16:creationId xmlns:a16="http://schemas.microsoft.com/office/drawing/2014/main" id="{B7BFA575-2781-4775-ABB7-F46B1CA37338}"/>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96-bit GCM nonce">
            <a:extLst>
              <a:ext uri="{FF2B5EF4-FFF2-40B4-BE49-F238E27FC236}">
                <a16:creationId xmlns:a16="http://schemas.microsoft.com/office/drawing/2014/main" id="{5BB32469-E10E-4AB5-847E-169116AB2B3A}"/>
              </a:ext>
            </a:extLst>
          </p:cNvPr>
          <p:cNvSpPr>
            <a:spLocks noGrp="1"/>
          </p:cNvSpPr>
          <p:nvPr/>
        </p:nvSpPr>
        <p:spPr>
          <a:xfrm>
            <a:off x="685800" y="2495550"/>
            <a:ext cx="6286500" cy="466725"/>
          </a:xfrm>
          <a:prstGeom prst="rect">
            <a:avLst/>
          </a:prstGeom>
          <a:noFill/>
          <a:ln w="0">
            <a:noFill/>
            <a:prstDash val="solid"/>
          </a:ln>
        </p:spPr>
        <p:txBody>
          <a:bodyPr wrap="square" lIns="0" tIns="0" rIns="0" bIns="0" anchor="ctr">
            <a:noAutofit/>
          </a:bodyPr>
          <a:lstStyle/>
          <a:p>
            <a:pPr algn="l">
              <a:defRPr sz="2625" b="1">
                <a:solidFill>
                  <a:srgbClr val="FFFFFF"/>
                </a:solidFill>
                <a:latin typeface="Segoe UI"/>
                <a:ea typeface="Segoe UI"/>
                <a:cs typeface="Segoe UI"/>
              </a:defRPr>
            </a:pPr>
            <a:r>
              <a:rPr sz="2625" b="1">
                <a:solidFill>
                  <a:srgbClr val="FFFFFF"/>
                </a:solidFill>
                <a:latin typeface="Segoe UI"/>
                <a:ea typeface="Segoe UI"/>
                <a:cs typeface="Segoe UI"/>
              </a:rPr>
              <a:t>96-bit GCM nonce</a:t>
            </a:r>
          </a:p>
        </p:txBody>
      </p:sp>
      <p:sp>
        <p:nvSpPr>
          <p:cNvPr id="25" name="direction field">
            <a:extLst>
              <a:ext uri="{FF2B5EF4-FFF2-40B4-BE49-F238E27FC236}">
                <a16:creationId xmlns:a16="http://schemas.microsoft.com/office/drawing/2014/main" id="{A487509F-D6F8-47B6-8549-5D475CCC5AE4}"/>
              </a:ext>
            </a:extLst>
          </p:cNvPr>
          <p:cNvSpPr>
            <a:spLocks noGrp="1"/>
          </p:cNvSpPr>
          <p:nvPr/>
        </p:nvSpPr>
        <p:spPr>
          <a:xfrm>
            <a:off x="685800" y="3133725"/>
            <a:ext cx="2857500" cy="990600"/>
          </a:xfrm>
          <a:prstGeom prst="rect">
            <a:avLst/>
          </a:prstGeom>
          <a:solidFill>
            <a:srgbClr val="E4E4E7"/>
          </a:solidFill>
          <a:ln w="0">
            <a:noFill/>
            <a:prstDash val="solid"/>
          </a:ln>
        </p:spPr>
      </p:sp>
      <p:sp>
        <p:nvSpPr>
          <p:cNvPr id="26" name="counter field">
            <a:extLst>
              <a:ext uri="{FF2B5EF4-FFF2-40B4-BE49-F238E27FC236}">
                <a16:creationId xmlns:a16="http://schemas.microsoft.com/office/drawing/2014/main" id="{EAB981BB-585E-47E6-A79C-DD3AA3F6CFE2}"/>
              </a:ext>
            </a:extLst>
          </p:cNvPr>
          <p:cNvSpPr>
            <a:spLocks noGrp="1"/>
          </p:cNvSpPr>
          <p:nvPr/>
        </p:nvSpPr>
        <p:spPr>
          <a:xfrm>
            <a:off x="3600450" y="3133725"/>
            <a:ext cx="5105400" cy="990600"/>
          </a:xfrm>
          <a:prstGeom prst="rect">
            <a:avLst/>
          </a:prstGeom>
          <a:solidFill>
            <a:srgbClr val="2A2A32"/>
          </a:solidFill>
          <a:ln w="0">
            <a:noFill/>
            <a:prstDash val="solid"/>
          </a:ln>
        </p:spPr>
      </p:sp>
      <p:sp>
        <p:nvSpPr>
          <p:cNvPr id="27" name="Direction · 4 bytes">
            <a:extLst>
              <a:ext uri="{FF2B5EF4-FFF2-40B4-BE49-F238E27FC236}">
                <a16:creationId xmlns:a16="http://schemas.microsoft.com/office/drawing/2014/main" id="{B55CF272-4E34-4C7D-9BBA-B78DABFCA1B8}"/>
              </a:ext>
            </a:extLst>
          </p:cNvPr>
          <p:cNvSpPr>
            <a:spLocks noGrp="1"/>
          </p:cNvSpPr>
          <p:nvPr/>
        </p:nvSpPr>
        <p:spPr>
          <a:xfrm>
            <a:off x="857250" y="3400425"/>
            <a:ext cx="2514600" cy="447675"/>
          </a:xfrm>
          <a:prstGeom prst="rect">
            <a:avLst/>
          </a:prstGeom>
          <a:noFill/>
          <a:ln w="0">
            <a:noFill/>
            <a:prstDash val="solid"/>
          </a:ln>
        </p:spPr>
        <p:txBody>
          <a:bodyPr wrap="square" lIns="0" tIns="0" rIns="0" bIns="0" anchor="ctr">
            <a:noAutofit/>
          </a:bodyPr>
          <a:lstStyle/>
          <a:p>
            <a:pPr algn="ctr">
              <a:defRPr sz="2100" b="1">
                <a:solidFill>
                  <a:srgbClr val="0A0A0C"/>
                </a:solidFill>
                <a:latin typeface="Segoe UI"/>
                <a:ea typeface="Segoe UI"/>
                <a:cs typeface="Segoe UI"/>
              </a:defRPr>
            </a:pPr>
            <a:r>
              <a:rPr sz="2100" b="1">
                <a:solidFill>
                  <a:srgbClr val="0A0A0C"/>
                </a:solidFill>
                <a:latin typeface="Segoe UI"/>
                <a:ea typeface="Segoe UI"/>
                <a:cs typeface="Segoe UI"/>
              </a:rPr>
              <a:t>Direction · 4 bytes</a:t>
            </a:r>
          </a:p>
        </p:txBody>
      </p:sp>
      <p:sp>
        <p:nvSpPr>
          <p:cNvPr id="28" name="Counter · 8 bytes">
            <a:extLst>
              <a:ext uri="{FF2B5EF4-FFF2-40B4-BE49-F238E27FC236}">
                <a16:creationId xmlns:a16="http://schemas.microsoft.com/office/drawing/2014/main" id="{05628BFA-EDE6-450D-9A86-1748BF39905E}"/>
              </a:ext>
            </a:extLst>
          </p:cNvPr>
          <p:cNvSpPr>
            <a:spLocks noGrp="1"/>
          </p:cNvSpPr>
          <p:nvPr/>
        </p:nvSpPr>
        <p:spPr>
          <a:xfrm>
            <a:off x="3810000" y="3400425"/>
            <a:ext cx="4686300" cy="447675"/>
          </a:xfrm>
          <a:prstGeom prst="rect">
            <a:avLst/>
          </a:prstGeom>
          <a:noFill/>
          <a:ln w="0">
            <a:noFill/>
            <a:prstDash val="solid"/>
          </a:ln>
        </p:spPr>
        <p:txBody>
          <a:bodyPr wrap="square" lIns="0" tIns="0" rIns="0" bIns="0" anchor="ctr">
            <a:noAutofit/>
          </a:bodyPr>
          <a:lstStyle/>
          <a:p>
            <a:pPr algn="ctr">
              <a:defRPr sz="2250" b="1">
                <a:solidFill>
                  <a:srgbClr val="FFFFFF"/>
                </a:solidFill>
                <a:latin typeface="Segoe UI"/>
                <a:ea typeface="Segoe UI"/>
                <a:cs typeface="Segoe UI"/>
              </a:defRPr>
            </a:pPr>
            <a:r>
              <a:rPr sz="2250" b="1">
                <a:solidFill>
                  <a:srgbClr val="FFFFFF"/>
                </a:solidFill>
                <a:latin typeface="Segoe UI"/>
                <a:ea typeface="Segoe UI"/>
                <a:cs typeface="Segoe UI"/>
              </a:rPr>
              <a:t>Counter · 8 bytes</a:t>
            </a:r>
          </a:p>
        </p:txBody>
      </p:sp>
      <p:sp>
        <p:nvSpPr>
          <p:cNvPr id="29" name="Opposite values&#10;for the two peers">
            <a:extLst>
              <a:ext uri="{FF2B5EF4-FFF2-40B4-BE49-F238E27FC236}">
                <a16:creationId xmlns:a16="http://schemas.microsoft.com/office/drawing/2014/main" id="{DF0DEDC2-22A4-4762-A9FC-5518511B7C8E}"/>
              </a:ext>
            </a:extLst>
          </p:cNvPr>
          <p:cNvSpPr>
            <a:spLocks noGrp="1"/>
          </p:cNvSpPr>
          <p:nvPr/>
        </p:nvSpPr>
        <p:spPr>
          <a:xfrm>
            <a:off x="685800" y="4295775"/>
            <a:ext cx="2857500" cy="828675"/>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Opposite values</a:t>
            </a:r>
          </a:p>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for the two peers</a:t>
            </a:r>
          </a:p>
        </p:txBody>
      </p:sp>
      <p:sp>
        <p:nvSpPr>
          <p:cNvPr id="30" name="Monotonically increases&#10;within each key ">
            <a:extLst>
              <a:ext uri="{FF2B5EF4-FFF2-40B4-BE49-F238E27FC236}">
                <a16:creationId xmlns:a16="http://schemas.microsoft.com/office/drawing/2014/main" id="{3298E1B0-83D9-42E2-952B-ECA6E55BF48C}"/>
              </a:ext>
            </a:extLst>
          </p:cNvPr>
          <p:cNvSpPr>
            <a:spLocks noGrp="1"/>
          </p:cNvSpPr>
          <p:nvPr/>
        </p:nvSpPr>
        <p:spPr>
          <a:xfrm>
            <a:off x="3810000" y="4295775"/>
            <a:ext cx="4895850" cy="828675"/>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Monotonically increases</a:t>
            </a:r>
          </a:p>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within each key lifetime</a:t>
            </a:r>
          </a:p>
        </p:txBody>
      </p:sp>
      <p:sp>
        <p:nvSpPr>
          <p:cNvPr id="31" name="100k">
            <a:extLst>
              <a:ext uri="{FF2B5EF4-FFF2-40B4-BE49-F238E27FC236}">
                <a16:creationId xmlns:a16="http://schemas.microsoft.com/office/drawing/2014/main" id="{AFC54005-5C8C-4C4D-A2C4-333C0E0FAE8C}"/>
              </a:ext>
            </a:extLst>
          </p:cNvPr>
          <p:cNvSpPr>
            <a:spLocks noGrp="1"/>
          </p:cNvSpPr>
          <p:nvPr/>
        </p:nvSpPr>
        <p:spPr>
          <a:xfrm>
            <a:off x="9248775" y="2952750"/>
            <a:ext cx="2257425" cy="790575"/>
          </a:xfrm>
          <a:prstGeom prst="rect">
            <a:avLst/>
          </a:prstGeom>
          <a:noFill/>
          <a:ln w="0">
            <a:noFill/>
            <a:prstDash val="solid"/>
          </a:ln>
        </p:spPr>
        <p:txBody>
          <a:bodyPr wrap="square" lIns="0" tIns="0" rIns="0" bIns="0" anchor="ctr">
            <a:noAutofit/>
          </a:bodyPr>
          <a:lstStyle/>
          <a:p>
            <a:pPr algn="l">
              <a:defRPr sz="4575" b="1">
                <a:solidFill>
                  <a:srgbClr val="FFFFFF"/>
                </a:solidFill>
                <a:latin typeface="Segoe UI"/>
                <a:ea typeface="Segoe UI"/>
                <a:cs typeface="Segoe UI"/>
              </a:defRPr>
            </a:pPr>
            <a:r>
              <a:rPr sz="4575" b="1">
                <a:solidFill>
                  <a:srgbClr val="FFFFFF"/>
                </a:solidFill>
                <a:latin typeface="Segoe UI"/>
                <a:ea typeface="Segoe UI"/>
                <a:cs typeface="Segoe UI"/>
              </a:rPr>
              <a:t>100k</a:t>
            </a:r>
          </a:p>
        </p:txBody>
      </p:sp>
      <p:sp>
        <p:nvSpPr>
          <p:cNvPr id="32" name="send budget&#10;per key">
            <a:extLst>
              <a:ext uri="{FF2B5EF4-FFF2-40B4-BE49-F238E27FC236}">
                <a16:creationId xmlns:a16="http://schemas.microsoft.com/office/drawing/2014/main" id="{22065AD5-C687-4538-A0FA-9351EC1F0A3C}"/>
              </a:ext>
            </a:extLst>
          </p:cNvPr>
          <p:cNvSpPr>
            <a:spLocks noGrp="1"/>
          </p:cNvSpPr>
          <p:nvPr/>
        </p:nvSpPr>
        <p:spPr>
          <a:xfrm>
            <a:off x="9248775" y="3771900"/>
            <a:ext cx="2257425" cy="723900"/>
          </a:xfrm>
          <a:prstGeom prst="rect">
            <a:avLst/>
          </a:prstGeom>
          <a:noFill/>
          <a:ln w="0">
            <a:noFill/>
            <a:prstDash val="solid"/>
          </a:ln>
        </p:spPr>
        <p:txBody>
          <a:bodyPr wrap="square" lIns="0" tIns="0" rIns="0" bIns="0" anchor="ctr">
            <a:noAutofit/>
          </a:bodyPr>
          <a:lstStyle/>
          <a:p>
            <a:pPr algn="l">
              <a:defRPr sz="2175" b="0">
                <a:solidFill>
                  <a:srgbClr val="B4B4BD"/>
                </a:solidFill>
                <a:latin typeface="Segoe UI"/>
                <a:ea typeface="Segoe UI"/>
                <a:cs typeface="Segoe UI"/>
              </a:defRPr>
            </a:pPr>
            <a:r>
              <a:rPr sz="2175" b="0">
                <a:solidFill>
                  <a:srgbClr val="B4B4BD"/>
                </a:solidFill>
                <a:latin typeface="Segoe UI"/>
                <a:ea typeface="Segoe UI"/>
                <a:cs typeface="Segoe UI"/>
              </a:rPr>
              <a:t>send budget</a:t>
            </a:r>
          </a:p>
          <a:p>
            <a:pPr algn="l">
              <a:defRPr sz="2175" b="0">
                <a:solidFill>
                  <a:srgbClr val="B4B4BD"/>
                </a:solidFill>
                <a:latin typeface="Segoe UI"/>
                <a:ea typeface="Segoe UI"/>
                <a:cs typeface="Segoe UI"/>
              </a:defRPr>
            </a:pPr>
            <a:r>
              <a:rPr sz="2175" b="0">
                <a:solidFill>
                  <a:srgbClr val="B4B4BD"/>
                </a:solidFill>
                <a:latin typeface="Segoe UI"/>
                <a:ea typeface="Segoe UI"/>
                <a:cs typeface="Segoe UI"/>
              </a:rPr>
              <a:t>per key</a:t>
            </a:r>
          </a:p>
        </p:txBody>
      </p:sp>
      <p:sp>
        <p:nvSpPr>
          <p:cNvPr id="33" name="Replay defense: reject duplicate and sta">
            <a:extLst>
              <a:ext uri="{FF2B5EF4-FFF2-40B4-BE49-F238E27FC236}">
                <a16:creationId xmlns:a16="http://schemas.microsoft.com/office/drawing/2014/main" id="{0BE5E86C-BFEB-4767-A3AB-FBD5CAD6E9F0}"/>
              </a:ext>
            </a:extLst>
          </p:cNvPr>
          <p:cNvSpPr>
            <a:spLocks noGrp="1"/>
          </p:cNvSpPr>
          <p:nvPr/>
        </p:nvSpPr>
        <p:spPr>
          <a:xfrm>
            <a:off x="685800" y="5419725"/>
            <a:ext cx="10820400" cy="400050"/>
          </a:xfrm>
          <a:prstGeom prst="rect">
            <a:avLst/>
          </a:prstGeom>
          <a:noFill/>
          <a:ln w="0">
            <a:noFill/>
            <a:prstDash val="solid"/>
          </a:ln>
        </p:spPr>
        <p:txBody>
          <a:bodyPr wrap="square" lIns="0" tIns="0" rIns="0" bIns="0" anchor="ctr">
            <a:noAutofit/>
          </a:bodyPr>
          <a:lstStyle/>
          <a:p>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Replay defense: reject duplicate and stale counters.</a:t>
            </a:r>
          </a:p>
        </p:txBody>
      </p:sp>
    </p:spTree>
    <p:extLst>
      <p:ext uri="{BB962C8B-B14F-4D97-AF65-F5344CB8AC3E}">
        <p14:creationId xmlns:p14="http://schemas.microsoft.com/office/powerpoint/2010/main" val="20866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7CDCD0-D3E9-46F8-A72F-FABDED81A34C}"/>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FFBF127-A5DD-4F35-841A-F279C7B620B8}"/>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5E7E9527-C531-45C0-84C8-E24DF09DCDDC}"/>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05 / 10</a:t>
            </a:r>
          </a:p>
        </p:txBody>
      </p:sp>
      <p:sp>
        <p:nvSpPr>
          <p:cNvPr id="14" name="TextBox 13">
            <a:extLst>
              <a:ext uri="{FF2B5EF4-FFF2-40B4-BE49-F238E27FC236}">
                <a16:creationId xmlns:a16="http://schemas.microsoft.com/office/drawing/2014/main" id="{9BEF7668-D907-4AAB-B69B-3DC2B230A5BF}"/>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Verify the person behind the key</a:t>
            </a:r>
          </a:p>
        </p:txBody>
      </p:sp>
      <p:sp>
        <p:nvSpPr>
          <p:cNvPr id="15" name="TextBox 14">
            <a:extLst>
              <a:ext uri="{FF2B5EF4-FFF2-40B4-BE49-F238E27FC236}">
                <a16:creationId xmlns:a16="http://schemas.microsoft.com/office/drawing/2014/main" id="{F9F40E21-34CB-41C1-9D23-01CA6E89A9B1}"/>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A display name is not an identity. Verification happens outside the relay.</a:t>
            </a:r>
          </a:p>
        </p:txBody>
      </p:sp>
      <p:sp>
        <p:nvSpPr>
          <p:cNvPr id="16" name="divider">
            <a:extLst>
              <a:ext uri="{FF2B5EF4-FFF2-40B4-BE49-F238E27FC236}">
                <a16:creationId xmlns:a16="http://schemas.microsoft.com/office/drawing/2014/main" id="{BD6D68CC-CC05-42FD-8628-13066E154CCE}"/>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F499E22A-5BC1-4A51-80A2-E15D03D8E635}"/>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8783936F-2A6A-495C-85A3-027199449746}"/>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CF62D6B9-03EF-46E4-8B3E-981654150A5A}"/>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A1BD0146-6680-43A8-B0C4-D065CB1A8951}"/>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2ECB091E-E321-46A0-A540-2FAA467BB2AC}"/>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8" action="ppaction://hlinksldjump"/>
            <a:extLst>
              <a:ext uri="{FF2B5EF4-FFF2-40B4-BE49-F238E27FC236}">
                <a16:creationId xmlns:a16="http://schemas.microsoft.com/office/drawing/2014/main" id="{9819DB35-3971-4654-B2E4-2E59F6DEC4C7}"/>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9" action="ppaction://hlinksldjump"/>
            <a:extLst>
              <a:ext uri="{FF2B5EF4-FFF2-40B4-BE49-F238E27FC236}">
                <a16:creationId xmlns:a16="http://schemas.microsoft.com/office/drawing/2014/main" id="{140E96B0-BD66-447B-BF85-96221B4A4D6E}"/>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556AB7D6-A81C-435D-92A7-D3428BC99813}"/>
              </a:ext>
            </a:extLst>
          </p:cNvPr>
          <p:cNvSpPr>
            <a:spLocks noGrp="1"/>
          </p:cNvSpPr>
          <p:nvPr/>
        </p:nvSpPr>
        <p:spPr>
          <a:xfrm>
            <a:off x="4010025" y="3457575"/>
            <a:ext cx="323850"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8A5570EC-16B6-41A7-995F-DAFAA92AA794}"/>
              </a:ext>
            </a:extLst>
          </p:cNvPr>
          <p:cNvSpPr>
            <a:spLocks noGrp="1"/>
          </p:cNvSpPr>
          <p:nvPr/>
        </p:nvSpPr>
        <p:spPr>
          <a:xfrm>
            <a:off x="7734300" y="3457575"/>
            <a:ext cx="323850" cy="171450"/>
          </a:xfrm>
          <a:prstGeom prst="rightArrow">
            <a:avLst/>
          </a:prstGeom>
          <a:solidFill>
            <a:srgbClr val="B4B4BD"/>
          </a:solidFill>
          <a:ln w="0">
            <a:noFill/>
            <a:prstDash val="solid"/>
          </a:ln>
        </p:spPr>
      </p:sp>
      <p:sp>
        <p:nvSpPr>
          <p:cNvPr id="26" name="Bind identity node">
            <a:extLst>
              <a:ext uri="{FF2B5EF4-FFF2-40B4-BE49-F238E27FC236}">
                <a16:creationId xmlns:a16="http://schemas.microsoft.com/office/drawing/2014/main" id="{81C41B90-721F-40BC-935E-3827DA18C77F}"/>
              </a:ext>
            </a:extLst>
          </p:cNvPr>
          <p:cNvSpPr>
            <a:spLocks noGrp="1"/>
          </p:cNvSpPr>
          <p:nvPr/>
        </p:nvSpPr>
        <p:spPr>
          <a:xfrm>
            <a:off x="685800" y="2743200"/>
            <a:ext cx="3333750" cy="1381125"/>
          </a:xfrm>
          <a:prstGeom prst="rect">
            <a:avLst/>
          </a:prstGeom>
          <a:solidFill>
            <a:srgbClr val="17171C"/>
          </a:solidFill>
          <a:ln w="14288">
            <a:solidFill>
              <a:srgbClr val="51515B"/>
            </a:solidFill>
            <a:prstDash val="solid"/>
          </a:ln>
        </p:spPr>
      </p:sp>
      <p:sp>
        <p:nvSpPr>
          <p:cNvPr id="27" name="Bind identity">
            <a:extLst>
              <a:ext uri="{FF2B5EF4-FFF2-40B4-BE49-F238E27FC236}">
                <a16:creationId xmlns:a16="http://schemas.microsoft.com/office/drawing/2014/main" id="{69A3B803-337E-4015-8632-78729E7A1234}"/>
              </a:ext>
            </a:extLst>
          </p:cNvPr>
          <p:cNvSpPr>
            <a:spLocks noGrp="1"/>
          </p:cNvSpPr>
          <p:nvPr/>
        </p:nvSpPr>
        <p:spPr>
          <a:xfrm>
            <a:off x="876300" y="2914650"/>
            <a:ext cx="295275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Bind identity</a:t>
            </a:r>
          </a:p>
        </p:txBody>
      </p:sp>
      <p:sp>
        <p:nvSpPr>
          <p:cNvPr id="28" name="Public key → peer ID">
            <a:extLst>
              <a:ext uri="{FF2B5EF4-FFF2-40B4-BE49-F238E27FC236}">
                <a16:creationId xmlns:a16="http://schemas.microsoft.com/office/drawing/2014/main" id="{1D9DD14C-5BFB-4C18-AF6C-E1B611CEE1F2}"/>
              </a:ext>
            </a:extLst>
          </p:cNvPr>
          <p:cNvSpPr>
            <a:spLocks noGrp="1"/>
          </p:cNvSpPr>
          <p:nvPr/>
        </p:nvSpPr>
        <p:spPr>
          <a:xfrm>
            <a:off x="876300" y="3390900"/>
            <a:ext cx="2952750" cy="6477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Public key → peer ID</a:t>
            </a:r>
          </a:p>
        </p:txBody>
      </p:sp>
      <p:sp>
        <p:nvSpPr>
          <p:cNvPr id="29" name="Remember key node">
            <a:extLst>
              <a:ext uri="{FF2B5EF4-FFF2-40B4-BE49-F238E27FC236}">
                <a16:creationId xmlns:a16="http://schemas.microsoft.com/office/drawing/2014/main" id="{F3A41567-4894-471E-AAA2-66842AA416BC}"/>
              </a:ext>
            </a:extLst>
          </p:cNvPr>
          <p:cNvSpPr>
            <a:spLocks noGrp="1"/>
          </p:cNvSpPr>
          <p:nvPr/>
        </p:nvSpPr>
        <p:spPr>
          <a:xfrm>
            <a:off x="4410075" y="2743200"/>
            <a:ext cx="3333750" cy="1381125"/>
          </a:xfrm>
          <a:prstGeom prst="rect">
            <a:avLst/>
          </a:prstGeom>
          <a:solidFill>
            <a:srgbClr val="17171C"/>
          </a:solidFill>
          <a:ln w="14288">
            <a:solidFill>
              <a:srgbClr val="51515B"/>
            </a:solidFill>
            <a:prstDash val="solid"/>
          </a:ln>
        </p:spPr>
      </p:sp>
      <p:sp>
        <p:nvSpPr>
          <p:cNvPr id="30" name="Remember key">
            <a:extLst>
              <a:ext uri="{FF2B5EF4-FFF2-40B4-BE49-F238E27FC236}">
                <a16:creationId xmlns:a16="http://schemas.microsoft.com/office/drawing/2014/main" id="{C91552DE-5B16-4E33-8824-AC8C094E70DB}"/>
              </a:ext>
            </a:extLst>
          </p:cNvPr>
          <p:cNvSpPr>
            <a:spLocks noGrp="1"/>
          </p:cNvSpPr>
          <p:nvPr/>
        </p:nvSpPr>
        <p:spPr>
          <a:xfrm>
            <a:off x="4600575" y="2914650"/>
            <a:ext cx="295275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Remember key</a:t>
            </a:r>
          </a:p>
        </p:txBody>
      </p:sp>
      <p:sp>
        <p:nvSpPr>
          <p:cNvPr id="31" name="Trust on first use">
            <a:extLst>
              <a:ext uri="{FF2B5EF4-FFF2-40B4-BE49-F238E27FC236}">
                <a16:creationId xmlns:a16="http://schemas.microsoft.com/office/drawing/2014/main" id="{53341E57-8CF4-4D72-B0C2-8099A0F030FE}"/>
              </a:ext>
            </a:extLst>
          </p:cNvPr>
          <p:cNvSpPr>
            <a:spLocks noGrp="1"/>
          </p:cNvSpPr>
          <p:nvPr/>
        </p:nvSpPr>
        <p:spPr>
          <a:xfrm>
            <a:off x="4600575" y="3390900"/>
            <a:ext cx="2952750" cy="6477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Trust on first use</a:t>
            </a:r>
          </a:p>
        </p:txBody>
      </p:sp>
      <p:sp>
        <p:nvSpPr>
          <p:cNvPr id="32" name="Compare numbers node">
            <a:extLst>
              <a:ext uri="{FF2B5EF4-FFF2-40B4-BE49-F238E27FC236}">
                <a16:creationId xmlns:a16="http://schemas.microsoft.com/office/drawing/2014/main" id="{945A932E-3769-4A5E-99A4-CCCA1D08B873}"/>
              </a:ext>
            </a:extLst>
          </p:cNvPr>
          <p:cNvSpPr>
            <a:spLocks noGrp="1"/>
          </p:cNvSpPr>
          <p:nvPr/>
        </p:nvSpPr>
        <p:spPr>
          <a:xfrm>
            <a:off x="8134350" y="2743200"/>
            <a:ext cx="3371850" cy="1381125"/>
          </a:xfrm>
          <a:prstGeom prst="rect">
            <a:avLst/>
          </a:prstGeom>
          <a:solidFill>
            <a:srgbClr val="17171C"/>
          </a:solidFill>
          <a:ln w="14288">
            <a:solidFill>
              <a:srgbClr val="51515B"/>
            </a:solidFill>
            <a:prstDash val="solid"/>
          </a:ln>
        </p:spPr>
      </p:sp>
      <p:sp>
        <p:nvSpPr>
          <p:cNvPr id="33" name="Compare numbers">
            <a:extLst>
              <a:ext uri="{FF2B5EF4-FFF2-40B4-BE49-F238E27FC236}">
                <a16:creationId xmlns:a16="http://schemas.microsoft.com/office/drawing/2014/main" id="{8F9591F9-474B-4968-95C6-9476C2C61735}"/>
              </a:ext>
            </a:extLst>
          </p:cNvPr>
          <p:cNvSpPr>
            <a:spLocks noGrp="1"/>
          </p:cNvSpPr>
          <p:nvPr/>
        </p:nvSpPr>
        <p:spPr>
          <a:xfrm>
            <a:off x="8324850" y="2914650"/>
            <a:ext cx="299085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Compare numbers</a:t>
            </a:r>
          </a:p>
        </p:txBody>
      </p:sp>
      <p:sp>
        <p:nvSpPr>
          <p:cNvPr id="34" name="Use a separate channel">
            <a:extLst>
              <a:ext uri="{FF2B5EF4-FFF2-40B4-BE49-F238E27FC236}">
                <a16:creationId xmlns:a16="http://schemas.microsoft.com/office/drawing/2014/main" id="{DB04576C-3869-43BC-BB3E-203B3C2CC06A}"/>
              </a:ext>
            </a:extLst>
          </p:cNvPr>
          <p:cNvSpPr>
            <a:spLocks noGrp="1"/>
          </p:cNvSpPr>
          <p:nvPr/>
        </p:nvSpPr>
        <p:spPr>
          <a:xfrm>
            <a:off x="8324850" y="3390900"/>
            <a:ext cx="2990850" cy="6477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Use a separate channel</a:t>
            </a:r>
          </a:p>
        </p:txBody>
      </p:sp>
      <p:sp>
        <p:nvSpPr>
          <p:cNvPr id="35" name="Changed key?">
            <a:extLst>
              <a:ext uri="{FF2B5EF4-FFF2-40B4-BE49-F238E27FC236}">
                <a16:creationId xmlns:a16="http://schemas.microsoft.com/office/drawing/2014/main" id="{12D07C62-051A-42AD-9470-8A61EE23CBF6}"/>
              </a:ext>
            </a:extLst>
          </p:cNvPr>
          <p:cNvSpPr>
            <a:spLocks noGrp="1"/>
          </p:cNvSpPr>
          <p:nvPr/>
        </p:nvSpPr>
        <p:spPr>
          <a:xfrm>
            <a:off x="685800" y="4514850"/>
            <a:ext cx="3429000" cy="495300"/>
          </a:xfrm>
          <a:prstGeom prst="rect">
            <a:avLst/>
          </a:prstGeom>
          <a:noFill/>
          <a:ln w="0">
            <a:noFill/>
            <a:prstDash val="solid"/>
          </a:ln>
        </p:spPr>
        <p:txBody>
          <a:bodyPr wrap="square" lIns="0" tIns="0" rIns="0" bIns="0" anchor="ctr">
            <a:noAutofit/>
          </a:bodyPr>
          <a:lstStyle/>
          <a:p>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Changed key?</a:t>
            </a:r>
          </a:p>
        </p:txBody>
      </p:sp>
      <p:sp>
        <p:nvSpPr>
          <p:cNvPr id="36" name="Sending is blocked until the identity is">
            <a:extLst>
              <a:ext uri="{FF2B5EF4-FFF2-40B4-BE49-F238E27FC236}">
                <a16:creationId xmlns:a16="http://schemas.microsoft.com/office/drawing/2014/main" id="{385904B0-2BF6-4CD7-AFA5-E841ABAD973F}"/>
              </a:ext>
            </a:extLst>
          </p:cNvPr>
          <p:cNvSpPr>
            <a:spLocks noGrp="1"/>
          </p:cNvSpPr>
          <p:nvPr/>
        </p:nvSpPr>
        <p:spPr>
          <a:xfrm>
            <a:off x="4410075" y="4562475"/>
            <a:ext cx="7096125" cy="857250"/>
          </a:xfrm>
          <a:prstGeom prst="rect">
            <a:avLst/>
          </a:prstGeom>
          <a:noFill/>
          <a:ln w="0">
            <a:noFill/>
            <a:prstDash val="solid"/>
          </a:ln>
        </p:spPr>
        <p:txBody>
          <a:bodyPr wrap="square" lIns="0" tIns="0" rIns="0" bIns="0" anchor="ctr">
            <a:noAutofit/>
          </a:bodyPr>
          <a:lstStyle/>
          <a:p>
            <a:pPr algn="l">
              <a:defRPr sz="2250" b="0">
                <a:solidFill>
                  <a:srgbClr val="FFFFFF"/>
                </a:solidFill>
                <a:latin typeface="Segoe UI"/>
                <a:ea typeface="Segoe UI"/>
                <a:cs typeface="Segoe UI"/>
              </a:defRPr>
            </a:pPr>
            <a:r>
              <a:rPr sz="2250" b="0">
                <a:solidFill>
                  <a:srgbClr val="FFFFFF"/>
                </a:solidFill>
                <a:latin typeface="Segoe UI"/>
                <a:ea typeface="Segoe UI"/>
                <a:cs typeface="Segoe UI"/>
              </a:rPr>
              <a:t>Sending is blocked until the identity is reviewed.</a:t>
            </a:r>
          </a:p>
        </p:txBody>
      </p:sp>
      <p:sp>
        <p:nvSpPr>
          <p:cNvPr id="37" name="Audience check: how would you verify a n">
            <a:extLst>
              <a:ext uri="{FF2B5EF4-FFF2-40B4-BE49-F238E27FC236}">
                <a16:creationId xmlns:a16="http://schemas.microsoft.com/office/drawing/2014/main" id="{5E079D1B-216D-426C-9B08-E510664996CF}"/>
              </a:ext>
            </a:extLst>
          </p:cNvPr>
          <p:cNvSpPr>
            <a:spLocks noGrp="1"/>
          </p:cNvSpPr>
          <p:nvPr/>
        </p:nvSpPr>
        <p:spPr>
          <a:xfrm>
            <a:off x="685800" y="5553075"/>
            <a:ext cx="10820400" cy="352425"/>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Audience check: how would you verify a new contact?</a:t>
            </a:r>
          </a:p>
        </p:txBody>
      </p:sp>
    </p:spTree>
    <p:extLst>
      <p:ext uri="{BB962C8B-B14F-4D97-AF65-F5344CB8AC3E}">
        <p14:creationId xmlns:p14="http://schemas.microsoft.com/office/powerpoint/2010/main" val="132199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2E97DC-713B-4082-B244-B80B438EB96C}"/>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A8EF9C-7CC4-470E-B3F3-DA09BADD61DC}"/>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E4CA302F-39C2-4D9E-99C5-21D29F032130}"/>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06 / 10</a:t>
            </a:r>
          </a:p>
        </p:txBody>
      </p:sp>
      <p:sp>
        <p:nvSpPr>
          <p:cNvPr id="14" name="TextBox 13">
            <a:extLst>
              <a:ext uri="{FF2B5EF4-FFF2-40B4-BE49-F238E27FC236}">
                <a16:creationId xmlns:a16="http://schemas.microsoft.com/office/drawing/2014/main" id="{F160374A-F8B5-4BEA-ADAE-A58B9D1EC946}"/>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Encryption has clear boundaries</a:t>
            </a:r>
          </a:p>
        </p:txBody>
      </p:sp>
      <p:sp>
        <p:nvSpPr>
          <p:cNvPr id="15" name="TextBox 14">
            <a:extLst>
              <a:ext uri="{FF2B5EF4-FFF2-40B4-BE49-F238E27FC236}">
                <a16:creationId xmlns:a16="http://schemas.microsoft.com/office/drawing/2014/main" id="{16955918-8F7A-40D8-B5EE-19B4E9C27CAF}"/>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Content privacy, identity confidence and availability are different promises.</a:t>
            </a:r>
          </a:p>
        </p:txBody>
      </p:sp>
      <p:sp>
        <p:nvSpPr>
          <p:cNvPr id="16" name="divider">
            <a:extLst>
              <a:ext uri="{FF2B5EF4-FFF2-40B4-BE49-F238E27FC236}">
                <a16:creationId xmlns:a16="http://schemas.microsoft.com/office/drawing/2014/main" id="{606341F3-5427-4B09-8431-7F9ED4CD78E1}"/>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8B50F2A6-20BC-4930-BDE0-219E15A2A679}"/>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AB9F9A3F-6847-4760-A4E4-883DB0F98E26}"/>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53FBBB1D-60C9-4CE5-87C0-9B692419B195}"/>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4219E4D2-9886-42D5-9257-F0330028BB44}"/>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13D4AFD7-AEE6-4AB7-B646-BE6E6E44D5CB}"/>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5" action="ppaction://hlinksldjump"/>
            <a:extLst>
              <a:ext uri="{FF2B5EF4-FFF2-40B4-BE49-F238E27FC236}">
                <a16:creationId xmlns:a16="http://schemas.microsoft.com/office/drawing/2014/main" id="{1F59A74B-EB74-49BA-93EC-610265350EAD}"/>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6" action="ppaction://hlinksldjump"/>
            <a:extLst>
              <a:ext uri="{FF2B5EF4-FFF2-40B4-BE49-F238E27FC236}">
                <a16:creationId xmlns:a16="http://schemas.microsoft.com/office/drawing/2014/main" id="{4B0D54EA-A046-48AE-B256-CC2C6876CD7E}"/>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PROTECTED">
            <a:extLst>
              <a:ext uri="{FF2B5EF4-FFF2-40B4-BE49-F238E27FC236}">
                <a16:creationId xmlns:a16="http://schemas.microsoft.com/office/drawing/2014/main" id="{6652B0FC-2D5B-4FDA-AC6F-B264C4D63728}"/>
              </a:ext>
            </a:extLst>
          </p:cNvPr>
          <p:cNvSpPr>
            <a:spLocks noGrp="1"/>
          </p:cNvSpPr>
          <p:nvPr/>
        </p:nvSpPr>
        <p:spPr>
          <a:xfrm>
            <a:off x="685800" y="2514600"/>
            <a:ext cx="4857750" cy="390525"/>
          </a:xfrm>
          <a:prstGeom prst="rect">
            <a:avLst/>
          </a:prstGeom>
          <a:noFill/>
          <a:ln w="0">
            <a:noFill/>
            <a:prstDash val="solid"/>
          </a:ln>
        </p:spPr>
        <p:txBody>
          <a:bodyPr wrap="square" lIns="0" tIns="0" rIns="0" bIns="0" anchor="ctr">
            <a:noAutofit/>
          </a:bodyPr>
          <a:lstStyle/>
          <a:p>
            <a:pPr algn="l">
              <a:defRPr sz="1800" b="1">
                <a:solidFill>
                  <a:srgbClr val="B4B4BD"/>
                </a:solidFill>
                <a:latin typeface="Segoe UI"/>
                <a:ea typeface="Segoe UI"/>
                <a:cs typeface="Segoe UI"/>
              </a:defRPr>
            </a:pPr>
            <a:r>
              <a:rPr sz="1800" b="1">
                <a:solidFill>
                  <a:srgbClr val="B4B4BD"/>
                </a:solidFill>
                <a:latin typeface="Segoe UI"/>
                <a:ea typeface="Segoe UI"/>
                <a:cs typeface="Segoe UI"/>
              </a:rPr>
              <a:t>PROTECTED</a:t>
            </a:r>
          </a:p>
        </p:txBody>
      </p:sp>
      <p:sp>
        <p:nvSpPr>
          <p:cNvPr id="25" name="OUTSIDE THE GUARANTEE">
            <a:extLst>
              <a:ext uri="{FF2B5EF4-FFF2-40B4-BE49-F238E27FC236}">
                <a16:creationId xmlns:a16="http://schemas.microsoft.com/office/drawing/2014/main" id="{EB4F1E6C-2F3E-42CF-A66D-0EBD73BAE760}"/>
              </a:ext>
            </a:extLst>
          </p:cNvPr>
          <p:cNvSpPr>
            <a:spLocks noGrp="1"/>
          </p:cNvSpPr>
          <p:nvPr/>
        </p:nvSpPr>
        <p:spPr>
          <a:xfrm>
            <a:off x="6543675" y="2514600"/>
            <a:ext cx="4962525" cy="390525"/>
          </a:xfrm>
          <a:prstGeom prst="rect">
            <a:avLst/>
          </a:prstGeom>
          <a:noFill/>
          <a:ln w="0">
            <a:noFill/>
            <a:prstDash val="solid"/>
          </a:ln>
        </p:spPr>
        <p:txBody>
          <a:bodyPr wrap="square" lIns="0" tIns="0" rIns="0" bIns="0" anchor="ctr">
            <a:noAutofit/>
          </a:bodyPr>
          <a:lstStyle/>
          <a:p>
            <a:pPr algn="l">
              <a:defRPr sz="1800" b="1">
                <a:solidFill>
                  <a:srgbClr val="B4B4BD"/>
                </a:solidFill>
                <a:latin typeface="Segoe UI"/>
                <a:ea typeface="Segoe UI"/>
                <a:cs typeface="Segoe UI"/>
              </a:defRPr>
            </a:pPr>
            <a:r>
              <a:rPr sz="1800" b="1">
                <a:solidFill>
                  <a:srgbClr val="B4B4BD"/>
                </a:solidFill>
                <a:latin typeface="Segoe UI"/>
                <a:ea typeface="Segoe UI"/>
                <a:cs typeface="Segoe UI"/>
              </a:rPr>
              <a:t>OUTSIDE THE GUARANTEE</a:t>
            </a:r>
          </a:p>
        </p:txBody>
      </p:sp>
      <p:sp>
        <p:nvSpPr>
          <p:cNvPr id="26" name="divider">
            <a:extLst>
              <a:ext uri="{FF2B5EF4-FFF2-40B4-BE49-F238E27FC236}">
                <a16:creationId xmlns:a16="http://schemas.microsoft.com/office/drawing/2014/main" id="{533CE7FB-C017-461A-BF30-D50E0EFD2A37}"/>
              </a:ext>
            </a:extLst>
          </p:cNvPr>
          <p:cNvSpPr>
            <a:spLocks noGrp="1"/>
          </p:cNvSpPr>
          <p:nvPr/>
        </p:nvSpPr>
        <p:spPr>
          <a:xfrm>
            <a:off x="685800" y="3038475"/>
            <a:ext cx="4857750" cy="14288"/>
          </a:xfrm>
          <a:prstGeom prst="rect">
            <a:avLst/>
          </a:prstGeom>
          <a:solidFill>
            <a:srgbClr val="51515B"/>
          </a:solidFill>
          <a:ln w="0">
            <a:noFill/>
            <a:prstDash val="solid"/>
          </a:ln>
        </p:spPr>
      </p:sp>
      <p:sp>
        <p:nvSpPr>
          <p:cNvPr id="27" name="divider">
            <a:extLst>
              <a:ext uri="{FF2B5EF4-FFF2-40B4-BE49-F238E27FC236}">
                <a16:creationId xmlns:a16="http://schemas.microsoft.com/office/drawing/2014/main" id="{C78B7594-5177-45A5-A5A8-68C65F8D9417}"/>
              </a:ext>
            </a:extLst>
          </p:cNvPr>
          <p:cNvSpPr>
            <a:spLocks noGrp="1"/>
          </p:cNvSpPr>
          <p:nvPr/>
        </p:nvSpPr>
        <p:spPr>
          <a:xfrm>
            <a:off x="6543675" y="3038475"/>
            <a:ext cx="4962525" cy="14288"/>
          </a:xfrm>
          <a:prstGeom prst="rect">
            <a:avLst/>
          </a:prstGeom>
          <a:solidFill>
            <a:srgbClr val="51515B"/>
          </a:solidFill>
          <a:ln w="0">
            <a:noFill/>
            <a:prstDash val="solid"/>
          </a:ln>
        </p:spPr>
      </p:sp>
      <p:sp>
        <p:nvSpPr>
          <p:cNvPr id="28" name="Message contents&#10;Message integrity&#10;Known">
            <a:extLst>
              <a:ext uri="{FF2B5EF4-FFF2-40B4-BE49-F238E27FC236}">
                <a16:creationId xmlns:a16="http://schemas.microsoft.com/office/drawing/2014/main" id="{C638136C-61B2-4878-AFE7-9F591667E440}"/>
              </a:ext>
            </a:extLst>
          </p:cNvPr>
          <p:cNvSpPr>
            <a:spLocks noGrp="1"/>
          </p:cNvSpPr>
          <p:nvPr/>
        </p:nvSpPr>
        <p:spPr>
          <a:xfrm>
            <a:off x="685800" y="3248025"/>
            <a:ext cx="4857750" cy="1676400"/>
          </a:xfrm>
          <a:prstGeom prst="rect">
            <a:avLst/>
          </a:prstGeom>
          <a:noFill/>
          <a:ln w="0">
            <a:noFill/>
            <a:prstDash val="solid"/>
          </a:ln>
        </p:spPr>
        <p:txBody>
          <a:bodyPr wrap="square" lIns="0" tIns="0" rIns="0" bIns="0" anchor="ctr">
            <a:noAutofit/>
          </a:bodyPr>
          <a:lstStyle/>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Message contents</a:t>
            </a:r>
          </a:p>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Message integrity</a:t>
            </a:r>
          </a:p>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Known-key continuity</a:t>
            </a:r>
          </a:p>
        </p:txBody>
      </p:sp>
      <p:sp>
        <p:nvSpPr>
          <p:cNvPr id="29" name="Routing metadata&#10;Relay availability&#10;A co">
            <a:extLst>
              <a:ext uri="{FF2B5EF4-FFF2-40B4-BE49-F238E27FC236}">
                <a16:creationId xmlns:a16="http://schemas.microsoft.com/office/drawing/2014/main" id="{A2F79AC7-37F3-40A0-837F-9FE2EDB20295}"/>
              </a:ext>
            </a:extLst>
          </p:cNvPr>
          <p:cNvSpPr>
            <a:spLocks noGrp="1"/>
          </p:cNvSpPr>
          <p:nvPr/>
        </p:nvSpPr>
        <p:spPr>
          <a:xfrm>
            <a:off x="6543675" y="3248025"/>
            <a:ext cx="4962525" cy="1676400"/>
          </a:xfrm>
          <a:prstGeom prst="rect">
            <a:avLst/>
          </a:prstGeom>
          <a:noFill/>
          <a:ln w="0">
            <a:noFill/>
            <a:prstDash val="solid"/>
          </a:ln>
        </p:spPr>
        <p:txBody>
          <a:bodyPr wrap="square" lIns="0" tIns="0" rIns="0" bIns="0" anchor="ctr">
            <a:noAutofit/>
          </a:bodyPr>
          <a:lstStyle/>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Routing metadata</a:t>
            </a:r>
          </a:p>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Relay availability</a:t>
            </a:r>
          </a:p>
          <a:p>
            <a:pPr algn="l">
              <a:defRPr sz="2550" b="0">
                <a:solidFill>
                  <a:srgbClr val="FFFFFF"/>
                </a:solidFill>
                <a:latin typeface="Segoe UI"/>
                <a:ea typeface="Segoe UI"/>
                <a:cs typeface="Segoe UI"/>
              </a:defRPr>
            </a:pPr>
            <a:r>
              <a:rPr sz="2550" b="0">
                <a:solidFill>
                  <a:srgbClr val="FFFFFF"/>
                </a:solidFill>
                <a:latin typeface="Segoe UI"/>
                <a:ea typeface="Segoe UI"/>
                <a:cs typeface="Segoe UI"/>
              </a:rPr>
              <a:t>A compromised live device</a:t>
            </a:r>
          </a:p>
        </p:txBody>
      </p:sp>
      <p:sp>
        <p:nvSpPr>
          <p:cNvPr id="30" name="divider">
            <a:extLst>
              <a:ext uri="{FF2B5EF4-FFF2-40B4-BE49-F238E27FC236}">
                <a16:creationId xmlns:a16="http://schemas.microsoft.com/office/drawing/2014/main" id="{F89153AF-1982-48E1-A720-C8FEBF2B86AE}"/>
              </a:ext>
            </a:extLst>
          </p:cNvPr>
          <p:cNvSpPr>
            <a:spLocks noGrp="1"/>
          </p:cNvSpPr>
          <p:nvPr/>
        </p:nvSpPr>
        <p:spPr>
          <a:xfrm>
            <a:off x="685800" y="5219700"/>
            <a:ext cx="10820400" cy="14288"/>
          </a:xfrm>
          <a:prstGeom prst="rect">
            <a:avLst/>
          </a:prstGeom>
          <a:solidFill>
            <a:srgbClr val="51515B"/>
          </a:solidFill>
          <a:ln w="0">
            <a:noFill/>
            <a:prstDash val="solid"/>
          </a:ln>
        </p:spPr>
      </p:sp>
      <p:sp>
        <p:nvSpPr>
          <p:cNvPr id="31" name="Session rekeying only. No per-message ra">
            <a:extLst>
              <a:ext uri="{FF2B5EF4-FFF2-40B4-BE49-F238E27FC236}">
                <a16:creationId xmlns:a16="http://schemas.microsoft.com/office/drawing/2014/main" id="{1C2088AB-C3E0-48A6-8E6F-5BF0AEE769EC}"/>
              </a:ext>
            </a:extLst>
          </p:cNvPr>
          <p:cNvSpPr>
            <a:spLocks noGrp="1"/>
          </p:cNvSpPr>
          <p:nvPr/>
        </p:nvSpPr>
        <p:spPr>
          <a:xfrm>
            <a:off x="685800" y="5410200"/>
            <a:ext cx="10820400" cy="49530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Session rekeying only. No per-message ratchet, groups or multi-device sync.</a:t>
            </a:r>
          </a:p>
        </p:txBody>
      </p:sp>
    </p:spTree>
    <p:extLst>
      <p:ext uri="{BB962C8B-B14F-4D97-AF65-F5344CB8AC3E}">
        <p14:creationId xmlns:p14="http://schemas.microsoft.com/office/powerpoint/2010/main" val="1486181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ADE158-3153-44CB-B30C-6E2A36019237}"/>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5FC9E1A-D53C-4F1F-9A64-5CE227F406E1}"/>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23F9BF73-082C-4DEE-84B9-7D93F7C41163}"/>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07 / 10</a:t>
            </a:r>
          </a:p>
        </p:txBody>
      </p:sp>
      <p:sp>
        <p:nvSpPr>
          <p:cNvPr id="14" name="TextBox 13">
            <a:extLst>
              <a:ext uri="{FF2B5EF4-FFF2-40B4-BE49-F238E27FC236}">
                <a16:creationId xmlns:a16="http://schemas.microsoft.com/office/drawing/2014/main" id="{B3040AD0-9E48-4DBF-BB73-7FE4B8D1C082}"/>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Slow clients get separate queues</a:t>
            </a:r>
          </a:p>
        </p:txBody>
      </p:sp>
      <p:sp>
        <p:nvSpPr>
          <p:cNvPr id="15" name="TextBox 14">
            <a:extLst>
              <a:ext uri="{FF2B5EF4-FFF2-40B4-BE49-F238E27FC236}">
                <a16:creationId xmlns:a16="http://schemas.microsoft.com/office/drawing/2014/main" id="{F066F54E-77BE-44B4-A9E7-272CB48CDF64}"/>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Bounded work per recipient keeps forwarding independent.</a:t>
            </a:r>
          </a:p>
        </p:txBody>
      </p:sp>
      <p:sp>
        <p:nvSpPr>
          <p:cNvPr id="16" name="divider">
            <a:extLst>
              <a:ext uri="{FF2B5EF4-FFF2-40B4-BE49-F238E27FC236}">
                <a16:creationId xmlns:a16="http://schemas.microsoft.com/office/drawing/2014/main" id="{B7159A53-3878-4BB9-BA38-96ECDA435A1A}"/>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19669938-5448-405E-8080-1C968392248A}"/>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A43DCDAA-D3CE-43A9-9C13-66ECFAC9E562}"/>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9F2CF33B-0295-425F-9BD4-59E3810CF18C}"/>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5C1EAF35-A98B-4414-A176-B0F80183E6EB}"/>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810FF2E2-8B57-401E-86CF-64EB28707540}"/>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8" action="ppaction://hlinksldjump"/>
            <a:extLst>
              <a:ext uri="{FF2B5EF4-FFF2-40B4-BE49-F238E27FC236}">
                <a16:creationId xmlns:a16="http://schemas.microsoft.com/office/drawing/2014/main" id="{951E1631-347A-4196-ACB6-6E0EA57EF6EF}"/>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9" action="ppaction://hlinksldjump"/>
            <a:extLst>
              <a:ext uri="{FF2B5EF4-FFF2-40B4-BE49-F238E27FC236}">
                <a16:creationId xmlns:a16="http://schemas.microsoft.com/office/drawing/2014/main" id="{A9AB4221-D349-45A2-8CF2-C6D726C2A09D}"/>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84244770-D68B-449B-99FB-2B96F6804AFF}"/>
              </a:ext>
            </a:extLst>
          </p:cNvPr>
          <p:cNvSpPr>
            <a:spLocks noGrp="1"/>
          </p:cNvSpPr>
          <p:nvPr/>
        </p:nvSpPr>
        <p:spPr>
          <a:xfrm>
            <a:off x="3267075" y="2952750"/>
            <a:ext cx="1057275"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BD6794D2-4392-4750-B0F3-776A474A04BB}"/>
              </a:ext>
            </a:extLst>
          </p:cNvPr>
          <p:cNvSpPr>
            <a:spLocks noGrp="1"/>
          </p:cNvSpPr>
          <p:nvPr/>
        </p:nvSpPr>
        <p:spPr>
          <a:xfrm>
            <a:off x="7124700" y="2952750"/>
            <a:ext cx="1000125" cy="171450"/>
          </a:xfrm>
          <a:prstGeom prst="rightArrow">
            <a:avLst/>
          </a:prstGeom>
          <a:solidFill>
            <a:srgbClr val="B4B4BD"/>
          </a:solidFill>
          <a:ln w="0">
            <a:noFill/>
            <a:prstDash val="solid"/>
          </a:ln>
        </p:spPr>
      </p:sp>
      <p:sp>
        <p:nvSpPr>
          <p:cNvPr id="26" name="flow arrow">
            <a:extLst>
              <a:ext uri="{FF2B5EF4-FFF2-40B4-BE49-F238E27FC236}">
                <a16:creationId xmlns:a16="http://schemas.microsoft.com/office/drawing/2014/main" id="{F0361675-98D8-4287-B676-371BF2C362D9}"/>
              </a:ext>
            </a:extLst>
          </p:cNvPr>
          <p:cNvSpPr>
            <a:spLocks noGrp="1"/>
          </p:cNvSpPr>
          <p:nvPr/>
        </p:nvSpPr>
        <p:spPr>
          <a:xfrm>
            <a:off x="3267075" y="4495800"/>
            <a:ext cx="1057275" cy="171450"/>
          </a:xfrm>
          <a:prstGeom prst="rightArrow">
            <a:avLst/>
          </a:prstGeom>
          <a:solidFill>
            <a:srgbClr val="B4B4BD"/>
          </a:solidFill>
          <a:ln w="0">
            <a:noFill/>
            <a:prstDash val="solid"/>
          </a:ln>
        </p:spPr>
      </p:sp>
      <p:sp>
        <p:nvSpPr>
          <p:cNvPr id="27" name="flow arrow">
            <a:extLst>
              <a:ext uri="{FF2B5EF4-FFF2-40B4-BE49-F238E27FC236}">
                <a16:creationId xmlns:a16="http://schemas.microsoft.com/office/drawing/2014/main" id="{56D4EDBF-4DC1-4CA2-831D-A332FB9EC088}"/>
              </a:ext>
            </a:extLst>
          </p:cNvPr>
          <p:cNvSpPr>
            <a:spLocks noGrp="1"/>
          </p:cNvSpPr>
          <p:nvPr/>
        </p:nvSpPr>
        <p:spPr>
          <a:xfrm>
            <a:off x="7124700" y="4495800"/>
            <a:ext cx="1000125" cy="171450"/>
          </a:xfrm>
          <a:prstGeom prst="rightArrow">
            <a:avLst/>
          </a:prstGeom>
          <a:solidFill>
            <a:srgbClr val="B4B4BD"/>
          </a:solidFill>
          <a:ln w="0">
            <a:noFill/>
            <a:prstDash val="solid"/>
          </a:ln>
        </p:spPr>
      </p:sp>
      <p:sp>
        <p:nvSpPr>
          <p:cNvPr id="28" name="Router node">
            <a:extLst>
              <a:ext uri="{FF2B5EF4-FFF2-40B4-BE49-F238E27FC236}">
                <a16:creationId xmlns:a16="http://schemas.microsoft.com/office/drawing/2014/main" id="{A98FA16F-9CDD-436F-B39A-E9CD6E845632}"/>
              </a:ext>
            </a:extLst>
          </p:cNvPr>
          <p:cNvSpPr>
            <a:spLocks noGrp="1"/>
          </p:cNvSpPr>
          <p:nvPr/>
        </p:nvSpPr>
        <p:spPr>
          <a:xfrm>
            <a:off x="685800" y="2800350"/>
            <a:ext cx="2571750" cy="1952625"/>
          </a:xfrm>
          <a:prstGeom prst="rect">
            <a:avLst/>
          </a:prstGeom>
          <a:solidFill>
            <a:srgbClr val="17171C"/>
          </a:solidFill>
          <a:ln w="14288">
            <a:solidFill>
              <a:srgbClr val="51515B"/>
            </a:solidFill>
            <a:prstDash val="solid"/>
          </a:ln>
        </p:spPr>
      </p:sp>
      <p:sp>
        <p:nvSpPr>
          <p:cNvPr id="29" name="Router">
            <a:extLst>
              <a:ext uri="{FF2B5EF4-FFF2-40B4-BE49-F238E27FC236}">
                <a16:creationId xmlns:a16="http://schemas.microsoft.com/office/drawing/2014/main" id="{508694AE-9F69-4FD2-8BB3-50F6E0CAEBD4}"/>
              </a:ext>
            </a:extLst>
          </p:cNvPr>
          <p:cNvSpPr>
            <a:spLocks noGrp="1"/>
          </p:cNvSpPr>
          <p:nvPr/>
        </p:nvSpPr>
        <p:spPr>
          <a:xfrm>
            <a:off x="876300" y="2971800"/>
            <a:ext cx="219075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Router</a:t>
            </a:r>
          </a:p>
        </p:txBody>
      </p:sp>
      <p:sp>
        <p:nvSpPr>
          <p:cNvPr id="30" name="Read routing headers">
            <a:extLst>
              <a:ext uri="{FF2B5EF4-FFF2-40B4-BE49-F238E27FC236}">
                <a16:creationId xmlns:a16="http://schemas.microsoft.com/office/drawing/2014/main" id="{136BBF8B-EB4B-4F5C-A402-8C7ED6DB3401}"/>
              </a:ext>
            </a:extLst>
          </p:cNvPr>
          <p:cNvSpPr>
            <a:spLocks noGrp="1"/>
          </p:cNvSpPr>
          <p:nvPr/>
        </p:nvSpPr>
        <p:spPr>
          <a:xfrm>
            <a:off x="876300" y="3448050"/>
            <a:ext cx="2190750" cy="121920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Read routing headers</a:t>
            </a:r>
          </a:p>
        </p:txBody>
      </p:sp>
      <p:sp>
        <p:nvSpPr>
          <p:cNvPr id="31" name="Queue A node">
            <a:extLst>
              <a:ext uri="{FF2B5EF4-FFF2-40B4-BE49-F238E27FC236}">
                <a16:creationId xmlns:a16="http://schemas.microsoft.com/office/drawing/2014/main" id="{37140D1B-DB37-4970-98B0-C96C76E85B2B}"/>
              </a:ext>
            </a:extLst>
          </p:cNvPr>
          <p:cNvSpPr>
            <a:spLocks noGrp="1"/>
          </p:cNvSpPr>
          <p:nvPr/>
        </p:nvSpPr>
        <p:spPr>
          <a:xfrm>
            <a:off x="4429125" y="2495550"/>
            <a:ext cx="2667000" cy="1247775"/>
          </a:xfrm>
          <a:prstGeom prst="rect">
            <a:avLst/>
          </a:prstGeom>
          <a:solidFill>
            <a:srgbClr val="17171C"/>
          </a:solidFill>
          <a:ln w="14288">
            <a:solidFill>
              <a:srgbClr val="51515B"/>
            </a:solidFill>
            <a:prstDash val="solid"/>
          </a:ln>
        </p:spPr>
      </p:sp>
      <p:sp>
        <p:nvSpPr>
          <p:cNvPr id="32" name="Queue A">
            <a:extLst>
              <a:ext uri="{FF2B5EF4-FFF2-40B4-BE49-F238E27FC236}">
                <a16:creationId xmlns:a16="http://schemas.microsoft.com/office/drawing/2014/main" id="{D7BC7D4D-82BE-4D4E-8261-108B2AD36F4F}"/>
              </a:ext>
            </a:extLst>
          </p:cNvPr>
          <p:cNvSpPr>
            <a:spLocks noGrp="1"/>
          </p:cNvSpPr>
          <p:nvPr/>
        </p:nvSpPr>
        <p:spPr>
          <a:xfrm>
            <a:off x="4619625" y="2667000"/>
            <a:ext cx="22860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Queue A</a:t>
            </a:r>
          </a:p>
        </p:txBody>
      </p:sp>
      <p:sp>
        <p:nvSpPr>
          <p:cNvPr id="33" name="Dedicated writer">
            <a:extLst>
              <a:ext uri="{FF2B5EF4-FFF2-40B4-BE49-F238E27FC236}">
                <a16:creationId xmlns:a16="http://schemas.microsoft.com/office/drawing/2014/main" id="{B006BE5C-AD20-4EF4-9EA4-ACD196F369BE}"/>
              </a:ext>
            </a:extLst>
          </p:cNvPr>
          <p:cNvSpPr>
            <a:spLocks noGrp="1"/>
          </p:cNvSpPr>
          <p:nvPr/>
        </p:nvSpPr>
        <p:spPr>
          <a:xfrm>
            <a:off x="4619625" y="3143250"/>
            <a:ext cx="2286000" cy="5143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Dedicated writer</a:t>
            </a:r>
          </a:p>
        </p:txBody>
      </p:sp>
      <p:sp>
        <p:nvSpPr>
          <p:cNvPr id="34" name="Queue B node">
            <a:extLst>
              <a:ext uri="{FF2B5EF4-FFF2-40B4-BE49-F238E27FC236}">
                <a16:creationId xmlns:a16="http://schemas.microsoft.com/office/drawing/2014/main" id="{92EFC552-8F76-46EA-9FAC-5D44C72DF05B}"/>
              </a:ext>
            </a:extLst>
          </p:cNvPr>
          <p:cNvSpPr>
            <a:spLocks noGrp="1"/>
          </p:cNvSpPr>
          <p:nvPr/>
        </p:nvSpPr>
        <p:spPr>
          <a:xfrm>
            <a:off x="4429125" y="4038600"/>
            <a:ext cx="2667000" cy="1247775"/>
          </a:xfrm>
          <a:prstGeom prst="rect">
            <a:avLst/>
          </a:prstGeom>
          <a:solidFill>
            <a:srgbClr val="17171C"/>
          </a:solidFill>
          <a:ln w="14288">
            <a:solidFill>
              <a:srgbClr val="51515B"/>
            </a:solidFill>
            <a:prstDash val="solid"/>
          </a:ln>
        </p:spPr>
      </p:sp>
      <p:sp>
        <p:nvSpPr>
          <p:cNvPr id="35" name="Queue B">
            <a:extLst>
              <a:ext uri="{FF2B5EF4-FFF2-40B4-BE49-F238E27FC236}">
                <a16:creationId xmlns:a16="http://schemas.microsoft.com/office/drawing/2014/main" id="{427B35FB-CCC7-4B28-B967-C18A27BE9489}"/>
              </a:ext>
            </a:extLst>
          </p:cNvPr>
          <p:cNvSpPr>
            <a:spLocks noGrp="1"/>
          </p:cNvSpPr>
          <p:nvPr/>
        </p:nvSpPr>
        <p:spPr>
          <a:xfrm>
            <a:off x="4619625" y="4210050"/>
            <a:ext cx="22860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Queue B</a:t>
            </a:r>
          </a:p>
        </p:txBody>
      </p:sp>
      <p:sp>
        <p:nvSpPr>
          <p:cNvPr id="36" name="Dedicated writer">
            <a:extLst>
              <a:ext uri="{FF2B5EF4-FFF2-40B4-BE49-F238E27FC236}">
                <a16:creationId xmlns:a16="http://schemas.microsoft.com/office/drawing/2014/main" id="{585B4B65-6258-4070-A7E8-7846DFB23569}"/>
              </a:ext>
            </a:extLst>
          </p:cNvPr>
          <p:cNvSpPr>
            <a:spLocks noGrp="1"/>
          </p:cNvSpPr>
          <p:nvPr/>
        </p:nvSpPr>
        <p:spPr>
          <a:xfrm>
            <a:off x="4619625" y="4686300"/>
            <a:ext cx="2286000" cy="5143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Dedicated writer</a:t>
            </a:r>
          </a:p>
        </p:txBody>
      </p:sp>
      <p:sp>
        <p:nvSpPr>
          <p:cNvPr id="37" name="Client A node">
            <a:extLst>
              <a:ext uri="{FF2B5EF4-FFF2-40B4-BE49-F238E27FC236}">
                <a16:creationId xmlns:a16="http://schemas.microsoft.com/office/drawing/2014/main" id="{2F8A84B6-828D-41DA-9B3C-3EEC24F27C4A}"/>
              </a:ext>
            </a:extLst>
          </p:cNvPr>
          <p:cNvSpPr>
            <a:spLocks noGrp="1"/>
          </p:cNvSpPr>
          <p:nvPr/>
        </p:nvSpPr>
        <p:spPr>
          <a:xfrm>
            <a:off x="8229600" y="2495550"/>
            <a:ext cx="3276600" cy="1247775"/>
          </a:xfrm>
          <a:prstGeom prst="rect">
            <a:avLst/>
          </a:prstGeom>
          <a:solidFill>
            <a:srgbClr val="17171C"/>
          </a:solidFill>
          <a:ln w="14288">
            <a:solidFill>
              <a:srgbClr val="51515B"/>
            </a:solidFill>
            <a:prstDash val="solid"/>
          </a:ln>
        </p:spPr>
      </p:sp>
      <p:sp>
        <p:nvSpPr>
          <p:cNvPr id="38" name="Client A">
            <a:extLst>
              <a:ext uri="{FF2B5EF4-FFF2-40B4-BE49-F238E27FC236}">
                <a16:creationId xmlns:a16="http://schemas.microsoft.com/office/drawing/2014/main" id="{53185174-8AA8-4860-8C70-0CD5EE02EE02}"/>
              </a:ext>
            </a:extLst>
          </p:cNvPr>
          <p:cNvSpPr>
            <a:spLocks noGrp="1"/>
          </p:cNvSpPr>
          <p:nvPr/>
        </p:nvSpPr>
        <p:spPr>
          <a:xfrm>
            <a:off x="8420100" y="2667000"/>
            <a:ext cx="28956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Client A</a:t>
            </a:r>
          </a:p>
        </p:txBody>
      </p:sp>
      <p:sp>
        <p:nvSpPr>
          <p:cNvPr id="39" name="Fast">
            <a:extLst>
              <a:ext uri="{FF2B5EF4-FFF2-40B4-BE49-F238E27FC236}">
                <a16:creationId xmlns:a16="http://schemas.microsoft.com/office/drawing/2014/main" id="{DF7F764F-C025-49A2-9A77-FEB235CF407E}"/>
              </a:ext>
            </a:extLst>
          </p:cNvPr>
          <p:cNvSpPr>
            <a:spLocks noGrp="1"/>
          </p:cNvSpPr>
          <p:nvPr/>
        </p:nvSpPr>
        <p:spPr>
          <a:xfrm>
            <a:off x="8420100" y="3143250"/>
            <a:ext cx="2895600" cy="5143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Fast</a:t>
            </a:r>
          </a:p>
        </p:txBody>
      </p:sp>
      <p:sp>
        <p:nvSpPr>
          <p:cNvPr id="40" name="Client B node">
            <a:extLst>
              <a:ext uri="{FF2B5EF4-FFF2-40B4-BE49-F238E27FC236}">
                <a16:creationId xmlns:a16="http://schemas.microsoft.com/office/drawing/2014/main" id="{90BB3194-B120-4C51-8B20-9DBCADBD6EC8}"/>
              </a:ext>
            </a:extLst>
          </p:cNvPr>
          <p:cNvSpPr>
            <a:spLocks noGrp="1"/>
          </p:cNvSpPr>
          <p:nvPr/>
        </p:nvSpPr>
        <p:spPr>
          <a:xfrm>
            <a:off x="8229600" y="4038600"/>
            <a:ext cx="3276600" cy="1247775"/>
          </a:xfrm>
          <a:prstGeom prst="rect">
            <a:avLst/>
          </a:prstGeom>
          <a:solidFill>
            <a:srgbClr val="17171C"/>
          </a:solidFill>
          <a:ln w="14288">
            <a:solidFill>
              <a:srgbClr val="51515B"/>
            </a:solidFill>
            <a:prstDash val="solid"/>
          </a:ln>
        </p:spPr>
      </p:sp>
      <p:sp>
        <p:nvSpPr>
          <p:cNvPr id="41" name="Client B">
            <a:extLst>
              <a:ext uri="{FF2B5EF4-FFF2-40B4-BE49-F238E27FC236}">
                <a16:creationId xmlns:a16="http://schemas.microsoft.com/office/drawing/2014/main" id="{DFF9729D-B757-4816-86DD-C6A39F02C147}"/>
              </a:ext>
            </a:extLst>
          </p:cNvPr>
          <p:cNvSpPr>
            <a:spLocks noGrp="1"/>
          </p:cNvSpPr>
          <p:nvPr/>
        </p:nvSpPr>
        <p:spPr>
          <a:xfrm>
            <a:off x="8420100" y="4210050"/>
            <a:ext cx="2895600"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Client B</a:t>
            </a:r>
          </a:p>
        </p:txBody>
      </p:sp>
      <p:sp>
        <p:nvSpPr>
          <p:cNvPr id="42" name="Slow / disconnected">
            <a:extLst>
              <a:ext uri="{FF2B5EF4-FFF2-40B4-BE49-F238E27FC236}">
                <a16:creationId xmlns:a16="http://schemas.microsoft.com/office/drawing/2014/main" id="{887E82C5-F29B-4077-9062-8D161B4CB78B}"/>
              </a:ext>
            </a:extLst>
          </p:cNvPr>
          <p:cNvSpPr>
            <a:spLocks noGrp="1"/>
          </p:cNvSpPr>
          <p:nvPr/>
        </p:nvSpPr>
        <p:spPr>
          <a:xfrm>
            <a:off x="8420100" y="4686300"/>
            <a:ext cx="2895600" cy="5143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Slow / disconnected</a:t>
            </a:r>
          </a:p>
        </p:txBody>
      </p:sp>
      <p:sp>
        <p:nvSpPr>
          <p:cNvPr id="43" name="256 frames per queue  •  Full queue → di">
            <a:extLst>
              <a:ext uri="{FF2B5EF4-FFF2-40B4-BE49-F238E27FC236}">
                <a16:creationId xmlns:a16="http://schemas.microsoft.com/office/drawing/2014/main" id="{D31C03C0-7B67-413F-9435-408FF1DAF33C}"/>
              </a:ext>
            </a:extLst>
          </p:cNvPr>
          <p:cNvSpPr>
            <a:spLocks noGrp="1"/>
          </p:cNvSpPr>
          <p:nvPr/>
        </p:nvSpPr>
        <p:spPr>
          <a:xfrm>
            <a:off x="685800" y="5534025"/>
            <a:ext cx="10820400" cy="381000"/>
          </a:xfrm>
          <a:prstGeom prst="rect">
            <a:avLst/>
          </a:prstGeom>
          <a:noFill/>
          <a:ln w="0">
            <a:noFill/>
            <a:prstDash val="solid"/>
          </a:ln>
        </p:spPr>
        <p:txBody>
          <a:bodyPr wrap="square" lIns="0" tIns="0" rIns="0" bIns="0" anchor="ctr">
            <a:noAutofit/>
          </a:bodyPr>
          <a:lstStyle/>
          <a:p>
            <a:pPr algn="l">
              <a:defRPr sz="1950" b="0">
                <a:solidFill>
                  <a:srgbClr val="FFFFFF"/>
                </a:solidFill>
                <a:latin typeface="Segoe UI"/>
                <a:ea typeface="Segoe UI"/>
                <a:cs typeface="Segoe UI"/>
              </a:defRPr>
            </a:pPr>
            <a:r>
              <a:rPr sz="1950" b="0">
                <a:solidFill>
                  <a:srgbClr val="FFFFFF"/>
                </a:solidFill>
                <a:latin typeface="Segoe UI"/>
                <a:ea typeface="Segoe UI"/>
                <a:cs typeface="Segoe UI"/>
              </a:rPr>
              <a:t>256 frames per queue  •  Full queue → disconnect that recipient</a:t>
            </a:r>
          </a:p>
        </p:txBody>
      </p:sp>
    </p:spTree>
    <p:extLst>
      <p:ext uri="{BB962C8B-B14F-4D97-AF65-F5344CB8AC3E}">
        <p14:creationId xmlns:p14="http://schemas.microsoft.com/office/powerpoint/2010/main" val="570177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09B487-5487-4427-8523-FB477403DA50}"/>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B0C4330-7457-4406-BFF7-503D97FCD3C2}"/>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4EC39C92-1890-4FF9-B8C3-7815A7C6C567}"/>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08 / 10</a:t>
            </a:r>
          </a:p>
        </p:txBody>
      </p:sp>
      <p:sp>
        <p:nvSpPr>
          <p:cNvPr id="14" name="TextBox 13">
            <a:extLst>
              <a:ext uri="{FF2B5EF4-FFF2-40B4-BE49-F238E27FC236}">
                <a16:creationId xmlns:a16="http://schemas.microsoft.com/office/drawing/2014/main" id="{469D5E0A-7584-40FE-AC45-B35B4FCF97CE}"/>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One core, two client experiences</a:t>
            </a:r>
          </a:p>
        </p:txBody>
      </p:sp>
      <p:sp>
        <p:nvSpPr>
          <p:cNvPr id="15" name="TextBox 14">
            <a:extLst>
              <a:ext uri="{FF2B5EF4-FFF2-40B4-BE49-F238E27FC236}">
                <a16:creationId xmlns:a16="http://schemas.microsoft.com/office/drawing/2014/main" id="{01D27CA9-E87C-44F8-89E2-FBF566D3AC02}"/>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Shared protocol and cryptography; platform-specific UI and storage.</a:t>
            </a:r>
          </a:p>
        </p:txBody>
      </p:sp>
      <p:sp>
        <p:nvSpPr>
          <p:cNvPr id="16" name="divider">
            <a:extLst>
              <a:ext uri="{FF2B5EF4-FFF2-40B4-BE49-F238E27FC236}">
                <a16:creationId xmlns:a16="http://schemas.microsoft.com/office/drawing/2014/main" id="{66D456B3-2DCB-4FED-A6AA-A31115F7E0AC}"/>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2D217085-B4E9-425B-B08A-41A11F96C92E}"/>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5D6C8C18-A8E1-4103-B936-B6AD9AF9043F}"/>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09B33600-07FC-4062-B08E-94B693EF4EE2}"/>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2FD427CF-8E7D-4ED4-99C6-92C9CD2D766D}"/>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904D30BE-3419-4CC7-A8DE-482F21D96B27}"/>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6" action="ppaction://hlinksldjump"/>
            <a:extLst>
              <a:ext uri="{FF2B5EF4-FFF2-40B4-BE49-F238E27FC236}">
                <a16:creationId xmlns:a16="http://schemas.microsoft.com/office/drawing/2014/main" id="{60418243-D608-450C-8D13-4510FA53EA4D}"/>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7" action="ppaction://hlinksldjump"/>
            <a:extLst>
              <a:ext uri="{FF2B5EF4-FFF2-40B4-BE49-F238E27FC236}">
                <a16:creationId xmlns:a16="http://schemas.microsoft.com/office/drawing/2014/main" id="{99D757E3-AC96-43D9-9FD1-4D866A71AD43}"/>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DESKTOP">
            <a:extLst>
              <a:ext uri="{FF2B5EF4-FFF2-40B4-BE49-F238E27FC236}">
                <a16:creationId xmlns:a16="http://schemas.microsoft.com/office/drawing/2014/main" id="{5C9CE0A9-728F-4411-9639-5885B24DDE5B}"/>
              </a:ext>
            </a:extLst>
          </p:cNvPr>
          <p:cNvSpPr>
            <a:spLocks noGrp="1"/>
          </p:cNvSpPr>
          <p:nvPr/>
        </p:nvSpPr>
        <p:spPr>
          <a:xfrm>
            <a:off x="3714750" y="2466975"/>
            <a:ext cx="3238500" cy="428625"/>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DESKTOP</a:t>
            </a:r>
          </a:p>
        </p:txBody>
      </p:sp>
      <p:sp>
        <p:nvSpPr>
          <p:cNvPr id="25" name="ANDROID">
            <a:extLst>
              <a:ext uri="{FF2B5EF4-FFF2-40B4-BE49-F238E27FC236}">
                <a16:creationId xmlns:a16="http://schemas.microsoft.com/office/drawing/2014/main" id="{D7426843-DF94-4EC7-AAFE-79A80F2AF2B5}"/>
              </a:ext>
            </a:extLst>
          </p:cNvPr>
          <p:cNvSpPr>
            <a:spLocks noGrp="1"/>
          </p:cNvSpPr>
          <p:nvPr/>
        </p:nvSpPr>
        <p:spPr>
          <a:xfrm>
            <a:off x="7896225" y="2466975"/>
            <a:ext cx="3609975" cy="428625"/>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ANDROID</a:t>
            </a:r>
          </a:p>
        </p:txBody>
      </p:sp>
      <p:sp>
        <p:nvSpPr>
          <p:cNvPr id="26" name="divider">
            <a:extLst>
              <a:ext uri="{FF2B5EF4-FFF2-40B4-BE49-F238E27FC236}">
                <a16:creationId xmlns:a16="http://schemas.microsoft.com/office/drawing/2014/main" id="{777800C6-B12B-4961-9CA8-D72A8439308E}"/>
              </a:ext>
            </a:extLst>
          </p:cNvPr>
          <p:cNvSpPr>
            <a:spLocks noGrp="1"/>
          </p:cNvSpPr>
          <p:nvPr/>
        </p:nvSpPr>
        <p:spPr>
          <a:xfrm>
            <a:off x="685800" y="3048000"/>
            <a:ext cx="10820400" cy="14288"/>
          </a:xfrm>
          <a:prstGeom prst="rect">
            <a:avLst/>
          </a:prstGeom>
          <a:solidFill>
            <a:srgbClr val="51515B"/>
          </a:solidFill>
          <a:ln w="0">
            <a:noFill/>
            <a:prstDash val="solid"/>
          </a:ln>
        </p:spPr>
      </p:sp>
      <p:sp>
        <p:nvSpPr>
          <p:cNvPr id="27" name="Interface">
            <a:extLst>
              <a:ext uri="{FF2B5EF4-FFF2-40B4-BE49-F238E27FC236}">
                <a16:creationId xmlns:a16="http://schemas.microsoft.com/office/drawing/2014/main" id="{8FC23878-C3D9-48B4-9FBB-B29D4AAC53AE}"/>
              </a:ext>
            </a:extLst>
          </p:cNvPr>
          <p:cNvSpPr>
            <a:spLocks noGrp="1"/>
          </p:cNvSpPr>
          <p:nvPr/>
        </p:nvSpPr>
        <p:spPr>
          <a:xfrm>
            <a:off x="685800" y="3143250"/>
            <a:ext cx="2714625" cy="542925"/>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Interface</a:t>
            </a:r>
          </a:p>
        </p:txBody>
      </p:sp>
      <p:sp>
        <p:nvSpPr>
          <p:cNvPr id="28" name="Swing + background work">
            <a:extLst>
              <a:ext uri="{FF2B5EF4-FFF2-40B4-BE49-F238E27FC236}">
                <a16:creationId xmlns:a16="http://schemas.microsoft.com/office/drawing/2014/main" id="{5B1A9632-5603-485E-864B-A4DD73CBB7AD}"/>
              </a:ext>
            </a:extLst>
          </p:cNvPr>
          <p:cNvSpPr>
            <a:spLocks noGrp="1"/>
          </p:cNvSpPr>
          <p:nvPr/>
        </p:nvSpPr>
        <p:spPr>
          <a:xfrm>
            <a:off x="3714750" y="3143250"/>
            <a:ext cx="3905250"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Swing + background work</a:t>
            </a:r>
          </a:p>
        </p:txBody>
      </p:sp>
      <p:sp>
        <p:nvSpPr>
          <p:cNvPr id="29" name="Android UI + service">
            <a:extLst>
              <a:ext uri="{FF2B5EF4-FFF2-40B4-BE49-F238E27FC236}">
                <a16:creationId xmlns:a16="http://schemas.microsoft.com/office/drawing/2014/main" id="{BFD3BBD1-8B6C-42C7-BA29-CECB1A7CC5F5}"/>
              </a:ext>
            </a:extLst>
          </p:cNvPr>
          <p:cNvSpPr>
            <a:spLocks noGrp="1"/>
          </p:cNvSpPr>
          <p:nvPr/>
        </p:nvSpPr>
        <p:spPr>
          <a:xfrm>
            <a:off x="7896225" y="3143250"/>
            <a:ext cx="3609975"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Android UI + service</a:t>
            </a:r>
          </a:p>
        </p:txBody>
      </p:sp>
      <p:sp>
        <p:nvSpPr>
          <p:cNvPr id="30" name="divider">
            <a:extLst>
              <a:ext uri="{FF2B5EF4-FFF2-40B4-BE49-F238E27FC236}">
                <a16:creationId xmlns:a16="http://schemas.microsoft.com/office/drawing/2014/main" id="{895CD82F-A5E4-434E-858D-FDEC489DF0C8}"/>
              </a:ext>
            </a:extLst>
          </p:cNvPr>
          <p:cNvSpPr>
            <a:spLocks noGrp="1"/>
          </p:cNvSpPr>
          <p:nvPr/>
        </p:nvSpPr>
        <p:spPr>
          <a:xfrm>
            <a:off x="685800" y="3781425"/>
            <a:ext cx="10820400" cy="14288"/>
          </a:xfrm>
          <a:prstGeom prst="rect">
            <a:avLst/>
          </a:prstGeom>
          <a:solidFill>
            <a:srgbClr val="51515B"/>
          </a:solidFill>
          <a:ln w="0">
            <a:noFill/>
            <a:prstDash val="solid"/>
          </a:ln>
        </p:spPr>
      </p:sp>
      <p:sp>
        <p:nvSpPr>
          <p:cNvPr id="31" name="Storage">
            <a:extLst>
              <a:ext uri="{FF2B5EF4-FFF2-40B4-BE49-F238E27FC236}">
                <a16:creationId xmlns:a16="http://schemas.microsoft.com/office/drawing/2014/main" id="{1ED5F967-1D7D-472D-B727-6FE161F25F63}"/>
              </a:ext>
            </a:extLst>
          </p:cNvPr>
          <p:cNvSpPr>
            <a:spLocks noGrp="1"/>
          </p:cNvSpPr>
          <p:nvPr/>
        </p:nvSpPr>
        <p:spPr>
          <a:xfrm>
            <a:off x="685800" y="3876675"/>
            <a:ext cx="2714625" cy="542925"/>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Storage</a:t>
            </a:r>
          </a:p>
        </p:txBody>
      </p:sp>
      <p:sp>
        <p:nvSpPr>
          <p:cNvPr id="32" name="SQLite WAL + encrypted fields">
            <a:extLst>
              <a:ext uri="{FF2B5EF4-FFF2-40B4-BE49-F238E27FC236}">
                <a16:creationId xmlns:a16="http://schemas.microsoft.com/office/drawing/2014/main" id="{D49A50B9-80A1-4A8E-A4E7-DAAA7B3CE122}"/>
              </a:ext>
            </a:extLst>
          </p:cNvPr>
          <p:cNvSpPr>
            <a:spLocks noGrp="1"/>
          </p:cNvSpPr>
          <p:nvPr/>
        </p:nvSpPr>
        <p:spPr>
          <a:xfrm>
            <a:off x="3714750" y="3876675"/>
            <a:ext cx="3905250"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SQLite WAL + encrypted fields</a:t>
            </a:r>
          </a:p>
        </p:txBody>
      </p:sp>
      <p:sp>
        <p:nvSpPr>
          <p:cNvPr id="33" name="Room + SQLCipher">
            <a:extLst>
              <a:ext uri="{FF2B5EF4-FFF2-40B4-BE49-F238E27FC236}">
                <a16:creationId xmlns:a16="http://schemas.microsoft.com/office/drawing/2014/main" id="{22955FF5-71AE-4801-BF0D-4F92DC9EE094}"/>
              </a:ext>
            </a:extLst>
          </p:cNvPr>
          <p:cNvSpPr>
            <a:spLocks noGrp="1"/>
          </p:cNvSpPr>
          <p:nvPr/>
        </p:nvSpPr>
        <p:spPr>
          <a:xfrm>
            <a:off x="7896225" y="3876675"/>
            <a:ext cx="3609975"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Room + SQLCipher</a:t>
            </a:r>
          </a:p>
        </p:txBody>
      </p:sp>
      <p:sp>
        <p:nvSpPr>
          <p:cNvPr id="34" name="divider">
            <a:extLst>
              <a:ext uri="{FF2B5EF4-FFF2-40B4-BE49-F238E27FC236}">
                <a16:creationId xmlns:a16="http://schemas.microsoft.com/office/drawing/2014/main" id="{BA04BE2D-950A-42B1-851D-4A370FAAB044}"/>
              </a:ext>
            </a:extLst>
          </p:cNvPr>
          <p:cNvSpPr>
            <a:spLocks noGrp="1"/>
          </p:cNvSpPr>
          <p:nvPr/>
        </p:nvSpPr>
        <p:spPr>
          <a:xfrm>
            <a:off x="685800" y="4514850"/>
            <a:ext cx="10820400" cy="14288"/>
          </a:xfrm>
          <a:prstGeom prst="rect">
            <a:avLst/>
          </a:prstGeom>
          <a:solidFill>
            <a:srgbClr val="51515B"/>
          </a:solidFill>
          <a:ln w="0">
            <a:noFill/>
            <a:prstDash val="solid"/>
          </a:ln>
        </p:spPr>
      </p:sp>
      <p:sp>
        <p:nvSpPr>
          <p:cNvPr id="35" name="Shared layer">
            <a:extLst>
              <a:ext uri="{FF2B5EF4-FFF2-40B4-BE49-F238E27FC236}">
                <a16:creationId xmlns:a16="http://schemas.microsoft.com/office/drawing/2014/main" id="{4202721F-7E74-4B62-AE28-E9F38B9F2901}"/>
              </a:ext>
            </a:extLst>
          </p:cNvPr>
          <p:cNvSpPr>
            <a:spLocks noGrp="1"/>
          </p:cNvSpPr>
          <p:nvPr/>
        </p:nvSpPr>
        <p:spPr>
          <a:xfrm>
            <a:off x="685800" y="4610100"/>
            <a:ext cx="2714625" cy="542925"/>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Shared layer</a:t>
            </a:r>
          </a:p>
        </p:txBody>
      </p:sp>
      <p:sp>
        <p:nvSpPr>
          <p:cNvPr id="36" name="Protocol, crypto and sessions">
            <a:extLst>
              <a:ext uri="{FF2B5EF4-FFF2-40B4-BE49-F238E27FC236}">
                <a16:creationId xmlns:a16="http://schemas.microsoft.com/office/drawing/2014/main" id="{29CCC17C-1367-44F7-9A33-D34F3E6E3B40}"/>
              </a:ext>
            </a:extLst>
          </p:cNvPr>
          <p:cNvSpPr>
            <a:spLocks noGrp="1"/>
          </p:cNvSpPr>
          <p:nvPr/>
        </p:nvSpPr>
        <p:spPr>
          <a:xfrm>
            <a:off x="3714750" y="4610100"/>
            <a:ext cx="3905250"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Protocol, crypto and sessions</a:t>
            </a:r>
          </a:p>
        </p:txBody>
      </p:sp>
      <p:sp>
        <p:nvSpPr>
          <p:cNvPr id="37" name="Protocol, crypto and sessions">
            <a:extLst>
              <a:ext uri="{FF2B5EF4-FFF2-40B4-BE49-F238E27FC236}">
                <a16:creationId xmlns:a16="http://schemas.microsoft.com/office/drawing/2014/main" id="{9B12F8B0-9CE2-42DB-9625-484B08F7B721}"/>
              </a:ext>
            </a:extLst>
          </p:cNvPr>
          <p:cNvSpPr>
            <a:spLocks noGrp="1"/>
          </p:cNvSpPr>
          <p:nvPr/>
        </p:nvSpPr>
        <p:spPr>
          <a:xfrm>
            <a:off x="7896225" y="4610100"/>
            <a:ext cx="3609975" cy="542925"/>
          </a:xfrm>
          <a:prstGeom prst="rect">
            <a:avLst/>
          </a:prstGeom>
          <a:noFill/>
          <a:ln w="0">
            <a:noFill/>
            <a:prstDash val="solid"/>
          </a:ln>
        </p:spPr>
        <p:txBody>
          <a:bodyPr wrap="square" lIns="0" tIns="0" rIns="0" bIns="0" anchor="ctr">
            <a:noAutofit/>
          </a:bodyPr>
          <a:lstStyle/>
          <a:p>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Protocol, crypto and sessions</a:t>
            </a:r>
          </a:p>
        </p:txBody>
      </p:sp>
      <p:sp>
        <p:nvSpPr>
          <p:cNvPr id="38" name="Release gate: external TLS keystore, res">
            <a:extLst>
              <a:ext uri="{FF2B5EF4-FFF2-40B4-BE49-F238E27FC236}">
                <a16:creationId xmlns:a16="http://schemas.microsoft.com/office/drawing/2014/main" id="{1F0510E2-E7D1-4ED6-89D9-8DEDF8EED84C}"/>
              </a:ext>
            </a:extLst>
          </p:cNvPr>
          <p:cNvSpPr>
            <a:spLocks noGrp="1"/>
          </p:cNvSpPr>
          <p:nvPr/>
        </p:nvSpPr>
        <p:spPr>
          <a:xfrm>
            <a:off x="685800" y="5610225"/>
            <a:ext cx="10820400" cy="342900"/>
          </a:xfrm>
          <a:prstGeom prst="rect">
            <a:avLst/>
          </a:prstGeom>
          <a:noFill/>
          <a:ln w="0">
            <a:noFill/>
            <a:prstDash val="solid"/>
          </a:ln>
        </p:spPr>
        <p:txBody>
          <a:bodyPr wrap="square" lIns="0" tIns="0" rIns="0" bIns="0" anchor="ctr">
            <a:noAutofit/>
          </a:bodyPr>
          <a:lstStyle/>
          <a:p>
            <a:pPr algn="l">
              <a:defRPr sz="1800" b="0">
                <a:solidFill>
                  <a:srgbClr val="B4B4BD"/>
                </a:solidFill>
                <a:latin typeface="Segoe UI"/>
                <a:ea typeface="Segoe UI"/>
                <a:cs typeface="Segoe UI"/>
              </a:defRPr>
            </a:pPr>
            <a:r>
              <a:rPr sz="1800" b="0">
                <a:solidFill>
                  <a:srgbClr val="B4B4BD"/>
                </a:solidFill>
                <a:latin typeface="Segoe UI"/>
                <a:ea typeface="Segoe UI"/>
                <a:cs typeface="Segoe UI"/>
              </a:rPr>
              <a:t>Release gate: external TLS keystore, restricted runtime, loopback metrics.</a:t>
            </a:r>
          </a:p>
        </p:txBody>
      </p:sp>
    </p:spTree>
    <p:extLst>
      <p:ext uri="{BB962C8B-B14F-4D97-AF65-F5344CB8AC3E}">
        <p14:creationId xmlns:p14="http://schemas.microsoft.com/office/powerpoint/2010/main" val="1459881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5331F5-C1B9-4C05-BD82-D658AF002D68}"/>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722F95-8CF2-4A9B-A859-9A40F3DF91E8}"/>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81050917-5475-4957-BF4A-03FFC4320BD5}"/>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09 / 10</a:t>
            </a:r>
          </a:p>
        </p:txBody>
      </p:sp>
      <p:sp>
        <p:nvSpPr>
          <p:cNvPr id="14" name="TextBox 13">
            <a:extLst>
              <a:ext uri="{FF2B5EF4-FFF2-40B4-BE49-F238E27FC236}">
                <a16:creationId xmlns:a16="http://schemas.microsoft.com/office/drawing/2014/main" id="{25E4BF2B-E6A8-4EAE-A3BD-099F5A56D85D}"/>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Security tests target failure modes</a:t>
            </a:r>
          </a:p>
        </p:txBody>
      </p:sp>
      <p:sp>
        <p:nvSpPr>
          <p:cNvPr id="15" name="TextBox 14">
            <a:extLst>
              <a:ext uri="{FF2B5EF4-FFF2-40B4-BE49-F238E27FC236}">
                <a16:creationId xmlns:a16="http://schemas.microsoft.com/office/drawing/2014/main" id="{C61C2465-570B-4231-A31A-5650769BF2C4}"/>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Coverage visible in the repository; these counts are not a fresh test run.</a:t>
            </a:r>
          </a:p>
        </p:txBody>
      </p:sp>
      <p:sp>
        <p:nvSpPr>
          <p:cNvPr id="16" name="divider">
            <a:extLst>
              <a:ext uri="{FF2B5EF4-FFF2-40B4-BE49-F238E27FC236}">
                <a16:creationId xmlns:a16="http://schemas.microsoft.com/office/drawing/2014/main" id="{F4883F3A-F493-41D3-B52D-6F7279541F52}"/>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C669DA29-CAB8-48ED-BB3A-F2652EA5C8D6}"/>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B5DC6E27-5A11-41B6-A529-5EA0C782A349}"/>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2FE87071-E476-4812-B19E-97FF7987CF66}"/>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7193F490-9214-428C-AC33-13E462A84DCB}"/>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8C27BA75-2EDD-49A7-B181-03E57DD4EC33}"/>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8" action="ppaction://hlinksldjump"/>
            <a:extLst>
              <a:ext uri="{FF2B5EF4-FFF2-40B4-BE49-F238E27FC236}">
                <a16:creationId xmlns:a16="http://schemas.microsoft.com/office/drawing/2014/main" id="{6431BF53-BF30-4E45-9540-D5E01806B005}"/>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9" action="ppaction://hlinksldjump"/>
            <a:extLst>
              <a:ext uri="{FF2B5EF4-FFF2-40B4-BE49-F238E27FC236}">
                <a16:creationId xmlns:a16="http://schemas.microsoft.com/office/drawing/2014/main" id="{1D631B23-8FD7-4CF0-9653-02809465B65B}"/>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13">
            <a:extLst>
              <a:ext uri="{FF2B5EF4-FFF2-40B4-BE49-F238E27FC236}">
                <a16:creationId xmlns:a16="http://schemas.microsoft.com/office/drawing/2014/main" id="{1CE0E773-2665-4291-974C-0E04589C1CA8}"/>
              </a:ext>
            </a:extLst>
          </p:cNvPr>
          <p:cNvSpPr>
            <a:spLocks noGrp="1"/>
          </p:cNvSpPr>
          <p:nvPr/>
        </p:nvSpPr>
        <p:spPr>
          <a:xfrm>
            <a:off x="685800" y="2638425"/>
            <a:ext cx="3333750" cy="923925"/>
          </a:xfrm>
          <a:prstGeom prst="rect">
            <a:avLst/>
          </a:prstGeom>
          <a:noFill/>
          <a:ln w="0">
            <a:noFill/>
            <a:prstDash val="solid"/>
          </a:ln>
        </p:spPr>
        <p:txBody>
          <a:bodyPr wrap="square" lIns="0" tIns="0" rIns="0" bIns="0" anchor="ctr">
            <a:noAutofit/>
          </a:bodyPr>
          <a:lstStyle/>
          <a:p>
            <a:pPr algn="l">
              <a:defRPr sz="6000" b="1">
                <a:solidFill>
                  <a:srgbClr val="FFFFFF"/>
                </a:solidFill>
                <a:latin typeface="Segoe UI"/>
                <a:ea typeface="Segoe UI"/>
                <a:cs typeface="Segoe UI"/>
              </a:defRPr>
            </a:pPr>
            <a:r>
              <a:rPr sz="6000" b="1">
                <a:solidFill>
                  <a:srgbClr val="FFFFFF"/>
                </a:solidFill>
                <a:latin typeface="Segoe UI"/>
                <a:ea typeface="Segoe UI"/>
                <a:cs typeface="Segoe UI"/>
              </a:rPr>
              <a:t>13</a:t>
            </a:r>
          </a:p>
        </p:txBody>
      </p:sp>
      <p:sp>
        <p:nvSpPr>
          <p:cNvPr id="25" name="adversarial scenarios">
            <a:extLst>
              <a:ext uri="{FF2B5EF4-FFF2-40B4-BE49-F238E27FC236}">
                <a16:creationId xmlns:a16="http://schemas.microsoft.com/office/drawing/2014/main" id="{4DE23C63-3713-4FF6-8A52-54CBF9C76E44}"/>
              </a:ext>
            </a:extLst>
          </p:cNvPr>
          <p:cNvSpPr>
            <a:spLocks noGrp="1"/>
          </p:cNvSpPr>
          <p:nvPr/>
        </p:nvSpPr>
        <p:spPr>
          <a:xfrm>
            <a:off x="685800" y="3705225"/>
            <a:ext cx="3333750" cy="409575"/>
          </a:xfrm>
          <a:prstGeom prst="rect">
            <a:avLst/>
          </a:prstGeom>
          <a:noFill/>
          <a:ln w="0">
            <a:noFill/>
            <a:prstDash val="solid"/>
          </a:ln>
        </p:spPr>
        <p:txBody>
          <a:bodyPr wrap="square" lIns="0" tIns="0" rIns="0" bIns="0" anchor="ctr">
            <a:noAutofit/>
          </a:bodyPr>
          <a:lstStyle/>
          <a:p>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adversarial scenarios</a:t>
            </a:r>
          </a:p>
        </p:txBody>
      </p:sp>
      <p:sp>
        <p:nvSpPr>
          <p:cNvPr id="26" name="MITM, forgery, tampering&#10;and replay">
            <a:extLst>
              <a:ext uri="{FF2B5EF4-FFF2-40B4-BE49-F238E27FC236}">
                <a16:creationId xmlns:a16="http://schemas.microsoft.com/office/drawing/2014/main" id="{B53DCFB4-D6D2-40EE-A018-74129CED8BE4}"/>
              </a:ext>
            </a:extLst>
          </p:cNvPr>
          <p:cNvSpPr>
            <a:spLocks noGrp="1"/>
          </p:cNvSpPr>
          <p:nvPr/>
        </p:nvSpPr>
        <p:spPr>
          <a:xfrm>
            <a:off x="685800" y="4362450"/>
            <a:ext cx="3333750" cy="762000"/>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MITM, forgery, tampering</a:t>
            </a:r>
          </a:p>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and replay</a:t>
            </a:r>
          </a:p>
        </p:txBody>
      </p:sp>
      <p:sp>
        <p:nvSpPr>
          <p:cNvPr id="27" name="20k">
            <a:extLst>
              <a:ext uri="{FF2B5EF4-FFF2-40B4-BE49-F238E27FC236}">
                <a16:creationId xmlns:a16="http://schemas.microsoft.com/office/drawing/2014/main" id="{58F9400F-7472-4776-AB3C-73976792A541}"/>
              </a:ext>
            </a:extLst>
          </p:cNvPr>
          <p:cNvSpPr>
            <a:spLocks noGrp="1"/>
          </p:cNvSpPr>
          <p:nvPr/>
        </p:nvSpPr>
        <p:spPr>
          <a:xfrm>
            <a:off x="4410075" y="2638425"/>
            <a:ext cx="3333750" cy="923925"/>
          </a:xfrm>
          <a:prstGeom prst="rect">
            <a:avLst/>
          </a:prstGeom>
          <a:noFill/>
          <a:ln w="0">
            <a:noFill/>
            <a:prstDash val="solid"/>
          </a:ln>
        </p:spPr>
        <p:txBody>
          <a:bodyPr wrap="square" lIns="0" tIns="0" rIns="0" bIns="0" anchor="ctr">
            <a:noAutofit/>
          </a:bodyPr>
          <a:lstStyle/>
          <a:p>
            <a:pPr algn="l">
              <a:defRPr sz="6000" b="1">
                <a:solidFill>
                  <a:srgbClr val="FFFFFF"/>
                </a:solidFill>
                <a:latin typeface="Segoe UI"/>
                <a:ea typeface="Segoe UI"/>
                <a:cs typeface="Segoe UI"/>
              </a:defRPr>
            </a:pPr>
            <a:r>
              <a:rPr sz="6000" b="1">
                <a:solidFill>
                  <a:srgbClr val="FFFFFF"/>
                </a:solidFill>
                <a:latin typeface="Segoe UI"/>
                <a:ea typeface="Segoe UI"/>
                <a:cs typeface="Segoe UI"/>
              </a:rPr>
              <a:t>20k</a:t>
            </a:r>
          </a:p>
        </p:txBody>
      </p:sp>
      <p:sp>
        <p:nvSpPr>
          <p:cNvPr id="28" name="fuzz iterations">
            <a:extLst>
              <a:ext uri="{FF2B5EF4-FFF2-40B4-BE49-F238E27FC236}">
                <a16:creationId xmlns:a16="http://schemas.microsoft.com/office/drawing/2014/main" id="{5D0A0386-05B2-4551-992B-0C2DE820ED74}"/>
              </a:ext>
            </a:extLst>
          </p:cNvPr>
          <p:cNvSpPr>
            <a:spLocks noGrp="1"/>
          </p:cNvSpPr>
          <p:nvPr/>
        </p:nvSpPr>
        <p:spPr>
          <a:xfrm>
            <a:off x="4410075" y="3705225"/>
            <a:ext cx="3333750" cy="409575"/>
          </a:xfrm>
          <a:prstGeom prst="rect">
            <a:avLst/>
          </a:prstGeom>
          <a:noFill/>
          <a:ln w="0">
            <a:noFill/>
            <a:prstDash val="solid"/>
          </a:ln>
        </p:spPr>
        <p:txBody>
          <a:bodyPr wrap="square" lIns="0" tIns="0" rIns="0" bIns="0" anchor="ctr">
            <a:noAutofit/>
          </a:bodyPr>
          <a:lstStyle/>
          <a:p>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fuzz iterations</a:t>
            </a:r>
          </a:p>
        </p:txBody>
      </p:sp>
      <p:sp>
        <p:nvSpPr>
          <p:cNvPr id="29" name="Random input and&#10;single-bit mutations">
            <a:extLst>
              <a:ext uri="{FF2B5EF4-FFF2-40B4-BE49-F238E27FC236}">
                <a16:creationId xmlns:a16="http://schemas.microsoft.com/office/drawing/2014/main" id="{C1E5464E-E4CC-4B07-A6E4-163F107C8D49}"/>
              </a:ext>
            </a:extLst>
          </p:cNvPr>
          <p:cNvSpPr>
            <a:spLocks noGrp="1"/>
          </p:cNvSpPr>
          <p:nvPr/>
        </p:nvSpPr>
        <p:spPr>
          <a:xfrm>
            <a:off x="4410075" y="4362450"/>
            <a:ext cx="3333750" cy="762000"/>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Random input and</a:t>
            </a:r>
          </a:p>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single-bit mutations</a:t>
            </a:r>
          </a:p>
        </p:txBody>
      </p:sp>
      <p:sp>
        <p:nvSpPr>
          <p:cNvPr id="30" name="17">
            <a:extLst>
              <a:ext uri="{FF2B5EF4-FFF2-40B4-BE49-F238E27FC236}">
                <a16:creationId xmlns:a16="http://schemas.microsoft.com/office/drawing/2014/main" id="{9C4334DF-390C-48A2-9615-4179284195F0}"/>
              </a:ext>
            </a:extLst>
          </p:cNvPr>
          <p:cNvSpPr>
            <a:spLocks noGrp="1"/>
          </p:cNvSpPr>
          <p:nvPr/>
        </p:nvSpPr>
        <p:spPr>
          <a:xfrm>
            <a:off x="8134350" y="2638425"/>
            <a:ext cx="3333750" cy="923925"/>
          </a:xfrm>
          <a:prstGeom prst="rect">
            <a:avLst/>
          </a:prstGeom>
          <a:noFill/>
          <a:ln w="0">
            <a:noFill/>
            <a:prstDash val="solid"/>
          </a:ln>
        </p:spPr>
        <p:txBody>
          <a:bodyPr wrap="square" lIns="0" tIns="0" rIns="0" bIns="0" anchor="ctr">
            <a:noAutofit/>
          </a:bodyPr>
          <a:lstStyle/>
          <a:p>
            <a:pPr algn="l">
              <a:defRPr sz="6000" b="1">
                <a:solidFill>
                  <a:srgbClr val="FFFFFF"/>
                </a:solidFill>
                <a:latin typeface="Segoe UI"/>
                <a:ea typeface="Segoe UI"/>
                <a:cs typeface="Segoe UI"/>
              </a:defRPr>
            </a:pPr>
            <a:r>
              <a:rPr sz="6000" b="1">
                <a:solidFill>
                  <a:srgbClr val="FFFFFF"/>
                </a:solidFill>
                <a:latin typeface="Segoe UI"/>
                <a:ea typeface="Segoe UI"/>
                <a:cs typeface="Segoe UI"/>
              </a:rPr>
              <a:t>17</a:t>
            </a:r>
          </a:p>
        </p:txBody>
      </p:sp>
      <p:sp>
        <p:nvSpPr>
          <p:cNvPr id="31" name="wire vectors">
            <a:extLst>
              <a:ext uri="{FF2B5EF4-FFF2-40B4-BE49-F238E27FC236}">
                <a16:creationId xmlns:a16="http://schemas.microsoft.com/office/drawing/2014/main" id="{0EBA9255-89DC-4C37-B66A-C09E465266CB}"/>
              </a:ext>
            </a:extLst>
          </p:cNvPr>
          <p:cNvSpPr>
            <a:spLocks noGrp="1"/>
          </p:cNvSpPr>
          <p:nvPr/>
        </p:nvSpPr>
        <p:spPr>
          <a:xfrm>
            <a:off x="8134350" y="3705225"/>
            <a:ext cx="3333750" cy="409575"/>
          </a:xfrm>
          <a:prstGeom prst="rect">
            <a:avLst/>
          </a:prstGeom>
          <a:noFill/>
          <a:ln w="0">
            <a:noFill/>
            <a:prstDash val="solid"/>
          </a:ln>
        </p:spPr>
        <p:txBody>
          <a:bodyPr wrap="square" lIns="0" tIns="0" rIns="0" bIns="0" anchor="ctr">
            <a:noAutofit/>
          </a:bodyPr>
          <a:lstStyle/>
          <a:p>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wire vectors</a:t>
            </a:r>
          </a:p>
        </p:txBody>
      </p:sp>
      <p:sp>
        <p:nvSpPr>
          <p:cNvPr id="32" name="Stable binary encoding&#10;across implementa">
            <a:extLst>
              <a:ext uri="{FF2B5EF4-FFF2-40B4-BE49-F238E27FC236}">
                <a16:creationId xmlns:a16="http://schemas.microsoft.com/office/drawing/2014/main" id="{3C213645-FF97-4BA0-B8C5-0E653B8850AD}"/>
              </a:ext>
            </a:extLst>
          </p:cNvPr>
          <p:cNvSpPr>
            <a:spLocks noGrp="1"/>
          </p:cNvSpPr>
          <p:nvPr/>
        </p:nvSpPr>
        <p:spPr>
          <a:xfrm>
            <a:off x="8134350" y="4362450"/>
            <a:ext cx="3333750" cy="762000"/>
          </a:xfrm>
          <a:prstGeom prst="rect">
            <a:avLst/>
          </a:prstGeom>
          <a:noFill/>
          <a:ln w="0">
            <a:noFill/>
            <a:prstDash val="solid"/>
          </a:ln>
        </p:spPr>
        <p:txBody>
          <a:bodyPr wrap="square" lIns="0" tIns="0" rIns="0" bIns="0" anchor="ctr">
            <a:noAutofit/>
          </a:bodyPr>
          <a:lstStyle/>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Stable binary encoding</a:t>
            </a:r>
          </a:p>
          <a:p>
            <a:pPr algn="l">
              <a:defRPr sz="1950" b="0">
                <a:solidFill>
                  <a:srgbClr val="B4B4BD"/>
                </a:solidFill>
                <a:latin typeface="Segoe UI"/>
                <a:ea typeface="Segoe UI"/>
                <a:cs typeface="Segoe UI"/>
              </a:defRPr>
            </a:pPr>
            <a:r>
              <a:rPr sz="1950" b="0">
                <a:solidFill>
                  <a:srgbClr val="B4B4BD"/>
                </a:solidFill>
                <a:latin typeface="Segoe UI"/>
                <a:ea typeface="Segoe UI"/>
                <a:cs typeface="Segoe UI"/>
              </a:rPr>
              <a:t>across implementations</a:t>
            </a:r>
          </a:p>
        </p:txBody>
      </p:sp>
      <p:sp>
        <p:nvSpPr>
          <p:cNvPr id="33" name="divider">
            <a:extLst>
              <a:ext uri="{FF2B5EF4-FFF2-40B4-BE49-F238E27FC236}">
                <a16:creationId xmlns:a16="http://schemas.microsoft.com/office/drawing/2014/main" id="{21C5C1A5-BD56-4064-AF87-4BF19B10E018}"/>
              </a:ext>
            </a:extLst>
          </p:cNvPr>
          <p:cNvSpPr>
            <a:spLocks noGrp="1"/>
          </p:cNvSpPr>
          <p:nvPr/>
        </p:nvSpPr>
        <p:spPr>
          <a:xfrm>
            <a:off x="685800" y="5305425"/>
            <a:ext cx="10820400" cy="14288"/>
          </a:xfrm>
          <a:prstGeom prst="rect">
            <a:avLst/>
          </a:prstGeom>
          <a:solidFill>
            <a:srgbClr val="51515B"/>
          </a:solidFill>
          <a:ln w="0">
            <a:noFill/>
            <a:prstDash val="solid"/>
          </a:ln>
        </p:spPr>
      </p:sp>
      <p:sp>
        <p:nvSpPr>
          <p:cNvPr id="34" name="Next proof: capture current CI results a">
            <a:extLst>
              <a:ext uri="{FF2B5EF4-FFF2-40B4-BE49-F238E27FC236}">
                <a16:creationId xmlns:a16="http://schemas.microsoft.com/office/drawing/2014/main" id="{436CC412-0D6D-483E-9B8B-9ED6D9941076}"/>
              </a:ext>
            </a:extLst>
          </p:cNvPr>
          <p:cNvSpPr>
            <a:spLocks noGrp="1"/>
          </p:cNvSpPr>
          <p:nvPr/>
        </p:nvSpPr>
        <p:spPr>
          <a:xfrm>
            <a:off x="685800" y="5495925"/>
            <a:ext cx="10820400" cy="419100"/>
          </a:xfrm>
          <a:prstGeom prst="rect">
            <a:avLst/>
          </a:prstGeom>
          <a:noFill/>
          <a:ln w="0">
            <a:noFill/>
            <a:prstDash val="solid"/>
          </a:ln>
        </p:spPr>
        <p:txBody>
          <a:bodyPr wrap="square" lIns="0" tIns="0" rIns="0" bIns="0" anchor="ctr">
            <a:noAutofit/>
          </a:bodyPr>
          <a:lstStyle/>
          <a:p>
            <a:pPr algn="l">
              <a:defRPr sz="2100" b="0">
                <a:solidFill>
                  <a:srgbClr val="FFFFFF"/>
                </a:solidFill>
                <a:latin typeface="Segoe UI"/>
                <a:ea typeface="Segoe UI"/>
                <a:cs typeface="Segoe UI"/>
              </a:defRPr>
            </a:pPr>
            <a:r>
              <a:rPr sz="2100" b="0">
                <a:solidFill>
                  <a:srgbClr val="FFFFFF"/>
                </a:solidFill>
                <a:latin typeface="Segoe UI"/>
                <a:ea typeface="Segoe UI"/>
                <a:cs typeface="Segoe UI"/>
              </a:rPr>
              <a:t>Next proof: capture current CI results and complete security review.</a:t>
            </a:r>
          </a:p>
        </p:txBody>
      </p:sp>
    </p:spTree>
    <p:extLst>
      <p:ext uri="{BB962C8B-B14F-4D97-AF65-F5344CB8AC3E}">
        <p14:creationId xmlns:p14="http://schemas.microsoft.com/office/powerpoint/2010/main" val="66997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61B12-ADBE-483D-9099-AAC3D70FE3F4}"/>
              </a:ext>
            </a:extLst>
          </p:cNvPr>
          <p:cNvSpPr>
            <a:spLocks noGrp="1"/>
          </p:cNvSpPr>
          <p:nvPr/>
        </p:nvSpPr>
        <p:spPr>
          <a:xfrm>
            <a:off x="0" y="0"/>
            <a:ext cx="12191695" cy="6858000"/>
          </a:xfrm>
          <a:prstGeom prst="rect">
            <a:avLst/>
          </a:prstGeom>
          <a:solidFill>
            <a:srgbClr val="0A0A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D854BE8-1400-4820-B02F-BDDB9A0C4B12}"/>
              </a:ext>
            </a:extLst>
          </p:cNvPr>
          <p:cNvSpPr>
            <a:spLocks noGrp="1"/>
          </p:cNvSpPr>
          <p:nvPr/>
        </p:nvSpPr>
        <p:spPr>
          <a:xfrm>
            <a:off x="685800" y="257175"/>
            <a:ext cx="2476500" cy="285750"/>
          </a:xfrm>
          <a:prstGeom prst="rect">
            <a:avLst/>
          </a:prstGeom>
          <a:noFill/>
          <a:ln w="0">
            <a:noFill/>
          </a:ln>
        </p:spPr>
        <p:txBody>
          <a:bodyPr wrap="none" lIns="0" tIns="0" rIns="0" bIns="0" anchor="ctr">
            <a:noAutofit/>
          </a:bodyPr>
          <a:lstStyle/>
          <a:p>
            <a:pPr>
              <a:buNone/>
              <a:defRPr sz="1500" b="1">
                <a:solidFill>
                  <a:srgbClr val="FFFFFF"/>
                </a:solidFill>
                <a:latin typeface="Segoe UI"/>
                <a:ea typeface="Segoe UI"/>
                <a:cs typeface="Segoe UI"/>
              </a:defRPr>
            </a:pPr>
            <a:r>
              <a:rPr sz="1500" b="1">
                <a:solidFill>
                  <a:srgbClr val="FFFFFF"/>
                </a:solidFill>
                <a:latin typeface="Segoe UI"/>
                <a:ea typeface="Segoe UI"/>
                <a:cs typeface="Segoe UI"/>
              </a:rPr>
              <a:t>TETHERLESS</a:t>
            </a:r>
          </a:p>
        </p:txBody>
      </p:sp>
      <p:sp>
        <p:nvSpPr>
          <p:cNvPr id="13" name="TextBox 12">
            <a:extLst>
              <a:ext uri="{FF2B5EF4-FFF2-40B4-BE49-F238E27FC236}">
                <a16:creationId xmlns:a16="http://schemas.microsoft.com/office/drawing/2014/main" id="{CDC8D328-600A-4B88-B016-46F594AC9B7C}"/>
              </a:ext>
            </a:extLst>
          </p:cNvPr>
          <p:cNvSpPr>
            <a:spLocks noGrp="1"/>
          </p:cNvSpPr>
          <p:nvPr/>
        </p:nvSpPr>
        <p:spPr>
          <a:xfrm>
            <a:off x="10287000" y="257175"/>
            <a:ext cx="1219200" cy="285750"/>
          </a:xfrm>
          <a:prstGeom prst="rect">
            <a:avLst/>
          </a:prstGeom>
          <a:noFill/>
          <a:ln w="0">
            <a:noFill/>
          </a:ln>
        </p:spPr>
        <p:txBody>
          <a:bodyPr wrap="none" lIns="0" tIns="0" rIns="0" bIns="0" anchor="ctr">
            <a:noAutofit/>
          </a:bodyPr>
          <a:lstStyle/>
          <a:p>
            <a:pPr>
              <a:buNone/>
              <a:defRPr sz="1500" b="0">
                <a:solidFill>
                  <a:srgbClr val="B4B4BD"/>
                </a:solidFill>
                <a:latin typeface="Segoe UI"/>
                <a:ea typeface="Segoe UI"/>
                <a:cs typeface="Segoe UI"/>
              </a:defRPr>
            </a:pPr>
            <a:r>
              <a:rPr sz="1500" b="0">
                <a:solidFill>
                  <a:srgbClr val="B4B4BD"/>
                </a:solidFill>
                <a:latin typeface="Segoe UI"/>
                <a:ea typeface="Segoe UI"/>
                <a:cs typeface="Segoe UI"/>
              </a:rPr>
              <a:t>10 / 10</a:t>
            </a:r>
          </a:p>
        </p:txBody>
      </p:sp>
      <p:sp>
        <p:nvSpPr>
          <p:cNvPr id="14" name="TextBox 13">
            <a:extLst>
              <a:ext uri="{FF2B5EF4-FFF2-40B4-BE49-F238E27FC236}">
                <a16:creationId xmlns:a16="http://schemas.microsoft.com/office/drawing/2014/main" id="{A57551F6-0C42-447D-AA22-8312FE73E79A}"/>
              </a:ext>
            </a:extLst>
          </p:cNvPr>
          <p:cNvSpPr>
            <a:spLocks noGrp="1"/>
          </p:cNvSpPr>
          <p:nvPr/>
        </p:nvSpPr>
        <p:spPr>
          <a:xfrm>
            <a:off x="685800" y="876300"/>
            <a:ext cx="10820400" cy="704850"/>
          </a:xfrm>
          <a:prstGeom prst="rect">
            <a:avLst/>
          </a:prstGeom>
          <a:noFill/>
          <a:ln w="0">
            <a:noFill/>
          </a:ln>
        </p:spPr>
        <p:txBody>
          <a:bodyPr wrap="none" lIns="0" tIns="0" rIns="0" bIns="0" anchor="ctr">
            <a:noAutofit/>
          </a:bodyPr>
          <a:lstStyle/>
          <a:p>
            <a:pPr>
              <a:buNone/>
              <a:defRPr sz="3600" b="1">
                <a:solidFill>
                  <a:srgbClr val="FFFFFF"/>
                </a:solidFill>
                <a:latin typeface="Segoe UI"/>
                <a:ea typeface="Segoe UI"/>
                <a:cs typeface="Segoe UI"/>
              </a:defRPr>
            </a:pPr>
            <a:r>
              <a:rPr sz="3600" b="1">
                <a:solidFill>
                  <a:srgbClr val="FFFFFF"/>
                </a:solidFill>
                <a:latin typeface="Segoe UI"/>
                <a:ea typeface="Segoe UI"/>
                <a:cs typeface="Segoe UI"/>
              </a:rPr>
              <a:t>Ship a focused, reviewable MVP</a:t>
            </a:r>
          </a:p>
        </p:txBody>
      </p:sp>
      <p:sp>
        <p:nvSpPr>
          <p:cNvPr id="15" name="TextBox 14">
            <a:extLst>
              <a:ext uri="{FF2B5EF4-FFF2-40B4-BE49-F238E27FC236}">
                <a16:creationId xmlns:a16="http://schemas.microsoft.com/office/drawing/2014/main" id="{586859A0-9A10-4422-B033-1B0AA6784D4F}"/>
              </a:ext>
            </a:extLst>
          </p:cNvPr>
          <p:cNvSpPr>
            <a:spLocks noGrp="1"/>
          </p:cNvSpPr>
          <p:nvPr/>
        </p:nvSpPr>
        <p:spPr>
          <a:xfrm>
            <a:off x="685800" y="1647825"/>
            <a:ext cx="10820400" cy="400050"/>
          </a:xfrm>
          <a:prstGeom prst="rect">
            <a:avLst/>
          </a:prstGeom>
          <a:noFill/>
          <a:ln w="0">
            <a:noFill/>
          </a:ln>
        </p:spPr>
        <p:txBody>
          <a:bodyPr wrap="none" lIns="0" tIns="0" rIns="0" bIns="0" anchor="ctr">
            <a:noAutofit/>
          </a:bodyPr>
          <a:lstStyle/>
          <a:p>
            <a:pPr>
              <a:buNone/>
              <a:defRPr sz="1875" b="0">
                <a:solidFill>
                  <a:srgbClr val="B4B4BD"/>
                </a:solidFill>
                <a:latin typeface="Segoe UI"/>
                <a:ea typeface="Segoe UI"/>
                <a:cs typeface="Segoe UI"/>
              </a:defRPr>
            </a:pPr>
            <a:r>
              <a:rPr sz="1875" b="0">
                <a:solidFill>
                  <a:srgbClr val="B4B4BD"/>
                </a:solidFill>
                <a:latin typeface="Segoe UI"/>
                <a:ea typeface="Segoe UI"/>
                <a:cs typeface="Segoe UI"/>
              </a:rPr>
              <a:t>Start with the relay and Windows desktop; expand after release evidence.</a:t>
            </a:r>
          </a:p>
        </p:txBody>
      </p:sp>
      <p:sp>
        <p:nvSpPr>
          <p:cNvPr id="16" name="divider">
            <a:extLst>
              <a:ext uri="{FF2B5EF4-FFF2-40B4-BE49-F238E27FC236}">
                <a16:creationId xmlns:a16="http://schemas.microsoft.com/office/drawing/2014/main" id="{DC1E0316-1A90-4562-98F9-A0DD80EB0896}"/>
              </a:ext>
            </a:extLst>
          </p:cNvPr>
          <p:cNvSpPr>
            <a:spLocks noGrp="1"/>
          </p:cNvSpPr>
          <p:nvPr/>
        </p:nvSpPr>
        <p:spPr>
          <a:xfrm>
            <a:off x="685800" y="6115050"/>
            <a:ext cx="10820400" cy="14288"/>
          </a:xfrm>
          <a:prstGeom prst="rect">
            <a:avLst/>
          </a:prstGeom>
          <a:solidFill>
            <a:srgbClr val="51515B"/>
          </a:solidFill>
          <a:ln w="0">
            <a:noFill/>
            <a:prstDash val="solid"/>
          </a:ln>
        </p:spPr>
      </p:sp>
      <p:sp>
        <p:nvSpPr>
          <p:cNvPr id="17" name="Overview">
            <a:hlinkClick r:id="rId3" action="ppaction://hlinksldjump"/>
            <a:extLst>
              <a:ext uri="{FF2B5EF4-FFF2-40B4-BE49-F238E27FC236}">
                <a16:creationId xmlns:a16="http://schemas.microsoft.com/office/drawing/2014/main" id="{46C7B447-5B01-4B31-B604-6DD9FE6F99EC}"/>
              </a:ext>
            </a:extLst>
          </p:cNvPr>
          <p:cNvSpPr>
            <a:spLocks noGrp="1"/>
          </p:cNvSpPr>
          <p:nvPr/>
        </p:nvSpPr>
        <p:spPr>
          <a:xfrm>
            <a:off x="6858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Overview</a:t>
            </a:r>
          </a:p>
        </p:txBody>
      </p:sp>
      <p:sp>
        <p:nvSpPr>
          <p:cNvPr id="18" name="Crypto">
            <a:hlinkClick r:id="rId4" action="ppaction://hlinksldjump"/>
            <a:extLst>
              <a:ext uri="{FF2B5EF4-FFF2-40B4-BE49-F238E27FC236}">
                <a16:creationId xmlns:a16="http://schemas.microsoft.com/office/drawing/2014/main" id="{027741DE-B9DE-4389-97C4-34899E874A81}"/>
              </a:ext>
            </a:extLst>
          </p:cNvPr>
          <p:cNvSpPr>
            <a:spLocks noGrp="1"/>
          </p:cNvSpPr>
          <p:nvPr/>
        </p:nvSpPr>
        <p:spPr>
          <a:xfrm>
            <a:off x="218122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Crypto</a:t>
            </a:r>
          </a:p>
        </p:txBody>
      </p:sp>
      <p:sp>
        <p:nvSpPr>
          <p:cNvPr id="19" name="Trust">
            <a:hlinkClick r:id="rId5" action="ppaction://hlinksldjump"/>
            <a:extLst>
              <a:ext uri="{FF2B5EF4-FFF2-40B4-BE49-F238E27FC236}">
                <a16:creationId xmlns:a16="http://schemas.microsoft.com/office/drawing/2014/main" id="{59AB676C-4DD9-4864-8D23-570185F68266}"/>
              </a:ext>
            </a:extLst>
          </p:cNvPr>
          <p:cNvSpPr>
            <a:spLocks noGrp="1"/>
          </p:cNvSpPr>
          <p:nvPr/>
        </p:nvSpPr>
        <p:spPr>
          <a:xfrm>
            <a:off x="367665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Trust</a:t>
            </a:r>
          </a:p>
        </p:txBody>
      </p:sp>
      <p:sp>
        <p:nvSpPr>
          <p:cNvPr id="20" name="System">
            <a:hlinkClick r:id="rId6" action="ppaction://hlinksldjump"/>
            <a:extLst>
              <a:ext uri="{FF2B5EF4-FFF2-40B4-BE49-F238E27FC236}">
                <a16:creationId xmlns:a16="http://schemas.microsoft.com/office/drawing/2014/main" id="{310EF398-1BF9-47A1-AC4E-79FBAF1CAD87}"/>
              </a:ext>
            </a:extLst>
          </p:cNvPr>
          <p:cNvSpPr>
            <a:spLocks noGrp="1"/>
          </p:cNvSpPr>
          <p:nvPr/>
        </p:nvSpPr>
        <p:spPr>
          <a:xfrm>
            <a:off x="5172075"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System</a:t>
            </a:r>
          </a:p>
        </p:txBody>
      </p:sp>
      <p:sp>
        <p:nvSpPr>
          <p:cNvPr id="21" name="Release">
            <a:hlinkClick r:id="rId7" action="ppaction://hlinksldjump"/>
            <a:extLst>
              <a:ext uri="{FF2B5EF4-FFF2-40B4-BE49-F238E27FC236}">
                <a16:creationId xmlns:a16="http://schemas.microsoft.com/office/drawing/2014/main" id="{16DA1D1C-76A1-4846-9EAA-BF62E5B45207}"/>
              </a:ext>
            </a:extLst>
          </p:cNvPr>
          <p:cNvSpPr>
            <a:spLocks noGrp="1"/>
          </p:cNvSpPr>
          <p:nvPr/>
        </p:nvSpPr>
        <p:spPr>
          <a:xfrm>
            <a:off x="6667500" y="6286500"/>
            <a:ext cx="1381125" cy="285750"/>
          </a:xfrm>
          <a:prstGeom prst="rect">
            <a:avLst/>
          </a:prstGeom>
          <a:noFill/>
          <a:ln w="0">
            <a:noFill/>
            <a:prstDash val="solid"/>
          </a:ln>
        </p:spPr>
        <p:txBody>
          <a:bodyPr wrap="square" lIns="0" tIns="0" rIns="0" bIns="0" anchor="ctr">
            <a:noAutofit/>
          </a:bodyPr>
          <a:lstStyle/>
          <a:p>
            <a:pPr algn="l">
              <a:defRPr sz="1500" b="0">
                <a:solidFill>
                  <a:srgbClr val="B4B4BD"/>
                </a:solidFill>
                <a:latin typeface="Segoe UI"/>
                <a:ea typeface="Segoe UI"/>
                <a:cs typeface="Segoe UI"/>
              </a:defRPr>
            </a:pPr>
            <a:r>
              <a:rPr sz="1500" b="0">
                <a:solidFill>
                  <a:srgbClr val="B4B4BD"/>
                </a:solidFill>
                <a:latin typeface="Segoe UI"/>
                <a:ea typeface="Segoe UI"/>
                <a:cs typeface="Segoe UI"/>
              </a:rPr>
              <a:t>Release</a:t>
            </a:r>
          </a:p>
        </p:txBody>
      </p:sp>
      <p:sp>
        <p:nvSpPr>
          <p:cNvPr id="22" name="←">
            <a:hlinkClick r:id="rId7" action="ppaction://hlinksldjump"/>
            <a:extLst>
              <a:ext uri="{FF2B5EF4-FFF2-40B4-BE49-F238E27FC236}">
                <a16:creationId xmlns:a16="http://schemas.microsoft.com/office/drawing/2014/main" id="{D44CE9D1-1C77-4257-9BA9-7E686EE80279}"/>
              </a:ext>
            </a:extLst>
          </p:cNvPr>
          <p:cNvSpPr>
            <a:spLocks noGrp="1"/>
          </p:cNvSpPr>
          <p:nvPr/>
        </p:nvSpPr>
        <p:spPr>
          <a:xfrm>
            <a:off x="99250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3" name="→">
            <a:hlinkClick r:id="rId8" action="ppaction://hlinksldjump"/>
            <a:extLst>
              <a:ext uri="{FF2B5EF4-FFF2-40B4-BE49-F238E27FC236}">
                <a16:creationId xmlns:a16="http://schemas.microsoft.com/office/drawing/2014/main" id="{5A105E89-B12D-4F47-AFA7-A743A2B33700}"/>
              </a:ext>
            </a:extLst>
          </p:cNvPr>
          <p:cNvSpPr>
            <a:spLocks noGrp="1"/>
          </p:cNvSpPr>
          <p:nvPr/>
        </p:nvSpPr>
        <p:spPr>
          <a:xfrm>
            <a:off x="10953750" y="6286500"/>
            <a:ext cx="438150" cy="285750"/>
          </a:xfrm>
          <a:prstGeom prst="rect">
            <a:avLst/>
          </a:prstGeom>
          <a:noFill/>
          <a:ln w="0">
            <a:noFill/>
            <a:prstDash val="solid"/>
          </a:ln>
        </p:spPr>
        <p:txBody>
          <a:bodyPr wrap="square" lIns="0" tIns="0" rIns="0" bIns="0" anchor="ctr">
            <a:noAutofit/>
          </a:bodyPr>
          <a:lstStyle/>
          <a:p>
            <a:pPr algn="l">
              <a:defRPr sz="1875" b="0">
                <a:solidFill>
                  <a:srgbClr val="B4B4BD"/>
                </a:solidFill>
                <a:latin typeface="Segoe UI"/>
                <a:ea typeface="Segoe UI"/>
                <a:cs typeface="Segoe UI"/>
              </a:defRPr>
            </a:pPr>
            <a:r>
              <a:rPr sz="1875" b="0">
                <a:solidFill>
                  <a:srgbClr val="B4B4BD"/>
                </a:solidFill>
                <a:latin typeface="Segoe UI"/>
                <a:ea typeface="Segoe UI"/>
                <a:cs typeface="Segoe UI"/>
              </a:rPr>
              <a:t>→</a:t>
            </a:r>
          </a:p>
        </p:txBody>
      </p:sp>
      <p:sp>
        <p:nvSpPr>
          <p:cNvPr id="24" name="flow arrow">
            <a:extLst>
              <a:ext uri="{FF2B5EF4-FFF2-40B4-BE49-F238E27FC236}">
                <a16:creationId xmlns:a16="http://schemas.microsoft.com/office/drawing/2014/main" id="{BCB55D37-0B8C-43DF-863F-45062C439B85}"/>
              </a:ext>
            </a:extLst>
          </p:cNvPr>
          <p:cNvSpPr>
            <a:spLocks noGrp="1"/>
          </p:cNvSpPr>
          <p:nvPr/>
        </p:nvSpPr>
        <p:spPr>
          <a:xfrm>
            <a:off x="3143250" y="3219450"/>
            <a:ext cx="266700" cy="171450"/>
          </a:xfrm>
          <a:prstGeom prst="rightArrow">
            <a:avLst/>
          </a:prstGeom>
          <a:solidFill>
            <a:srgbClr val="B4B4BD"/>
          </a:solidFill>
          <a:ln w="0">
            <a:noFill/>
            <a:prstDash val="solid"/>
          </a:ln>
        </p:spPr>
      </p:sp>
      <p:sp>
        <p:nvSpPr>
          <p:cNvPr id="25" name="flow arrow">
            <a:extLst>
              <a:ext uri="{FF2B5EF4-FFF2-40B4-BE49-F238E27FC236}">
                <a16:creationId xmlns:a16="http://schemas.microsoft.com/office/drawing/2014/main" id="{739577F7-80FC-422E-8603-299986F19399}"/>
              </a:ext>
            </a:extLst>
          </p:cNvPr>
          <p:cNvSpPr>
            <a:spLocks noGrp="1"/>
          </p:cNvSpPr>
          <p:nvPr/>
        </p:nvSpPr>
        <p:spPr>
          <a:xfrm>
            <a:off x="5934075" y="3219450"/>
            <a:ext cx="266700" cy="171450"/>
          </a:xfrm>
          <a:prstGeom prst="rightArrow">
            <a:avLst/>
          </a:prstGeom>
          <a:solidFill>
            <a:srgbClr val="B4B4BD"/>
          </a:solidFill>
          <a:ln w="0">
            <a:noFill/>
            <a:prstDash val="solid"/>
          </a:ln>
        </p:spPr>
      </p:sp>
      <p:sp>
        <p:nvSpPr>
          <p:cNvPr id="26" name="flow arrow">
            <a:extLst>
              <a:ext uri="{FF2B5EF4-FFF2-40B4-BE49-F238E27FC236}">
                <a16:creationId xmlns:a16="http://schemas.microsoft.com/office/drawing/2014/main" id="{C2086A69-4254-4C1D-A39F-A3E703128E91}"/>
              </a:ext>
            </a:extLst>
          </p:cNvPr>
          <p:cNvSpPr>
            <a:spLocks noGrp="1"/>
          </p:cNvSpPr>
          <p:nvPr/>
        </p:nvSpPr>
        <p:spPr>
          <a:xfrm>
            <a:off x="8724900" y="3219450"/>
            <a:ext cx="266700" cy="171450"/>
          </a:xfrm>
          <a:prstGeom prst="rightArrow">
            <a:avLst/>
          </a:prstGeom>
          <a:solidFill>
            <a:srgbClr val="B4B4BD"/>
          </a:solidFill>
          <a:ln w="0">
            <a:noFill/>
            <a:prstDash val="solid"/>
          </a:ln>
        </p:spPr>
      </p:sp>
      <p:sp>
        <p:nvSpPr>
          <p:cNvPr id="27" name="Test node">
            <a:extLst>
              <a:ext uri="{FF2B5EF4-FFF2-40B4-BE49-F238E27FC236}">
                <a16:creationId xmlns:a16="http://schemas.microsoft.com/office/drawing/2014/main" id="{63845ECD-37DF-44B9-B716-1292A6998FCF}"/>
              </a:ext>
            </a:extLst>
          </p:cNvPr>
          <p:cNvSpPr>
            <a:spLocks noGrp="1"/>
          </p:cNvSpPr>
          <p:nvPr/>
        </p:nvSpPr>
        <p:spPr>
          <a:xfrm>
            <a:off x="685800" y="2724150"/>
            <a:ext cx="2447925" cy="1362075"/>
          </a:xfrm>
          <a:prstGeom prst="rect">
            <a:avLst/>
          </a:prstGeom>
          <a:solidFill>
            <a:srgbClr val="17171C"/>
          </a:solidFill>
          <a:ln w="14288">
            <a:solidFill>
              <a:srgbClr val="51515B"/>
            </a:solidFill>
            <a:prstDash val="solid"/>
          </a:ln>
        </p:spPr>
      </p:sp>
      <p:sp>
        <p:nvSpPr>
          <p:cNvPr id="28" name="Test">
            <a:extLst>
              <a:ext uri="{FF2B5EF4-FFF2-40B4-BE49-F238E27FC236}">
                <a16:creationId xmlns:a16="http://schemas.microsoft.com/office/drawing/2014/main" id="{D690CBF0-3871-4387-9842-6C69BDF60CEC}"/>
              </a:ext>
            </a:extLst>
          </p:cNvPr>
          <p:cNvSpPr>
            <a:spLocks noGrp="1"/>
          </p:cNvSpPr>
          <p:nvPr/>
        </p:nvSpPr>
        <p:spPr>
          <a:xfrm>
            <a:off x="876300" y="2895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Test</a:t>
            </a:r>
          </a:p>
        </p:txBody>
      </p:sp>
      <p:sp>
        <p:nvSpPr>
          <p:cNvPr id="29" name="Desktop + live relay">
            <a:extLst>
              <a:ext uri="{FF2B5EF4-FFF2-40B4-BE49-F238E27FC236}">
                <a16:creationId xmlns:a16="http://schemas.microsoft.com/office/drawing/2014/main" id="{7F59D052-8797-4106-B56C-EF0EF1EB4AF4}"/>
              </a:ext>
            </a:extLst>
          </p:cNvPr>
          <p:cNvSpPr>
            <a:spLocks noGrp="1"/>
          </p:cNvSpPr>
          <p:nvPr/>
        </p:nvSpPr>
        <p:spPr>
          <a:xfrm>
            <a:off x="876300" y="3371850"/>
            <a:ext cx="2066925" cy="6286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Desktop + live relay</a:t>
            </a:r>
          </a:p>
        </p:txBody>
      </p:sp>
      <p:sp>
        <p:nvSpPr>
          <p:cNvPr id="30" name="Automate node">
            <a:extLst>
              <a:ext uri="{FF2B5EF4-FFF2-40B4-BE49-F238E27FC236}">
                <a16:creationId xmlns:a16="http://schemas.microsoft.com/office/drawing/2014/main" id="{49ABB93B-6D0D-4836-B2DB-84D6C494A689}"/>
              </a:ext>
            </a:extLst>
          </p:cNvPr>
          <p:cNvSpPr>
            <a:spLocks noGrp="1"/>
          </p:cNvSpPr>
          <p:nvPr/>
        </p:nvSpPr>
        <p:spPr>
          <a:xfrm>
            <a:off x="3476625" y="2724150"/>
            <a:ext cx="2447925" cy="1362075"/>
          </a:xfrm>
          <a:prstGeom prst="rect">
            <a:avLst/>
          </a:prstGeom>
          <a:solidFill>
            <a:srgbClr val="17171C"/>
          </a:solidFill>
          <a:ln w="14288">
            <a:solidFill>
              <a:srgbClr val="51515B"/>
            </a:solidFill>
            <a:prstDash val="solid"/>
          </a:ln>
        </p:spPr>
      </p:sp>
      <p:sp>
        <p:nvSpPr>
          <p:cNvPr id="31" name="Automate">
            <a:extLst>
              <a:ext uri="{FF2B5EF4-FFF2-40B4-BE49-F238E27FC236}">
                <a16:creationId xmlns:a16="http://schemas.microsoft.com/office/drawing/2014/main" id="{2B7B2249-0CA9-4256-B1E0-3AFD962A7A1E}"/>
              </a:ext>
            </a:extLst>
          </p:cNvPr>
          <p:cNvSpPr>
            <a:spLocks noGrp="1"/>
          </p:cNvSpPr>
          <p:nvPr/>
        </p:nvSpPr>
        <p:spPr>
          <a:xfrm>
            <a:off x="3667125" y="2895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Automate</a:t>
            </a:r>
          </a:p>
        </p:txBody>
      </p:sp>
      <p:sp>
        <p:nvSpPr>
          <p:cNvPr id="32" name="CI + static analysis">
            <a:extLst>
              <a:ext uri="{FF2B5EF4-FFF2-40B4-BE49-F238E27FC236}">
                <a16:creationId xmlns:a16="http://schemas.microsoft.com/office/drawing/2014/main" id="{A6571E7F-A846-42E9-8DEC-0B880374DA9E}"/>
              </a:ext>
            </a:extLst>
          </p:cNvPr>
          <p:cNvSpPr>
            <a:spLocks noGrp="1"/>
          </p:cNvSpPr>
          <p:nvPr/>
        </p:nvSpPr>
        <p:spPr>
          <a:xfrm>
            <a:off x="3667125" y="3371850"/>
            <a:ext cx="2066925" cy="6286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CI + static analysis</a:t>
            </a:r>
          </a:p>
        </p:txBody>
      </p:sp>
      <p:sp>
        <p:nvSpPr>
          <p:cNvPr id="33" name="Review node">
            <a:extLst>
              <a:ext uri="{FF2B5EF4-FFF2-40B4-BE49-F238E27FC236}">
                <a16:creationId xmlns:a16="http://schemas.microsoft.com/office/drawing/2014/main" id="{600DFA5E-B144-4337-98CA-74FC464A009D}"/>
              </a:ext>
            </a:extLst>
          </p:cNvPr>
          <p:cNvSpPr>
            <a:spLocks noGrp="1"/>
          </p:cNvSpPr>
          <p:nvPr/>
        </p:nvSpPr>
        <p:spPr>
          <a:xfrm>
            <a:off x="6267450" y="2724150"/>
            <a:ext cx="2447925" cy="1362075"/>
          </a:xfrm>
          <a:prstGeom prst="rect">
            <a:avLst/>
          </a:prstGeom>
          <a:solidFill>
            <a:srgbClr val="17171C"/>
          </a:solidFill>
          <a:ln w="14288">
            <a:solidFill>
              <a:srgbClr val="51515B"/>
            </a:solidFill>
            <a:prstDash val="solid"/>
          </a:ln>
        </p:spPr>
      </p:sp>
      <p:sp>
        <p:nvSpPr>
          <p:cNvPr id="34" name="Review">
            <a:extLst>
              <a:ext uri="{FF2B5EF4-FFF2-40B4-BE49-F238E27FC236}">
                <a16:creationId xmlns:a16="http://schemas.microsoft.com/office/drawing/2014/main" id="{94BE7FDE-C71D-4D96-9B3E-DCCA04BD8EE0}"/>
              </a:ext>
            </a:extLst>
          </p:cNvPr>
          <p:cNvSpPr>
            <a:spLocks noGrp="1"/>
          </p:cNvSpPr>
          <p:nvPr/>
        </p:nvSpPr>
        <p:spPr>
          <a:xfrm>
            <a:off x="6457950" y="2895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Review</a:t>
            </a:r>
          </a:p>
        </p:txBody>
      </p:sp>
      <p:sp>
        <p:nvSpPr>
          <p:cNvPr id="35" name="Threat model + secrets">
            <a:extLst>
              <a:ext uri="{FF2B5EF4-FFF2-40B4-BE49-F238E27FC236}">
                <a16:creationId xmlns:a16="http://schemas.microsoft.com/office/drawing/2014/main" id="{A95EA801-E011-4AAA-BE5F-3DB0DA413162}"/>
              </a:ext>
            </a:extLst>
          </p:cNvPr>
          <p:cNvSpPr>
            <a:spLocks noGrp="1"/>
          </p:cNvSpPr>
          <p:nvPr/>
        </p:nvSpPr>
        <p:spPr>
          <a:xfrm>
            <a:off x="6457950" y="3371850"/>
            <a:ext cx="2066925" cy="6286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Threat model + secrets</a:t>
            </a:r>
          </a:p>
        </p:txBody>
      </p:sp>
      <p:sp>
        <p:nvSpPr>
          <p:cNvPr id="36" name="Release node">
            <a:extLst>
              <a:ext uri="{FF2B5EF4-FFF2-40B4-BE49-F238E27FC236}">
                <a16:creationId xmlns:a16="http://schemas.microsoft.com/office/drawing/2014/main" id="{F6735955-1192-447E-996C-7459130D1D23}"/>
              </a:ext>
            </a:extLst>
          </p:cNvPr>
          <p:cNvSpPr>
            <a:spLocks noGrp="1"/>
          </p:cNvSpPr>
          <p:nvPr/>
        </p:nvSpPr>
        <p:spPr>
          <a:xfrm>
            <a:off x="9058275" y="2724150"/>
            <a:ext cx="2447925" cy="1362075"/>
          </a:xfrm>
          <a:prstGeom prst="rect">
            <a:avLst/>
          </a:prstGeom>
          <a:solidFill>
            <a:srgbClr val="17171C"/>
          </a:solidFill>
          <a:ln w="14288">
            <a:solidFill>
              <a:srgbClr val="51515B"/>
            </a:solidFill>
            <a:prstDash val="solid"/>
          </a:ln>
        </p:spPr>
      </p:sp>
      <p:sp>
        <p:nvSpPr>
          <p:cNvPr id="37" name="Release">
            <a:extLst>
              <a:ext uri="{FF2B5EF4-FFF2-40B4-BE49-F238E27FC236}">
                <a16:creationId xmlns:a16="http://schemas.microsoft.com/office/drawing/2014/main" id="{B9DBB7C4-F8A4-4554-9015-A8FB30E4BC16}"/>
              </a:ext>
            </a:extLst>
          </p:cNvPr>
          <p:cNvSpPr>
            <a:spLocks noGrp="1"/>
          </p:cNvSpPr>
          <p:nvPr/>
        </p:nvSpPr>
        <p:spPr>
          <a:xfrm>
            <a:off x="9248775" y="2895600"/>
            <a:ext cx="2066925" cy="400050"/>
          </a:xfrm>
          <a:prstGeom prst="rect">
            <a:avLst/>
          </a:prstGeom>
          <a:noFill/>
          <a:ln w="0">
            <a:noFill/>
            <a:prstDash val="solid"/>
          </a:ln>
        </p:spPr>
        <p:txBody>
          <a:bodyPr wrap="square" lIns="0" tIns="0" rIns="0" bIns="0" anchor="ctr">
            <a:noAutofit/>
          </a:bodyPr>
          <a:lstStyle/>
          <a:p>
            <a:pPr algn="l">
              <a:defRPr sz="2325" b="1">
                <a:solidFill>
                  <a:srgbClr val="FFFFFF"/>
                </a:solidFill>
                <a:latin typeface="Segoe UI"/>
                <a:ea typeface="Segoe UI"/>
                <a:cs typeface="Segoe UI"/>
              </a:defRPr>
            </a:pPr>
            <a:r>
              <a:rPr sz="2325" b="1">
                <a:solidFill>
                  <a:srgbClr val="FFFFFF"/>
                </a:solidFill>
                <a:latin typeface="Segoe UI"/>
                <a:ea typeface="Segoe UI"/>
                <a:cs typeface="Segoe UI"/>
              </a:rPr>
              <a:t>Release</a:t>
            </a:r>
          </a:p>
        </p:txBody>
      </p:sp>
      <p:sp>
        <p:nvSpPr>
          <p:cNvPr id="38" name="Packaging + manual QA">
            <a:extLst>
              <a:ext uri="{FF2B5EF4-FFF2-40B4-BE49-F238E27FC236}">
                <a16:creationId xmlns:a16="http://schemas.microsoft.com/office/drawing/2014/main" id="{6584BE3B-8940-4D82-BF5F-CD295E0B713F}"/>
              </a:ext>
            </a:extLst>
          </p:cNvPr>
          <p:cNvSpPr>
            <a:spLocks noGrp="1"/>
          </p:cNvSpPr>
          <p:nvPr/>
        </p:nvSpPr>
        <p:spPr>
          <a:xfrm>
            <a:off x="9248775" y="3371850"/>
            <a:ext cx="2066925" cy="6286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Packaging + manual QA</a:t>
            </a:r>
          </a:p>
        </p:txBody>
      </p:sp>
      <p:sp>
        <p:nvSpPr>
          <p:cNvPr id="39" name="Private messages. Explicit limits. Evide">
            <a:extLst>
              <a:ext uri="{FF2B5EF4-FFF2-40B4-BE49-F238E27FC236}">
                <a16:creationId xmlns:a16="http://schemas.microsoft.com/office/drawing/2014/main" id="{2F3F3542-1B4B-4EFA-A6EB-F85AC2231A31}"/>
              </a:ext>
            </a:extLst>
          </p:cNvPr>
          <p:cNvSpPr>
            <a:spLocks noGrp="1"/>
          </p:cNvSpPr>
          <p:nvPr/>
        </p:nvSpPr>
        <p:spPr>
          <a:xfrm>
            <a:off x="685800" y="4514850"/>
            <a:ext cx="10820400" cy="581025"/>
          </a:xfrm>
          <a:prstGeom prst="rect">
            <a:avLst/>
          </a:prstGeom>
          <a:noFill/>
          <a:ln w="0">
            <a:noFill/>
            <a:prstDash val="solid"/>
          </a:ln>
        </p:spPr>
        <p:txBody>
          <a:bodyPr wrap="square" lIns="0" tIns="0" rIns="0" bIns="0" anchor="ctr">
            <a:noAutofit/>
          </a:bodyPr>
          <a:lstStyle/>
          <a:p>
            <a:pPr algn="l">
              <a:defRPr sz="2850" b="1">
                <a:solidFill>
                  <a:srgbClr val="FFFFFF"/>
                </a:solidFill>
                <a:latin typeface="Segoe UI"/>
                <a:ea typeface="Segoe UI"/>
                <a:cs typeface="Segoe UI"/>
              </a:defRPr>
            </a:pPr>
            <a:r>
              <a:rPr sz="2850" b="1">
                <a:solidFill>
                  <a:srgbClr val="FFFFFF"/>
                </a:solidFill>
                <a:latin typeface="Segoe UI"/>
                <a:ea typeface="Segoe UI"/>
                <a:cs typeface="Segoe UI"/>
              </a:rPr>
              <a:t>Private messages. Explicit limits. Evidence before release.</a:t>
            </a:r>
          </a:p>
        </p:txBody>
      </p:sp>
      <p:sp>
        <p:nvSpPr>
          <p:cNvPr id="40" name="Read: HKDF ↗">
            <a:hlinkClick r:id="rId9"/>
            <a:extLst>
              <a:ext uri="{FF2B5EF4-FFF2-40B4-BE49-F238E27FC236}">
                <a16:creationId xmlns:a16="http://schemas.microsoft.com/office/drawing/2014/main" id="{E0F9F338-F100-4A75-A351-AE149F74B9AE}"/>
              </a:ext>
            </a:extLst>
          </p:cNvPr>
          <p:cNvSpPr>
            <a:spLocks noGrp="1"/>
          </p:cNvSpPr>
          <p:nvPr/>
        </p:nvSpPr>
        <p:spPr>
          <a:xfrm>
            <a:off x="685800" y="5429250"/>
            <a:ext cx="2667000" cy="2857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Read: HKDF ↗</a:t>
            </a:r>
          </a:p>
        </p:txBody>
      </p:sp>
      <p:sp>
        <p:nvSpPr>
          <p:cNvPr id="41" name="DH Group 14 ↗">
            <a:hlinkClick r:id="rId10"/>
            <a:extLst>
              <a:ext uri="{FF2B5EF4-FFF2-40B4-BE49-F238E27FC236}">
                <a16:creationId xmlns:a16="http://schemas.microsoft.com/office/drawing/2014/main" id="{CA55FAC7-0D76-440A-AF7A-5E9312B8D633}"/>
              </a:ext>
            </a:extLst>
          </p:cNvPr>
          <p:cNvSpPr>
            <a:spLocks noGrp="1"/>
          </p:cNvSpPr>
          <p:nvPr/>
        </p:nvSpPr>
        <p:spPr>
          <a:xfrm>
            <a:off x="3857625" y="5429250"/>
            <a:ext cx="3048000" cy="2857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DH Group 14 ↗</a:t>
            </a:r>
          </a:p>
        </p:txBody>
      </p:sp>
      <p:sp>
        <p:nvSpPr>
          <p:cNvPr id="42" name="AES-GCM ↗">
            <a:hlinkClick r:id="rId11"/>
            <a:extLst>
              <a:ext uri="{FF2B5EF4-FFF2-40B4-BE49-F238E27FC236}">
                <a16:creationId xmlns:a16="http://schemas.microsoft.com/office/drawing/2014/main" id="{A35D9DAC-268F-4D85-B5C1-F27181D3AE14}"/>
              </a:ext>
            </a:extLst>
          </p:cNvPr>
          <p:cNvSpPr>
            <a:spLocks noGrp="1"/>
          </p:cNvSpPr>
          <p:nvPr/>
        </p:nvSpPr>
        <p:spPr>
          <a:xfrm>
            <a:off x="7686675" y="5429250"/>
            <a:ext cx="3048000" cy="285750"/>
          </a:xfrm>
          <a:prstGeom prst="rect">
            <a:avLst/>
          </a:prstGeom>
          <a:noFill/>
          <a:ln w="0">
            <a:noFill/>
            <a:prstDash val="solid"/>
          </a:ln>
        </p:spPr>
        <p:txBody>
          <a:bodyPr wrap="square" lIns="0" tIns="0" rIns="0" bIns="0" anchor="ctr">
            <a:noAutofit/>
          </a:bodyPr>
          <a:lstStyle/>
          <a:p>
            <a:pPr algn="l">
              <a:defRPr sz="1725" b="0">
                <a:solidFill>
                  <a:srgbClr val="B4B4BD"/>
                </a:solidFill>
                <a:latin typeface="Segoe UI"/>
                <a:ea typeface="Segoe UI"/>
                <a:cs typeface="Segoe UI"/>
              </a:defRPr>
            </a:pPr>
            <a:r>
              <a:rPr sz="1725" b="0">
                <a:solidFill>
                  <a:srgbClr val="B4B4BD"/>
                </a:solidFill>
                <a:latin typeface="Segoe UI"/>
                <a:ea typeface="Segoe UI"/>
                <a:cs typeface="Segoe UI"/>
              </a:rPr>
              <a:t>AES-GCM ↗</a:t>
            </a:r>
          </a:p>
        </p:txBody>
      </p:sp>
    </p:spTree>
    <p:extLst>
      <p:ext uri="{BB962C8B-B14F-4D97-AF65-F5344CB8AC3E}">
        <p14:creationId xmlns:p14="http://schemas.microsoft.com/office/powerpoint/2010/main" val="1006734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1819</Words>
  <Application>Microsoft Office PowerPoint</Application>
  <DocSecurity>0</DocSecurity>
  <PresentationFormat>Widescreen</PresentationFormat>
  <Paragraphs>296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Aryan Singh</cp:lastModifiedBy>
  <cp:revision>1</cp:revision>
  <dcterms:created xsi:type="dcterms:W3CDTF">2026-09-09T06:22:15Z</dcterms:created>
  <dcterms:modified xsi:type="dcterms:W3CDTF">2026-09-09T06:38:55Z</dcterms:modified>
</cp:coreProperties>
</file>